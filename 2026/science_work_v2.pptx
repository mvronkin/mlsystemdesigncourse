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89" r:id="rId3"/>
    <p:sldId id="288" r:id="rId4"/>
    <p:sldId id="285" r:id="rId5"/>
    <p:sldId id="257" r:id="rId6"/>
    <p:sldId id="258" r:id="rId7"/>
    <p:sldId id="282" r:id="rId8"/>
    <p:sldId id="259" r:id="rId9"/>
    <p:sldId id="260" r:id="rId10"/>
    <p:sldId id="261" r:id="rId11"/>
    <p:sldId id="262" r:id="rId12"/>
    <p:sldId id="263" r:id="rId13"/>
    <p:sldId id="28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4" r:id="rId32"/>
    <p:sldId id="286" r:id="rId33"/>
    <p:sldId id="287" r:id="rId34"/>
    <p:sldId id="281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6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449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Пособие охватывает полный цикл: концепция, литобзор, скелет, эксперимент, черновик, медиаматериалы, подача, ответ рецензенту. Разделы 12-16 частично основаны на материалах Peng Sida (learning_research) в адаптации репозитория Research-Paper-Writing-Skills.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Возврат назад допустим: результаты эксперимента могут потребовать переформулировки заявления. Недопустимо пропускать этап концепции и начинать с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09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Возврат назад допустим: результаты эксперимента могут потребовать переформулировки заявления. Недопустимо пропускать этап концепции и начинать с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98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Возврат назад допустим: результаты эксперимента могут потребовать переформулировки заявления. Недопустимо пропускать этап концепции и начинать с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92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Возврат назад допустим: результаты эксперимента могут потребовать переформулировки заявления. Недопустимо пропускать этап концепции и начинать с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Пункты «что новизной не является» — типовая причина замечаний рецензентов: авторы выносят в новизну то, что относится к разделу методики.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Пункты «что новизной не является» — типовая причина замечаний рецензентов: авторы выносят в новизну то, что относится к разделу методики.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8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 одной фразы применяется повторно перед подачей: формулировка должна совпадать с тем, что доказано в разделе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Различие impact и contribution: impact — изменение представления об объекте, contribution — качество работы предложенной идеи.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Комбинация «новая задача + новый метод» не запрещена, но требует вдвое большего объёма доказательств при том же лимите страниц.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выбором проверяются: scope журнала, средний срок рецензирования, требования к объёму и к доступности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Протокол оформляется отдельным файлом и сохраняется: при ревизии рецензент может запросить критерии отбора.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сравнения переносится в раздел Related Work в сокращённом виде и служит доказательством полноты обзора.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Технический вызов состоит из двух частей: наблюдаемое ограничение и техническая причина этого ограничения. Формулировка без причины воспринимается как описание неудачи, а не как 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Объёмы указаны для regular paper в двухколоночном формате IEEE. Для letter структура сжимается, но состав разделов сохраняется.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 на четыре вопроса записываются отдельно и служат материалом для введения и аннотации.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Абзацы 2–3 подводят строго к тому вызову, который решается в работе. Прочие ограничения известных методов во введение не выносятся.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сравнения из литобзора включается в этот раздел в сокращённом виде.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Детали реализации — гиперпараметры, размерности, нормировки — выносятся в конец раздела либо в отдельный подраздел.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составляется до постановки экспериментов и служит планом раздела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на утечку выполняется до написания черновика: обнаружение утечки после написания текста требует переработки всех разделов, опирающихся на результаты.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Ресурсные показатели переводят работу из категории «модель обучена» в категорию «решение применимо».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data integrity выполняется до начала черновика, иначе текст придётся переписывать.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 приёма в аннотации упоминается, но не разъясняется по шагам: разъяснение относится к разделу метода.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впечатление рецензента формируется схемой метода и главной таблицей результатов. Эти два элемента прорабатываются в первую очередь.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русскоязычного автора наиболее устойчивые ошибки — артикли и согласование времён. Проверка выполняется отдельным проходом по тексту.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вопрос помечается: пройден, требует правки, требует нового эксперимента. Правка выполняется до подачи.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Причины 1, 3 и 7 составляют большинство отказов работ по анализу данных в инженерных журналах.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составляется по каждому пункту отдельно, без объединения замечаний. Неотвеченный пункт трактуется как отказ от правки.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Возврат назад допустим: результаты эксперимента могут потребовать переформулировки заявления. Недопустимо пропускать этап концепции и начинать с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063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Возврат назад допустим: результаты эксперимента могут потребовать переформулировки заявления. Недопустимо пропускать этап концепции и начинать с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422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Методические источники: Peng Sida, learning_research; репозиторий Research-Paper-Writing-Skills (MIT); требования к оформлению IEEE.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113D49"/>
          </a:solidFill>
          <a:ln w="12700">
            <a:solidFill>
              <a:srgbClr val="113D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0404E"/>
          </a:solidFill>
          <a:ln w="12700">
            <a:solidFill>
              <a:srgbClr val="1040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7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СТАТЬЯ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писать статью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7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задача × анализ данных: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7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концепции до ответа рецензенту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13495A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2062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площадки-примеры: IEEE Sensors Journal · IEEE TIM · IEEE TIA/TII · Measurement · MSSP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12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УрФУ, ИРИТ-РТФ · методическое пособие для студентов и аспирантов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</a:rPr>
              <a:t>Слайд о </a:t>
            </a:r>
            <a:r>
              <a:rPr lang="ru-RU" sz="4000" b="1" dirty="0" err="1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</a:rPr>
              <a:t>наукометрии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2827020" y="1371600"/>
            <a:ext cx="2161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Зачем писать статьи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219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</a:rPr>
              <a:t>Виды и особенности статей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2133600" y="1752600"/>
            <a:ext cx="6683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Review, </a:t>
            </a:r>
            <a:r>
              <a:rPr lang="ru-RU" dirty="0" smtClean="0"/>
              <a:t>статьи </a:t>
            </a:r>
            <a:r>
              <a:rPr lang="ru-RU" dirty="0" err="1" smtClean="0"/>
              <a:t>датасет</a:t>
            </a:r>
            <a:r>
              <a:rPr lang="ru-RU" dirty="0" smtClean="0"/>
              <a:t>, статьи исследования, какие то еще статьи?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529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</a:rPr>
              <a:t>Протоколы написания статей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872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процесса: восемь этапов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этапов фиксирован. Введение и аннотация пишутся последними, после получения результатов.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Концепция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Заявление, цель, выбор журнала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4640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00984" y="222199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12464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Литобзор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12464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поиска, таблица работ, gap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0136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0136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26480" y="222199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Скелет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Структура, обозначения, гипотезы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485632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8563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951976" y="222199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62288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63455" y="1746504"/>
            <a:ext cx="2073801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409176" y="2186810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базовые методы, ablation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311128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311128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85800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6968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Черновик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и результаты, затем обсуждение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834640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83464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300984" y="418795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11296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12464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Медиа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3712464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Рисунки, таблицы, алгоритмы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660136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60136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126480" y="418795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37960" y="3712464"/>
            <a:ext cx="2423160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Самопроверка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6537960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outlining, карта заявлений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485632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485632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8951976" y="418795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62288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63456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Подача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9363456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letter, ответ рецензенту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11311128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1311128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1752600" y="3127247"/>
            <a:ext cx="8804148" cy="363931"/>
          </a:xfrm>
          <a:prstGeom prst="down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" y="5349240"/>
            <a:ext cx="11119104" cy="658368"/>
          </a:xfrm>
          <a:prstGeom prst="roundRect">
            <a:avLst>
              <a:gd name="adj" fmla="val 6944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0392" y="5347498"/>
            <a:ext cx="10771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порядка. </a:t>
            </a: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«Введение» и «Аннотация» формулируются после того, как результаты получены: до этого вклад не может быть заявлен точно.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Методологические</a:t>
            </a:r>
            <a:r>
              <a:rPr lang="en-US" sz="3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аспекты</a:t>
            </a:r>
            <a:r>
              <a:rPr lang="ru-RU" sz="3600" b="1" dirty="0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концепции статьи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правила, которым подчинены все последующие решения по тексту.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2" y="1335023"/>
            <a:ext cx="2553462" cy="4256151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107" y="1397000"/>
            <a:ext cx="2720375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заявление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07309" y="1799723"/>
            <a:ext cx="2373086" cy="151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статья — одно заявление научному сообществу. Заявлением может быть цель, новизна или вклад в область. Несколько параллельных заявлений снижают оценку каждого из них.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112737" y="1361141"/>
            <a:ext cx="2752559" cy="4230033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79473" y="1397000"/>
            <a:ext cx="2752559" cy="56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терминология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213843" y="2311237"/>
            <a:ext cx="2691657" cy="168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Терминология единая, минимально необходимая и однозначная. </a:t>
            </a:r>
            <a:endParaRPr lang="ru-RU" sz="2000" dirty="0" smtClean="0">
              <a:solidFill>
                <a:srgbClr val="1B2A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20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20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символ — один смысл во всём тексте. Обозначения не переопределяются по ходу изложения.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80213" y="1361141"/>
            <a:ext cx="2744087" cy="4230033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3770" y="1387589"/>
            <a:ext cx="2151126" cy="56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 новизны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73941" y="2181270"/>
            <a:ext cx="2432123" cy="162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 состоит либо в применении известных методов к новой задаче, </a:t>
            </a:r>
            <a:r>
              <a:rPr lang="en-US" sz="20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либо</a:t>
            </a:r>
            <a:r>
              <a:rPr lang="en-US" sz="20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20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решении известной задачи новым методом. Третьего варианта, защитимого при рецензировании, нет.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807231" y="1349153"/>
            <a:ext cx="2553462" cy="4242021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8232" y="1387589"/>
            <a:ext cx="2151126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Принцип Оккама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890162" y="2181270"/>
            <a:ext cx="2387600" cy="169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Лишние сущности не вводятся ни в текст, ни в метод. </a:t>
            </a:r>
            <a:endParaRPr lang="en-US" sz="2000" dirty="0" smtClean="0">
              <a:solidFill>
                <a:srgbClr val="1B2A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20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</a:t>
            </a:r>
            <a:r>
              <a:rPr lang="en-US" sz="20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термин, блок метода и рисунок обязаны иметь назначение, сформулированное явно.</a:t>
            </a:r>
            <a:endParaRPr lang="en-US" sz="2000" dirty="0"/>
          </a:p>
        </p:txBody>
      </p:sp>
      <p:sp>
        <p:nvSpPr>
          <p:cNvPr id="21" name="Text 3"/>
          <p:cNvSpPr txBox="1"/>
          <p:nvPr/>
        </p:nvSpPr>
        <p:spPr>
          <a:xfrm>
            <a:off x="252984" y="568721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еще?</a:t>
            </a:r>
          </a:p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cs typeface="Calibri" pitchFamily="34" charset="-120"/>
              </a:rPr>
              <a:t>Тест на самопроверку.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Методологические</a:t>
            </a:r>
            <a:r>
              <a:rPr lang="en-US" sz="3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аспекты</a:t>
            </a:r>
            <a:r>
              <a:rPr lang="ru-RU" sz="3600" b="1" dirty="0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поиска новизны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правила, которым подчинены все последующие решения по тексту.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57175" y="3316605"/>
            <a:ext cx="11563350" cy="290322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8107" y="3371469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новизной не является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476639" y="4379595"/>
            <a:ext cx="112486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 эксперимента, то есть одинаковые условия сравнения методов. Это требование методики, а не результат.</a:t>
            </a:r>
            <a:endParaRPr lang="en-US" sz="2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выборки экспериментов. Большое число запусков повышает достоверность, но не создаёт нового знания.</a:t>
            </a:r>
            <a:endParaRPr lang="en-US" sz="2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популярной архитектуры без инженерного контекста измерения, датчика или производственного ограничения.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257175" y="841248"/>
            <a:ext cx="11563350" cy="2328291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48107" y="8961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</a:t>
            </a:r>
            <a:r>
              <a:rPr lang="en-US" sz="2800" b="1" dirty="0" err="1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новизной</a:t>
            </a:r>
            <a:r>
              <a:rPr lang="en-US" sz="28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является</a:t>
            </a:r>
            <a:endParaRPr lang="en-US" sz="2800" dirty="0"/>
          </a:p>
        </p:txBody>
      </p:sp>
      <p:sp>
        <p:nvSpPr>
          <p:cNvPr id="24" name="Text 3"/>
          <p:cNvSpPr txBox="1"/>
          <p:nvPr/>
        </p:nvSpPr>
        <p:spPr>
          <a:xfrm>
            <a:off x="257175" y="623925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еще?</a:t>
            </a:r>
          </a:p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cs typeface="Calibri" pitchFamily="34" charset="-120"/>
              </a:rPr>
              <a:t>Тест на самопроверку.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5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Концепция: пять вопросов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считается готовой, когда получены ответы на все пять вопросов и пройден тест одной фразы.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66700" y="1260226"/>
            <a:ext cx="2436266" cy="2406518"/>
          </a:xfrm>
          <a:prstGeom prst="roundRect">
            <a:avLst>
              <a:gd name="adj" fmla="val 25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425" y="1260226"/>
            <a:ext cx="2085365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нового?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379019" y="1630665"/>
            <a:ext cx="2337662" cy="122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метод либо новая задача. Формулируется одной строкой.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885846" y="1243584"/>
            <a:ext cx="2017166" cy="2423160"/>
          </a:xfrm>
          <a:prstGeom prst="roundRect">
            <a:avLst>
              <a:gd name="adj" fmla="val 25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86430" y="1356238"/>
            <a:ext cx="1614830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нужно?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2954427" y="1604254"/>
            <a:ext cx="1930298" cy="122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сообщество</a:t>
            </a: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метрологи</a:t>
            </a:r>
            <a:r>
              <a:rPr lang="en-US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ru-RU" sz="1600" dirty="0" smtClean="0">
              <a:solidFill>
                <a:srgbClr val="1B2A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</a:t>
            </a:r>
            <a:r>
              <a:rPr lang="ru-RU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|NDT, </a:t>
            </a:r>
            <a:endParaRPr lang="ru-RU" sz="1600" dirty="0" smtClean="0">
              <a:solidFill>
                <a:srgbClr val="1B2A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</a:t>
            </a:r>
            <a:r>
              <a:rPr lang="en-US" sz="16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вычисления</a:t>
            </a: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предиктивное</a:t>
            </a: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</a:t>
            </a:r>
            <a:r>
              <a:rPr lang="en-US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например обработка сигналов?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5893" y="1216152"/>
            <a:ext cx="2017166" cy="2212848"/>
          </a:xfrm>
          <a:prstGeom prst="roundRect">
            <a:avLst>
              <a:gd name="adj" fmla="val 25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87060" y="1270254"/>
            <a:ext cx="1894789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b="1" dirty="0" smtClean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</a:t>
            </a:r>
            <a:r>
              <a:rPr lang="en-US" b="1" dirty="0" err="1" smtClean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ровер</a:t>
            </a:r>
            <a:r>
              <a:rPr lang="ru-RU" b="1" dirty="0" smtClean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 идеи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5182969" y="1636624"/>
            <a:ext cx="1901801" cy="999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Эксперимент, результат которого подтверждает или опровергает заявление.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285939" y="1270254"/>
            <a:ext cx="2121256" cy="2158746"/>
          </a:xfrm>
          <a:prstGeom prst="roundRect">
            <a:avLst>
              <a:gd name="adj" fmla="val 25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19593" y="1337280"/>
            <a:ext cx="1920088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сейчас?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7364729" y="1652138"/>
            <a:ext cx="2042466" cy="999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изменилось: доступность данных, вычислительные средства, требования отрасли.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485986" y="1280160"/>
            <a:ext cx="2220238" cy="2130552"/>
          </a:xfrm>
          <a:prstGeom prst="roundRect">
            <a:avLst>
              <a:gd name="adj" fmla="val 25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40849" y="1299911"/>
            <a:ext cx="1614830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вы?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9586569" y="1604254"/>
            <a:ext cx="2119655" cy="122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установке, данным или экспертизе, которого нет у конкурирующих групп.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5800" y="3749040"/>
            <a:ext cx="10817352" cy="2148840"/>
          </a:xfrm>
          <a:prstGeom prst="roundRect">
            <a:avLst>
              <a:gd name="adj" fmla="val 2128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393192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b="1" dirty="0" smtClean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т</a:t>
            </a:r>
            <a:r>
              <a:rPr lang="en-US" b="1" dirty="0" err="1" smtClean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</a:t>
            </a:r>
            <a:r>
              <a:rPr lang="ru-RU" b="1" dirty="0" smtClean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</a:t>
            </a:r>
            <a:r>
              <a:rPr lang="en-US" b="1" dirty="0" smtClean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одной фразы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18450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«Показано, что [метод] обеспечивает [измеримый результат] в задаче [задача], в отличие от [существующие подходы], для которых характерно [конкретное ограничение]».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973836" y="504748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фраза не составляется без пропусков — концепция не готова, и переход к тексту преждевременен. Пропуск в скобках [существующие подходы] означает, что не выполнен литобзор; пропуск в [измеримый результат] означает, что не определена метрика.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Цель, новизна, вклад, impact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76250" y="914400"/>
            <a:ext cx="11100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понятия различаются по смыслу и по месту в тексте. Смешение приводит к замечанию о нечёткости заявления.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6250" y="1266825"/>
            <a:ext cx="2815590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413129"/>
            <a:ext cx="220370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1" y="1786936"/>
            <a:ext cx="2743200" cy="174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фраза, не перечень пунктов. Отвечает на вопрос «что показано», а не «что сделано».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11296" y="1266825"/>
            <a:ext cx="2606040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12464" y="1413129"/>
            <a:ext cx="220370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Новизна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0343" y="1756883"/>
            <a:ext cx="2316625" cy="174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заявлено впервые. Оценивается по потенциалу развития: новый метод с приростом 5 % ценнее развития известного метода с приростом 10 %.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36792" y="1266825"/>
            <a:ext cx="2606040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9944" y="1402080"/>
            <a:ext cx="2606040" cy="56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 (contribution)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1793885"/>
            <a:ext cx="2532888" cy="17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хорошо идея работает. </a:t>
            </a:r>
            <a:endParaRPr lang="ru-RU" sz="1600" dirty="0" smtClean="0">
              <a:solidFill>
                <a:srgbClr val="1B2A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6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Допускает</a:t>
            </a:r>
            <a:r>
              <a:rPr lang="en-US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на 3–4 проверяемых пункта: </a:t>
            </a:r>
            <a:endParaRPr lang="ru-RU" sz="1600" dirty="0" smtClean="0">
              <a:solidFill>
                <a:srgbClr val="1B2A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ru-RU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Алгоритм, </a:t>
            </a:r>
            <a:r>
              <a:rPr lang="en-US" sz="16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r>
              <a:rPr lang="en-US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реальных данных, </a:t>
            </a:r>
            <a:endParaRPr lang="ru-RU" sz="1600" dirty="0" smtClean="0">
              <a:solidFill>
                <a:srgbClr val="1B2A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6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</a:t>
            </a:r>
            <a:r>
              <a:rPr lang="en-US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62288" y="1266825"/>
            <a:ext cx="2606040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63456" y="1413129"/>
            <a:ext cx="220370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62288" y="1786936"/>
            <a:ext cx="2521712" cy="174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работа изменяет представление об объекте исследования. 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918585"/>
            <a:ext cx="5303520" cy="1604554"/>
          </a:xfrm>
          <a:prstGeom prst="roundRect">
            <a:avLst>
              <a:gd name="adj" fmla="val 2857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40287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Формулировка на языке сообщества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708152" y="4449791"/>
            <a:ext cx="5258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Пункты введения формулируются так, чтобы отвечать на вопросы сообщества и использовать его терминологию. Формулировка «обучена модель с точностью 0,97» вопросов сообщества не закрывает.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99632" y="3918584"/>
            <a:ext cx="5568696" cy="1691641"/>
          </a:xfrm>
          <a:prstGeom prst="roundRect">
            <a:avLst>
              <a:gd name="adj" fmla="val 2857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6096" y="4023741"/>
            <a:ext cx="52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Принцип Оккама применительно к заявлению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6356096" y="4382498"/>
            <a:ext cx="532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600" dirty="0">
                <a:solidFill>
                  <a:srgbClr val="1B2A33"/>
                </a:solidFill>
                <a:latin typeface="Calibri" pitchFamily="34" charset="0"/>
                <a:cs typeface="Calibri" pitchFamily="34" charset="-120"/>
              </a:rPr>
              <a:t>Статья должна заявлять то, что можно использовать и формулировки должны быть соответствующими 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 не должна заявлять больше, чем вы сможете доказать в результатах.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1B2A33"/>
                </a:solidFill>
                <a:latin typeface="Calibri" pitchFamily="34" charset="0"/>
                <a:cs typeface="Calibri" pitchFamily="34" charset="-120"/>
              </a:rPr>
              <a:t>Статья не должна заявлять то, что сообществу не нужно.</a:t>
            </a:r>
          </a:p>
        </p:txBody>
      </p:sp>
      <p:sp>
        <p:nvSpPr>
          <p:cNvPr id="24" name="Shape 16"/>
          <p:cNvSpPr/>
          <p:nvPr/>
        </p:nvSpPr>
        <p:spPr>
          <a:xfrm>
            <a:off x="685800" y="5815896"/>
            <a:ext cx="11082528" cy="736381"/>
          </a:xfrm>
          <a:prstGeom prst="roundRect">
            <a:avLst>
              <a:gd name="adj" fmla="val 2857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255268" y="5793362"/>
            <a:ext cx="9285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b="1" dirty="0" smtClean="0">
                <a:solidFill>
                  <a:srgbClr val="0B5563"/>
                </a:solidFill>
                <a:latin typeface="Cambria" pitchFamily="34" charset="0"/>
                <a:ea typeface="Cambria" pitchFamily="34" charset="-122"/>
              </a:rPr>
              <a:t>Заявленные результаты должны быть верифицируемые</a:t>
            </a:r>
            <a:endParaRPr lang="en-US" dirty="0"/>
          </a:p>
        </p:txBody>
      </p:sp>
      <p:sp>
        <p:nvSpPr>
          <p:cNvPr id="26" name="Text 18"/>
          <p:cNvSpPr txBox="1"/>
          <p:nvPr/>
        </p:nvSpPr>
        <p:spPr>
          <a:xfrm>
            <a:off x="763143" y="5993349"/>
            <a:ext cx="108813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заявленные результаты нельзя проверить или проверка неоднозначна, то результатам доверять нельзя,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новизны: где допустимо находиться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Квадрант определяет, какое доказательство потребует рецензент.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04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известная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4904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новая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dirty="0"/>
          </a:p>
          <a:p>
            <a:pPr marL="0" indent="0" algn="r">
              <a:buNone/>
            </a:pPr>
            <a:r>
              <a:rPr lang="en-US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известный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874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dirty="0"/>
          </a:p>
          <a:p>
            <a:pPr marL="0" indent="0" algn="r">
              <a:buNone/>
            </a:pPr>
            <a:r>
              <a:rPr lang="en-US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194560" y="187452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E9F2EE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95728" y="2020824"/>
            <a:ext cx="389534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Принимается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2394631"/>
            <a:ext cx="3895344" cy="119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метод для известной задачи. Требуется сравнение с актуальными базовыми методами при одинаковых условиях.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675120" y="187452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FBF0E6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2020824"/>
            <a:ext cx="389534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Высокий риск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394631"/>
            <a:ext cx="3895344" cy="119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метод для новой задачи. Два заявления одновременно: рецензент требует доказательства обоих. Рекомендуется разделить на две работы.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194560" y="388620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F8ECEA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95728" y="4032504"/>
            <a:ext cx="389534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Инкрементальная работа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395728" y="4406311"/>
            <a:ext cx="3895344" cy="119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Известный метод для известной задачи. Защитима только при новом экспериментальном выводе, который не следует из опубликованных работ.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675120" y="388620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E9F2EE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76288" y="4032504"/>
            <a:ext cx="389534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Принимается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4406311"/>
            <a:ext cx="3895344" cy="119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Известные методы для новой задачи. Требуется обоснование, почему существующие подходы к смежным задачам неприменимы.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59436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Заявленный квадрант указывается во введении явно: рецензент проверяет соответствие эксперимента квадранту, а не общую полезность работы.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журнала выполняется на этапе концепции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определяет требования к эксперименту. Выбор после написания текста приводит к переработке раздела результатов.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17352" cy="3200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Тип площадки (примеры)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оценивается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Частая причина отказа работ по анализу данных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Sensors Journal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Сенсорная система в связке с обработкой данных, прикладной сценарий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Машинное обучение вне сенсорного контекста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Измерение, погрешность и неопределённость, калибровка, средства измерений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Отсутствует оценка неопределённости; нет реальной измерительной задачи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Промышленное применение, энергетика, электропривод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показана промышленная значимость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TII / IoT Journal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решения для промышленности и IoT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сравнения с актуальными методами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Measurement, MSSP (Elsevier)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Сигналы, диагностика, экспериментальная валидация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Синтетические данные без обоснования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Отраслевые журналы (горное дело, энергетика)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производственной задачи, экономический эффект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описан без привязки к технологическому процессу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349240"/>
            <a:ext cx="10817352" cy="868680"/>
          </a:xfrm>
          <a:prstGeom prst="roundRect">
            <a:avLst>
              <a:gd name="adj" fmla="val 5263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 правило. </a:t>
            </a: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 на абстрактных данных без измерительного, сенсорного или производственного ограничения отклоняется вне зависимости от качества модели. Инженерный контекст вводится в постановку задачи, а не в заключение.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Литобзор: протокол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фиксируются до начала поиска. Протокол обеспечивает воспроизводимость обзора.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" y="1261872"/>
            <a:ext cx="2048256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1408176"/>
            <a:ext cx="1645920" cy="50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Строка поиска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90372" y="1902501"/>
            <a:ext cx="1847088" cy="968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Булевы операторы, синонимы термина, базы: IEEE Xplore, Scopus, Web of Science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83764" y="2057400"/>
            <a:ext cx="137160" cy="164592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25496" y="1261872"/>
            <a:ext cx="2048256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26664" y="1311981"/>
            <a:ext cx="1645920" cy="50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Критерии отбора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2914759" y="1937931"/>
            <a:ext cx="1904129" cy="968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Рецензируемые издания, наличие эксперимента и метрик, окно 5–7 лет плюс классические работы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78324" y="2057400"/>
            <a:ext cx="137160" cy="164592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1261872"/>
            <a:ext cx="2048256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1224" y="1408176"/>
            <a:ext cx="1645920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Скрининг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5221224" y="1751259"/>
            <a:ext cx="1645920" cy="1183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по аннотации, затем по полному тексту; число отклонённых работ фиксируется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72884" y="2057400"/>
            <a:ext cx="137160" cy="164592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14616" y="1261872"/>
            <a:ext cx="2048256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15784" y="1408176"/>
            <a:ext cx="1645920" cy="50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сравнения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7415784" y="1966326"/>
            <a:ext cx="1645920" cy="968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форма записи по всем отобранным работам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67444" y="2057400"/>
            <a:ext cx="137160" cy="164592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09176" y="1261872"/>
            <a:ext cx="2048256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10344" y="1408176"/>
            <a:ext cx="1645920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9610344" y="1751259"/>
            <a:ext cx="1645920" cy="1183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Незаполненные клетки таблицы указывают на неисследованную область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" y="3319272"/>
            <a:ext cx="10817352" cy="1051560"/>
          </a:xfrm>
          <a:prstGeom prst="roundRect">
            <a:avLst>
              <a:gd name="adj" fmla="val 4348"/>
            </a:avLst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34290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строки поиска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37307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("fault diagnosis" OR "fault detection") AND ("induction motor" OR "bearing") AND ("neural network" OR "deep learning") AND PUBYEAR &gt; </a:t>
            </a:r>
            <a:r>
              <a:rPr lang="en-US" sz="1600" dirty="0" smtClean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</a:t>
            </a:r>
            <a:r>
              <a:rPr lang="ru-RU" sz="1600" dirty="0" smtClean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smtClean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600" dirty="0" smtClean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CITES </a:t>
            </a:r>
            <a:r>
              <a:rPr lang="en-US" sz="160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600" dirty="0" smtClean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" y="4507991"/>
            <a:ext cx="5349240" cy="1853565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" y="4654296"/>
            <a:ext cx="4946904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какие вопросы обзор отвечает обязательно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4944657"/>
            <a:ext cx="4946904" cy="61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подходы применяются к задаче и на каких допущениях они основаны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каких условиях опубликованные методы теряют работоспособность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данные использованы: реальные или синтетические, какого объёма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99048" y="4507992"/>
            <a:ext cx="5349240" cy="1853564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00216" y="4654296"/>
            <a:ext cx="49469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выявляется дополнительно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00216" y="4989698"/>
            <a:ext cx="4946904" cy="82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числа публикаций по годам и тематическая эволюция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Устоявшиеся наборы данных и метрики, принятые сообществом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Терминологические расхождения между школами</a:t>
            </a:r>
            <a:endParaRPr lang="en-US" sz="1400" dirty="0"/>
          </a:p>
        </p:txBody>
      </p:sp>
      <p:sp>
        <p:nvSpPr>
          <p:cNvPr id="34" name="Text 3"/>
          <p:cNvSpPr txBox="1"/>
          <p:nvPr/>
        </p:nvSpPr>
        <p:spPr>
          <a:xfrm>
            <a:off x="323850" y="644172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где </a:t>
            </a:r>
            <a:r>
              <a:rPr lang="en-US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esearch </a:t>
            </a:r>
            <a:r>
              <a:rPr lang="en-US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</a:t>
            </a: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что то еще.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47129" y="3244334"/>
            <a:ext cx="5097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</a:t>
            </a:r>
            <a:r>
              <a:rPr lang="ru-RU" i="1" dirty="0" err="1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литобзора</a:t>
            </a:r>
            <a:r>
              <a:rPr lang="ru-RU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инженерных статей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86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сравнения работ порождает gap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форма записи по всем работам. Незаполненные клетки указывают на неисследованную область.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670373"/>
              </p:ext>
            </p:extLst>
          </p:nvPr>
        </p:nvGraphicFramePr>
        <p:xfrm>
          <a:off x="685800" y="1581912"/>
          <a:ext cx="10817352" cy="2377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Задача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Метод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Данные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Метрики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Ограничение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Диагностика подшипника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по спектрограмме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Открытый набор, стенд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Стационарная нагрузка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Автокодировщик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Синтетические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Реальные данные отсутствуют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Пороговое правило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Промышленные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Настройка порога для каждого агрегата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 при дрейфе условий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Неопределённость не оценивается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Пустая строка =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34340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4489704"/>
            <a:ext cx="3081528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 записи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4832787"/>
            <a:ext cx="3081528" cy="109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одинаковы для всех работ. Записывается то, что в работе указано; предположения автора обзора в таблицу не вносятся.</a:t>
            </a:r>
            <a:endParaRPr lang="en-US" sz="1600" dirty="0"/>
          </a:p>
        </p:txBody>
      </p:sp>
      <p:sp>
        <p:nvSpPr>
          <p:cNvPr id="6" name="Shape 7"/>
          <p:cNvSpPr/>
          <p:nvPr/>
        </p:nvSpPr>
        <p:spPr>
          <a:xfrm>
            <a:off x="4352544" y="434340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3712" y="4489704"/>
            <a:ext cx="3081528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трендов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4832787"/>
            <a:ext cx="3081528" cy="109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Гистограмма числа публикаций по годам и по подтемам. Показывает насыщение направления либо его рост.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19288" y="434340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0456" y="4489704"/>
            <a:ext cx="3081528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Завершение обзора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8220456" y="4832787"/>
            <a:ext cx="3081528" cy="109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завершается конструкцией «Однако…»: изложенное состояние области должно логически требовать появления предлагаемой работы.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statement: шаблон и типовая ошибка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формулируется через ограничения конкретных работ, а не через объём литературы.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1260729"/>
            <a:ext cx="10817352" cy="1234440"/>
          </a:xfrm>
          <a:prstGeom prst="roundRect">
            <a:avLst>
              <a:gd name="adj" fmla="val 370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70457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Шаблон формулировки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1736217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736217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подходы делают X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70632" y="1736217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935224" y="1736217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08376" y="1736217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предполагают 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1736217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93208" y="1736217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1736217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не выполняется в сценарии Z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1736217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51192" y="1736217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24344" y="1736217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следствие: что нарушается и насколько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44584" y="1736217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09176" y="1736217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82328" y="1736217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предлагается 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2723769"/>
            <a:ext cx="5349240" cy="1371600"/>
          </a:xfrm>
          <a:prstGeom prst="roundRect">
            <a:avLst>
              <a:gd name="adj" fmla="val 3333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2870073"/>
            <a:ext cx="49469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Ошибочная формулировка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220837"/>
            <a:ext cx="5157216" cy="764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«Данной теме посвящено мало работ». Утверждение не проверяемо, не указывает на техническую причину и не задаёт критерий успеха.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16752" y="2723769"/>
            <a:ext cx="5349240" cy="1371600"/>
          </a:xfrm>
          <a:prstGeom prst="roundRect">
            <a:avLst>
              <a:gd name="adj" fmla="val 3333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99048" y="2796364"/>
            <a:ext cx="49469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Корректная формулировка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3095747"/>
            <a:ext cx="5239512" cy="764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«Существующие методы [5]–[9] предполагают стационарные условия калибровки. При температурном дрейфе датчика точность снижается на N % [10]. Оценка неопределённости предсказания не выполняется ни в одной из работ, что исключает метрологическое применение. Предлагается…»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323969"/>
            <a:ext cx="10817352" cy="1508760"/>
          </a:xfrm>
          <a:prstGeom prst="roundRect">
            <a:avLst>
              <a:gd name="adj" fmla="val 303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442841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сформулированного gap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790313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Указаны конкретные источники и конкретное допущение, которое в них принято.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Указано условие, при котором допущение нарушается, и последствие в измеримой форме.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Предлагаемое решение адресует именно названное допущение, а не смежную трудность.</a:t>
            </a:r>
            <a:endParaRPr lang="en-US" dirty="0"/>
          </a:p>
        </p:txBody>
      </p:sp>
      <p:sp>
        <p:nvSpPr>
          <p:cNvPr id="31" name="Text 3"/>
          <p:cNvSpPr txBox="1"/>
          <p:nvPr/>
        </p:nvSpPr>
        <p:spPr>
          <a:xfrm>
            <a:off x="257175" y="607466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еще?</a:t>
            </a:r>
          </a:p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cs typeface="Calibri" pitchFamily="34" charset="-120"/>
              </a:rPr>
              <a:t>Тест на самопроверку.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Скелет статьи и типовой объём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Скелет создаётся до написания текста и содержит назначение каждого раздела.</a:t>
            </a: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56594"/>
              </p:ext>
            </p:extLst>
          </p:nvPr>
        </p:nvGraphicFramePr>
        <p:xfrm>
          <a:off x="429768" y="1350645"/>
          <a:ext cx="10817352" cy="389839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Раздел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Объём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Содержание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Abstract, Index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 слов, один абзац; 5–7 терминов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Задача, ограничение известных методов, вклад, результат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Introduction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1–1,5 страницы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Мотивация, gap, цель, вклад списком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II. Related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страница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Группировка по подходам, таблица сравнения, отличие предлагаемой работы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III. Problem Formulation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0,5–1 страница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Формальная постановка, допущения, таблица обозначений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IV. Proposed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1,5–2,5 страницы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Схема, устройство модулей, псевдокод, сложность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Experimental Setup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1–1,5 страницы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Стенд и данные, разбиение, базовые методы, метрики, аппаратура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VI. Results and Discussion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страницы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Сравнение, ablation, границы применимости, отказы метода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VII. Conclusion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абзаца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 и направление продолжения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smtClean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 </a:t>
                      </a: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менее 60 % за последние пять лет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29768" y="5282565"/>
            <a:ext cx="10817352" cy="777240"/>
          </a:xfrm>
          <a:prstGeom prst="roundRect">
            <a:avLst>
              <a:gd name="adj" fmla="val 5882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5968" y="5282565"/>
            <a:ext cx="1048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5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обозначений. </a:t>
            </a: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символ — один смысл во всей статье. Единицы СИ. Обозначение определяется до первого использования и далее не переопределяется. Словарь терминов ведётся с первого дня работы.</a:t>
            </a:r>
            <a:endParaRPr lang="en-US" dirty="0"/>
          </a:p>
        </p:txBody>
      </p:sp>
      <p:sp>
        <p:nvSpPr>
          <p:cNvPr id="9" name="Text 3"/>
          <p:cNvSpPr txBox="1"/>
          <p:nvPr/>
        </p:nvSpPr>
        <p:spPr>
          <a:xfrm>
            <a:off x="257175" y="623925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еще?</a:t>
            </a:r>
          </a:p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cs typeface="Calibri" pitchFamily="34" charset="-120"/>
              </a:rPr>
              <a:t>Тест на самопроверку.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Введение: обратный ход и прямое изложение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введения выстраивается от вклада к задаче, а записывается в обратном порядке.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5800" y="1261872"/>
            <a:ext cx="5349240" cy="4160520"/>
          </a:xfrm>
          <a:prstGeom prst="roundRect">
            <a:avLst>
              <a:gd name="adj" fmla="val 1099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3990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Обратный ход: вопросы до написания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179222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техническая проблема решается и почему устоявшегося решения нет.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14400" y="2688336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35024" y="2651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чём состоит вклад: новая задача, новая метрика, новая техническая проблема или новый приём.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14400" y="35478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35024" y="351129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предложенное решает эту проблему и какое новое понимание оно даёт.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14400" y="4407408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35024" y="43708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через известные работы читатель подводится к сформулированной проблеме.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53912" y="1261872"/>
            <a:ext cx="5349240" cy="4160520"/>
          </a:xfrm>
          <a:prstGeom prst="roundRect">
            <a:avLst>
              <a:gd name="adj" fmla="val 1099"/>
            </a:avLst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13990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Прямое изложение: порядок записи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382512" y="1856232"/>
            <a:ext cx="1024128" cy="420624"/>
          </a:xfrm>
          <a:prstGeom prst="roundRect">
            <a:avLst>
              <a:gd name="adj" fmla="val 10870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1856232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34656" y="18379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 её приложения; целевые показатели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839712" y="2313432"/>
            <a:ext cx="128016" cy="164592"/>
          </a:xfrm>
          <a:prstGeom prst="down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2551176"/>
            <a:ext cx="1024128" cy="420624"/>
          </a:xfrm>
          <a:prstGeom prst="roundRect">
            <a:avLst>
              <a:gd name="adj" fmla="val 10870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82512" y="2551176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534656" y="2532888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Известные методы и технический вызов: ограничение плюс его причина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839712" y="3008376"/>
            <a:ext cx="128016" cy="164592"/>
          </a:xfrm>
          <a:prstGeom prst="down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2512" y="3246120"/>
            <a:ext cx="1024128" cy="420624"/>
          </a:xfrm>
          <a:prstGeom prst="roundRect">
            <a:avLst>
              <a:gd name="adj" fmla="val 10870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82512" y="3246120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534656" y="32278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Предлагаемое решение и объяснение, почему оно работает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839712" y="3703320"/>
            <a:ext cx="128016" cy="164592"/>
          </a:xfrm>
          <a:prstGeom prst="down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82512" y="3941064"/>
            <a:ext cx="1024128" cy="420624"/>
          </a:xfrm>
          <a:prstGeom prst="roundRect">
            <a:avLst>
              <a:gd name="adj" fmla="val 10870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82512" y="3941064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534656" y="39227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составляющие вклада и их значение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839712" y="4398264"/>
            <a:ext cx="128016" cy="164592"/>
          </a:xfrm>
          <a:prstGeom prst="down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2512" y="4636008"/>
            <a:ext cx="1024128" cy="420624"/>
          </a:xfrm>
          <a:prstGeom prst="roundRect">
            <a:avLst>
              <a:gd name="adj" fmla="val 10870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82512" y="4636008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5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534656" y="4617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эксперимента в одной-двух фразах</a:t>
            </a:r>
            <a:endParaRPr lang="en-US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5559552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схемы: методика Peng Sida (learning_research) в адаптации Research-Paper-Writing-Skills.</a:t>
            </a:r>
            <a:endParaRPr lang="en-US" sz="1600" dirty="0"/>
          </a:p>
        </p:txBody>
      </p:sp>
      <p:sp>
        <p:nvSpPr>
          <p:cNvPr id="42" name="Text 3"/>
          <p:cNvSpPr txBox="1"/>
          <p:nvPr/>
        </p:nvSpPr>
        <p:spPr>
          <a:xfrm>
            <a:off x="352425" y="6036183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еще?</a:t>
            </a:r>
            <a:r>
              <a:rPr lang="en-US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выбрать протокол</a:t>
            </a:r>
          </a:p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cs typeface="Calibri" pitchFamily="34" charset="-120"/>
              </a:rPr>
              <a:t>Тест на самопроверку.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Анатомия введения: семь абзацев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абзац — одно сообщение. Первое предложение абзаца сообщает его назначение.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4632" y="1327709"/>
            <a:ext cx="3483864" cy="1938528"/>
          </a:xfrm>
          <a:prstGeom prst="roundRect">
            <a:avLst>
              <a:gd name="adj" fmla="val 2632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74013"/>
            <a:ext cx="235000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1" y="1832458"/>
            <a:ext cx="3499484" cy="112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Прикладная задача и её инженерная значимость. Не «машинное обучение популярно», а «отказ агрегата приводит к простою стоимостью…».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191256" y="1446581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91256" y="1446581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51376" y="1327709"/>
            <a:ext cx="3483864" cy="1883664"/>
          </a:xfrm>
          <a:prstGeom prst="roundRect">
            <a:avLst>
              <a:gd name="adj" fmla="val 2632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52544" y="1474013"/>
            <a:ext cx="235000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Состояние области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352544" y="1832458"/>
            <a:ext cx="3081528" cy="112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направления работ: что достигнуто, при каких допущениях, где отказывает и по какой технической причине.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858000" y="1446581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1446581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18120" y="1327709"/>
            <a:ext cx="3483864" cy="1828800"/>
          </a:xfrm>
          <a:prstGeom prst="roundRect">
            <a:avLst>
              <a:gd name="adj" fmla="val 2632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19288" y="1474013"/>
            <a:ext cx="235000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r>
              <a:rPr lang="ru-RU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smtClean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statement/ problem in the </a:t>
            </a:r>
            <a:r>
              <a:rPr lang="en-US" sz="2000" b="1" dirty="0" err="1" smtClean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researchfield</a:t>
            </a:r>
            <a:r>
              <a:rPr lang="en-US" sz="2000" b="1" dirty="0" smtClean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19288" y="1832458"/>
            <a:ext cx="3081528" cy="112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абзац. Формулируется по шаблону слайда 8.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524744" y="1446581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24744" y="1446581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" y="3321101"/>
            <a:ext cx="3483864" cy="1682496"/>
          </a:xfrm>
          <a:prstGeom prst="roundRect">
            <a:avLst>
              <a:gd name="adj" fmla="val 2632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412541"/>
            <a:ext cx="235000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Предлагаемое решение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001415"/>
            <a:ext cx="3081528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 данной работе предлагается…»: приём, схема, причина работоспособности.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191256" y="3385109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91256" y="3385109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51376" y="3346703"/>
            <a:ext cx="3483864" cy="1656893"/>
          </a:xfrm>
          <a:prstGeom prst="roundRect">
            <a:avLst>
              <a:gd name="adj" fmla="val 2632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52544" y="3412541"/>
            <a:ext cx="235000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 списком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352544" y="3770986"/>
            <a:ext cx="3081528" cy="112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проверяемых пункта: постановка, метод, валидация на реальных данных, открытый код и данные.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858000" y="3385109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3385109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18120" y="3266237"/>
            <a:ext cx="3483864" cy="1737360"/>
          </a:xfrm>
          <a:prstGeom prst="roundRect">
            <a:avLst>
              <a:gd name="adj" fmla="val 2632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19288" y="3412541"/>
            <a:ext cx="235000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Организация текста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019288" y="4001415"/>
            <a:ext cx="3081528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предложение о структуре оставшейся части статьи.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0524744" y="3385109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24744" y="3385109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4632" y="5168189"/>
            <a:ext cx="10817352" cy="777240"/>
          </a:xfrm>
          <a:prstGeom prst="roundRect">
            <a:avLst>
              <a:gd name="adj" fmla="val 5882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4632" y="5168189"/>
            <a:ext cx="10890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Запрещённая конструкция. </a:t>
            </a:r>
            <a:r>
              <a:rPr lang="en-US" sz="17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описывается сначала наивное решение, а затем улучшение над ним. </a:t>
            </a:r>
            <a:r>
              <a:rPr lang="en-US" sz="17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7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700" dirty="0" err="1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en-US" sz="170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таком изложении работа воспринимается как правка тривиального базового варианта, даже если это не так.</a:t>
            </a:r>
            <a:endParaRPr lang="en-US" sz="1700" dirty="0"/>
          </a:p>
        </p:txBody>
      </p:sp>
      <p:sp>
        <p:nvSpPr>
          <p:cNvPr id="38" name="Text 3"/>
          <p:cNvSpPr txBox="1"/>
          <p:nvPr/>
        </p:nvSpPr>
        <p:spPr>
          <a:xfrm>
            <a:off x="257175" y="623925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еще? Где актуальность, где мотивация</a:t>
            </a:r>
            <a:r>
              <a:rPr lang="en-US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Где </a:t>
            </a:r>
            <a:r>
              <a:rPr lang="ru-RU" i="1" dirty="0" err="1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новзина</a:t>
            </a: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cs typeface="Calibri" pitchFamily="34" charset="-120"/>
              </a:rPr>
              <a:t>Тест на самопроверку.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Work: позиционирование работы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по техническим темам, не по годам публикации.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0149" y="1298447"/>
            <a:ext cx="5349240" cy="3002965"/>
          </a:xfrm>
          <a:prstGeom prst="roundRect">
            <a:avLst>
              <a:gd name="adj" fmla="val 217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1317" y="1378915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Состав раздела: 2–4 темы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15873" y="1815351"/>
            <a:ext cx="5263515" cy="148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методы, применяемые к данной задаче.</a:t>
            </a:r>
            <a:endParaRPr lang="en-US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Работы, наиболее близкие к предлагаемой идее.</a:t>
            </a:r>
            <a:endParaRPr lang="en-US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Вспомогательные приёмы, на которых построен метод.</a:t>
            </a:r>
            <a:endParaRPr lang="en-US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Сильнейшие конкурирующие работы включаются обязательно; их отсутствие трактуется как сокрытие.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34455" y="1445895"/>
            <a:ext cx="5650611" cy="2602230"/>
          </a:xfrm>
          <a:prstGeom prst="roundRect">
            <a:avLst>
              <a:gd name="adj" fmla="val 217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35624" y="1592199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Шаблон абзаца темы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135624" y="1950644"/>
            <a:ext cx="5294376" cy="148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Тематическое предложение: границы темы.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представительных работ, одна компактная формулировка.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Ограничение, связанное именно с решаемым вызовом.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к предлагаемому методу.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0149" y="4424858"/>
            <a:ext cx="5385435" cy="2185492"/>
          </a:xfrm>
          <a:prstGeom prst="roundRect">
            <a:avLst>
              <a:gd name="adj" fmla="val 2439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496029"/>
            <a:ext cx="492861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Делать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98538" y="4863770"/>
            <a:ext cx="5248656" cy="126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Сравнивать механизмы, допущения и режимы отказа.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Явно указывать, какую часть пробела закрывает работа.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Выражать отличие в технических терминах.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45911" y="4301413"/>
            <a:ext cx="5439156" cy="2308937"/>
          </a:xfrm>
          <a:prstGeom prst="roundRect">
            <a:avLst>
              <a:gd name="adj" fmla="val 2439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7079" y="4447718"/>
            <a:ext cx="492861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делать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47079" y="4806163"/>
            <a:ext cx="4928616" cy="126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Превращать раздел в перечень цитирований.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Опускать сильнейшие базовые методы.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Заменять техническое отличие оценочными формулировками.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Метод: три элемента описания модуля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каждого блока метода состоит из трёх частей и записывается в указанном порядке.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5590" y="1274064"/>
            <a:ext cx="3575304" cy="2372104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1317" y="133375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Устройство модуля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31316" y="1708634"/>
            <a:ext cx="3350133" cy="135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Представление, структура сети или данных. Прямой проход строго по шагам: вход → шаг 1 → шаг 2 → выход. Записывается первым.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0038" y="2170176"/>
            <a:ext cx="309562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8744" y="1274064"/>
            <a:ext cx="3558159" cy="2372104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4207" y="1420368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Мотивация модуля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14850" y="1778813"/>
            <a:ext cx="3270885" cy="135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Формулируется от проблемы: поскольку существует ограничение X, введён блок Y. Записывается после устройства.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991475" y="2170176"/>
            <a:ext cx="254889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55508" y="1274064"/>
            <a:ext cx="3483864" cy="2372104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6676" y="1290830"/>
            <a:ext cx="308152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Техническое преимущество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56676" y="2009242"/>
            <a:ext cx="3081528" cy="112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блок превосходит альтернативы. Привязывается к измеримому поведению, а не к общим свойствам.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0734" y="3795140"/>
            <a:ext cx="11242165" cy="1280160"/>
          </a:xfrm>
          <a:prstGeom prst="roundRect">
            <a:avLst>
              <a:gd name="adj" fmla="val 357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625" y="389572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работы над разделом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09625" y="4261484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2777" y="426148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метода (pipeline)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2803017" y="4261484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967609" y="4261484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40761" y="426148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на подразделы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4961001" y="4261484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125593" y="4261484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98745" y="426148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каждого блока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7118985" y="4261484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283577" y="4261484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56729" y="426148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 и преимущества</a:t>
            </a:r>
            <a:endParaRPr lang="en-US" dirty="0"/>
          </a:p>
        </p:txBody>
      </p:sp>
      <p:sp>
        <p:nvSpPr>
          <p:cNvPr id="30" name="Text 28"/>
          <p:cNvSpPr txBox="1"/>
          <p:nvPr/>
        </p:nvSpPr>
        <p:spPr>
          <a:xfrm>
            <a:off x="9276969" y="4261484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441561" y="4261484"/>
            <a:ext cx="1920240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14713" y="426148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 реализации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25590" y="5224272"/>
            <a:ext cx="11247310" cy="1429131"/>
          </a:xfrm>
          <a:prstGeom prst="roundRect">
            <a:avLst>
              <a:gd name="adj" fmla="val 434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7" y="5291998"/>
            <a:ext cx="10415016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понятности метода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27329" y="5609173"/>
            <a:ext cx="11045570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 уровень: изложение метода пересказывается кратко и проверяется на связность. Уровень абзаца: первое предложение сообщает содержание абзаца. Уровень предложения: для каждого предложения явна причина его присутствия; терминология не меняется по ходу текста.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 отвечает на три вопроса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эксперимента определяется составом заявленного вклада, а не доступностью данных.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5300" y="1353312"/>
            <a:ext cx="3674364" cy="2578608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9600" y="1472692"/>
            <a:ext cx="3358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превосходит сильные базовые варианты?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06552" y="2121408"/>
            <a:ext cx="34518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актуальными методами и с одним наивным вариантом — порогом или линейной моделью, задающим нижнюю границу. Одинаковое разбиение, предобработка и протокол оценки для всех методов.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52544" y="1362456"/>
            <a:ext cx="3483864" cy="2569464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50876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Какие блоки дают выигрыш?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448556" y="2157984"/>
            <a:ext cx="331622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по каждому заявленному решению: удаление, замена, отключение. Приводится разность относительно полной модели. При связанных блоках проверяется их взаимодействие.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19288" y="1344168"/>
            <a:ext cx="3483864" cy="2587752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65592" y="1515727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метод ведёт себя в тяжёлых условиях?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129463"/>
            <a:ext cx="3364992" cy="1712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вне обучающего распределения: усложнённые сценарии, редкие случаи, повышенный шум, ужесточённые ограничения. Приводятся и выигрыши, и режимы отказа.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5300" y="4160520"/>
            <a:ext cx="11007852" cy="2103120"/>
          </a:xfrm>
          <a:prstGeom prst="roundRect">
            <a:avLst>
              <a:gd name="adj" fmla="val 217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2793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«заявление → эксперимент»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14400" y="468172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6817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Заявленный вклад 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4800600"/>
            <a:ext cx="274320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468172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32120" y="46817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1: подтверждение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518464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184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Заявленный вклад 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5303520"/>
            <a:ext cx="274320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0680" y="518464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32120" y="5184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2: подтверждение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568756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5687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метода / ключевой параметр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0" y="5806440"/>
            <a:ext cx="274320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568756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32120" y="5687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Ablation-эксперимент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555480" y="468172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Заявление, для которого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8F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карте нет эксперимента,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8F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текста удаляется.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и утечки данных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Наиболее частая причина отказа работ по анализу данных в инженерных журналах.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385316"/>
            <a:ext cx="5349240" cy="2715768"/>
          </a:xfrm>
          <a:prstGeom prst="roundRect">
            <a:avLst>
              <a:gd name="adj" fmla="val 1887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48410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Проверочный список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800100" y="1793690"/>
            <a:ext cx="5289804" cy="180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Преобразование признаков настроено только по обучающей части.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обучающей и тестовой частей не перекрываются.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Дубликаты и повторные записи удалены.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разметки оценён и указан.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условий зафиксирован и описан.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не содержат величин, недоступных в момент предсказания.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53912" y="1385316"/>
            <a:ext cx="5349240" cy="2683764"/>
          </a:xfrm>
          <a:prstGeom prst="roundRect">
            <a:avLst>
              <a:gd name="adj" fmla="val 1887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4788" y="142646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Разбиение выборки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231636" y="1697882"/>
            <a:ext cx="5271516" cy="180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Временные ряды: только хронологическое разбиение либо leave-one-unit-out.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Случайное разбиение временного ряда даёт завышенную оценку качества и трактуется как утечка.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по агрегатам: данные одного агрегата не попадают одновременно в обучающую и тестовую части.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разбиения приводится в тексте явно, включая объёмы частей.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4297680"/>
            <a:ext cx="10817352" cy="1965960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4165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Описание данных в тексте статьи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828032"/>
            <a:ext cx="248716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2416" y="49377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Происхождение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5230368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установка или открытый набор; условия регистрации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02736" y="4828032"/>
            <a:ext cx="248716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30752" y="49377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5230368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Объём, частота дискретизации, доля аномальных состояний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91072" y="4828032"/>
            <a:ext cx="248716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49377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Разбиение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5230368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Схема, объёмы частей, обоснование выбора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79408" y="4828032"/>
            <a:ext cx="248716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07424" y="49377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Доступность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9107424" y="5230368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набор либо причина ограничения доступа</a:t>
            </a:r>
            <a:endParaRPr lang="en-US" sz="1600" dirty="0"/>
          </a:p>
        </p:txBody>
      </p:sp>
      <p:sp>
        <p:nvSpPr>
          <p:cNvPr id="26" name="Text 3"/>
          <p:cNvSpPr txBox="1"/>
          <p:nvPr/>
        </p:nvSpPr>
        <p:spPr>
          <a:xfrm>
            <a:off x="257175" y="623925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еще?</a:t>
            </a:r>
          </a:p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cs typeface="Calibri" pitchFamily="34" charset="-120"/>
              </a:rPr>
              <a:t>Тест на самопроверку.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Инженерные метрики и неопределённость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качества классификации недостаточны для инженерного журнала.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1020" y="1211580"/>
            <a:ext cx="2606040" cy="28346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2188" y="1357884"/>
            <a:ext cx="22037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качества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2460" y="1693286"/>
            <a:ext cx="2453640" cy="2243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Точность, полнота, AUC — в зависимости от задачи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метрики указывается: ↑ или ↓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соответствует стоимости ошибки в приложении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66516" y="1211580"/>
            <a:ext cx="2606040" cy="28346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7684" y="1357884"/>
            <a:ext cx="2203704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Ресурсные показатели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66516" y="1900672"/>
            <a:ext cx="2606040" cy="203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обработки одного отсчёта или окна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памяти и число параметров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Энергопотребление для edge-реализации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вычислительной платформе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2012" y="1211580"/>
            <a:ext cx="2732532" cy="28346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3180" y="1357884"/>
            <a:ext cx="22037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Неопределённость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93180" y="1693286"/>
            <a:ext cx="2531364" cy="2243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Доверительные интервалы либо планки погрешности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Повторные запуски с различной инициализацией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запусков и разброс приводятся явно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измерительных задач — бюджет неопределённости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17508" y="1211580"/>
            <a:ext cx="2759964" cy="28346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8676" y="1357884"/>
            <a:ext cx="22037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Воспроизводимость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38844" y="1684142"/>
            <a:ext cx="2624328" cy="2243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в репозитории и архивная копия с DOI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Зафиксированы значения инициализации генератора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библиотек и характеристики аппаратуры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полного воспроизведения результатов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3880" y="4274820"/>
            <a:ext cx="11213592" cy="1508760"/>
          </a:xfrm>
          <a:prstGeom prst="roundRect">
            <a:avLst>
              <a:gd name="adj" fmla="val 3030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9620" y="43936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Требование измерительных журналов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723900" y="4703308"/>
            <a:ext cx="1089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Оценивается погрешность и неопределённость результата, а не только доля правильных решений. Приводится сопоставление с эталонным средством измерений либо с независимым методом. Условия сравнения методов одинаковы: одни и те же данные, предобработка и протокол оценки. Отсутствие оценки неопределённости — типовая причина отказа.</a:t>
            </a:r>
            <a:endParaRPr lang="en-US" sz="1600" dirty="0"/>
          </a:p>
        </p:txBody>
      </p:sp>
      <p:sp>
        <p:nvSpPr>
          <p:cNvPr id="21" name="Text 3"/>
          <p:cNvSpPr txBox="1"/>
          <p:nvPr/>
        </p:nvSpPr>
        <p:spPr>
          <a:xfrm>
            <a:off x="257175" y="607466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еще? Где бизнес метрики?</a:t>
            </a:r>
          </a:p>
          <a:p>
            <a:pPr marL="0" indent="0">
              <a:buNone/>
            </a:pPr>
            <a:r>
              <a:rPr lang="ru-RU" i="1" dirty="0" smtClean="0">
                <a:solidFill>
                  <a:srgbClr val="54666E"/>
                </a:solidFill>
                <a:latin typeface="Calibri" pitchFamily="34" charset="0"/>
                <a:cs typeface="Calibri" pitchFamily="34" charset="-120"/>
              </a:rPr>
              <a:t>Тест на самопроверку.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черновик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превращает скелет в конкретные формулировки. Детали на этом этапе опускаются.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" y="140208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266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Скелет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9644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и назначение каждого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93976" y="1402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258568" y="140208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68296" y="150266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и результаты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68296" y="199644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Фактическая часть, пишется первой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13632" y="1402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78224" y="140208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87952" y="150266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Обсуждение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87952" y="199644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Интерпретация, ограничения, отказы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733288" y="1402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897880" y="140208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F3F8F9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07608" y="150266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Введение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007608" y="199644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Пишется после результатов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52944" y="1402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717536" y="140208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F3F8F9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27264" y="150266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Аннотация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827264" y="199644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всей статьи, пишется предпоследней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1402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537192" y="140208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F3F8F9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46920" y="150266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46920" y="199644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и продолжение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8912" y="3002280"/>
            <a:ext cx="5349240" cy="1508760"/>
          </a:xfrm>
          <a:prstGeom prst="roundRect">
            <a:avLst>
              <a:gd name="adj" fmla="val 303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14858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Назначение черновика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507029"/>
            <a:ext cx="4946904" cy="89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соответствия результатов заявленным гипотезам.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полноты: всё необходимое присутствует.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Выявление внутренних противоречий между разделами.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07024" y="3002280"/>
            <a:ext cx="5349240" cy="1508760"/>
          </a:xfrm>
          <a:prstGeom prst="roundRect">
            <a:avLst>
              <a:gd name="adj" fmla="val 303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08192" y="314858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работы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6108192" y="3507029"/>
            <a:ext cx="4946904" cy="89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написание, медленная правка: сначала законченный слабый текст, затем улучшение.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Отсутствующее помечается \todo[]{} с комментарием, а не додумывается.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Числа, которых нет, не подставляются: ставится метка.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912" y="4739640"/>
            <a:ext cx="10817352" cy="1188720"/>
          </a:xfrm>
          <a:prstGeom prst="roundRect">
            <a:avLst>
              <a:gd name="adj" fmla="val 3846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7512" y="48493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Обнаруженное противоречие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5196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Противоречие между гипотезой и результатом фиксируется в тексте, а не устраняется подбором формулировок. Возможные действия: ослабление заявления, дополнительный эксперимент, изменение постановки. Сокрытие противоречия обнаруживается при рецензировании и приводит к отказу.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Аннотация: три схемы построения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выбирается по числу составляющих вклада. Аннотация пишется последней.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483864" cy="26060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517904"/>
            <a:ext cx="3081528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A: вызов → вклад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868668"/>
            <a:ext cx="3081528" cy="199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вызов для известных методов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Одно-два предложения о предлагаемом решении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 решения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эксперимента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78224" y="1371600"/>
            <a:ext cx="3483864" cy="26060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79392" y="1517904"/>
            <a:ext cx="3081528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B: вызов → идея → вклад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279392" y="2091416"/>
            <a:ext cx="3081528" cy="1776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вызов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предложение об идее решения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Одно-два предложения о технической реализации идеи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 и итог эксперимента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44968" y="1371600"/>
            <a:ext cx="3483864" cy="26060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46136" y="1517904"/>
            <a:ext cx="3081528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C: несколько составляющих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946136" y="2091416"/>
            <a:ext cx="3081528" cy="1776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необходимости — противопоставление известным методам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Составляющая 1 + её преимущество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Составляющая 2 + её преимущество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эксперимента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20624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435254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до написания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710989"/>
            <a:ext cx="4946904" cy="116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техническая проблема решается и почему устоявшегося решения нет.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чём состоит техническая составляющая вклада.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предложенное работает по существу.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преимущество и какое новое понимание получено.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879592" y="420624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435254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аннотации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4710989"/>
            <a:ext cx="4946904" cy="116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Задача, вызов, решение и результат распознаются за одно прочтение.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утверждение подтверждено экспериментом из статьи.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Названия приёмов понятны без обращения к основному тексту.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 предложение не содержит более одного сообщения.</a:t>
            </a:r>
            <a:endParaRPr lang="en-US" sz="12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Медиаматериалы: рисунки, таблицы, алгоритмы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элемент имеет назначение и следствие, изложенные в тексте.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типа графиков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3081528" cy="167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Иллюстрация: показывает пример данных или работы метода. Утверждение: содержит вывод, который формулируется в подписи и в тексте. График без утверждения и без иллюстративной функции удаляется.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352544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Подпись самодостаточна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50669"/>
            <a:ext cx="3081528" cy="167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читается без основного текста. Пример: «Рис. 4. Сравнение точности методов X и Y на наборе Z при условии W; штриховая линия — 95 % доверительный интервал; 10 запусков».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019288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0456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Требования к оформлению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150669"/>
            <a:ext cx="3081528" cy="167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Векторный формат (PDF, EPS) для схем и графиков.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менее 300 dpi для фотографий.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кегль на рисунке после масштабирования — около 8 pt.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стиль всех рисунков статьи.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26110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таблиц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4619549"/>
            <a:ext cx="4946904" cy="153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размещается над таблицей.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Вертикальные линейки не используются; горизонтальные разделяют группы, а не строки (booktabs).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метрики указывается в заголовке: ↑ или ↓; приводятся единицы.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Одинаковое число знаков после запятой в пределах столбца.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значения выделяются; приводится ± стандартное отклонение и число запусков.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таблица — одно сообщение.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153912" y="411480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26110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с текстом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619549"/>
            <a:ext cx="4946904" cy="153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рисунок и таблица прокомментированы: зачем приведены и что из них следует.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Рисунок не дублирует текст, текст не пересказывает рисунок.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метода (pipeline) и обзорный рисунок создаются до написания раздела метода.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оформляется псевдокодом с указанием вычислительной сложности.</a:t>
            </a:r>
            <a:endParaRPr lang="en-US" sz="12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Язык и стиль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к тексту: одно предложение — одно утверждение.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22037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Строй предложения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42988"/>
            <a:ext cx="2203704" cy="213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простые предложения, ориентир — до 20 слов.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Цепочки придаточных не используются.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Инженерно-академический стиль, не литературный.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511296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12464" y="1792224"/>
            <a:ext cx="22037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Времена и залог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142988"/>
            <a:ext cx="2203704" cy="213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 и описание статьи — настоящее время: Section III describes…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Выполненные действия — прошедшее: We collected…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Активный залог в умеренном объёме: We propose вместо It is proposed by the authors.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336792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792224"/>
            <a:ext cx="2203704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Точность утверждений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65736"/>
            <a:ext cx="2203704" cy="1913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→ indicates, suggests.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— только при выполненной статистической проверке.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Числовое утверждение сопровождается условиями измерения.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9162288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63456" y="1792224"/>
            <a:ext cx="22037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142988"/>
            <a:ext cx="2203704" cy="213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Артикли: the measurement и measurement различаются по смыслу.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«to the best of our knowledge» — не более одного раза.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Оценочные формулировки «very good results» не используются.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85800" y="4617720"/>
            <a:ext cx="10817352" cy="1600200"/>
          </a:xfrm>
          <a:prstGeom prst="roundRect">
            <a:avLst>
              <a:gd name="adj" fmla="val 2857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7365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Связность текста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084064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абзац — одно сообщение; сообщение указано в первом предложении абзаца.</a:t>
            </a:r>
            <a:endParaRPr lang="en-US" sz="12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соседними предложениями существует явное отношение: причина, противопоставление, следствие, уточнение, пример.</a:t>
            </a:r>
            <a:endParaRPr lang="en-US" sz="12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Связующие слова используются по назначению: therefore, consequently — следствие; however, in contrast — противопоставление; specifically, for instance — уточнение и пример.</a:t>
            </a:r>
            <a:endParaRPr lang="en-US" sz="12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 определяется до первого использования и далее не заменяется синонимом.</a:t>
            </a:r>
            <a:endParaRPr lang="en-US" sz="12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Самопроверка перед подачей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инструмента: обратное конспектирование и карта «утверждение — доказательство».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240280"/>
          </a:xfrm>
          <a:prstGeom prst="roundRect">
            <a:avLst>
              <a:gd name="adj" fmla="val 204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Обратное конспектирование (reverse outlining)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50008"/>
            <a:ext cx="4946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Выписывается основное заявление статьи.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Выписывается первое предложение каждого абзаца.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Выписываются доказательства внутри каждого абзаца.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Проверяется соответствие: первое предложение → заявление, доказательство → первое предложение.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Абзац, не отображаемый на заявление, перерабатывается или удаляется.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85816" cy="2240280"/>
          </a:xfrm>
          <a:prstGeom prst="roundRect">
            <a:avLst>
              <a:gd name="adj" fmla="val 204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«утверждение — доказательство»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50008"/>
            <a:ext cx="4946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утверждения аннотации и введения записывается строка: утверждение | доказательство (таблица, рисунок, раздел) | статус: подтверждено либо требует доказательства.</a:t>
            </a:r>
            <a:endParaRPr lang="en-US" sz="122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Утверждение со статусом «требует доказательства» либо обеспечивается экспериментом, либо ослабляется, либо удаляется из текста.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22376" y="4069080"/>
            <a:ext cx="10853928" cy="2194560"/>
          </a:xfrm>
          <a:prstGeom prst="roundRect">
            <a:avLst>
              <a:gd name="adj" fmla="val 208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1879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групп вопросов рецензента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новое знание получает читатель. Разбирается ли значимый случай отказа, а не тривиальный.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72384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82112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Ясность изложения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182112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 ли метод по тексту. Явна ли мотивация каждого блока.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30368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0096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Сила результата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40096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Значим ли выигрыш. Устойчив ли он по наборам данных и метрикам.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88352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Полнота оценки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ablation по каждому решению. Включены ли сильнейшие базовые методы.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46336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56064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Корректность метода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656064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Реалистичны ли условия эксперимента. Не требует ли метод перенастройки под каждый случай.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166" y="316992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0166" y="316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95110" y="280416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Типовые причины отказа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5110" y="92049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используется как проверочный перед подачей.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931812"/>
              </p:ext>
            </p:extLst>
          </p:nvPr>
        </p:nvGraphicFramePr>
        <p:xfrm>
          <a:off x="548640" y="1325445"/>
          <a:ext cx="10817352" cy="49072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№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Причина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Предупреждающее действие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Отсутствует сравнение с актуальными методами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менее двух современных базовых методов из обзора плюс наивный вариант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синтетические данные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Реальный стенд или производственные данные; при отсутствии — явное обоснование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Утечка данных в эксперименте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Проверочный список data integrity, хронологическое разбиение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Инкрементальная новизна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Явная формулировка gap и заявленного квадранта новизны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учтены инженерные ограничения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Задержка, память, стоимость, устойчивость к дрейфу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оценена неопределённость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Доверительные интервалы, повторные запуски, бюджет неопределённости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Завышенные утверждения в аннотации и введении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 «утверждение — доказательство»; формулировки через indicates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Недостаточно деталей для воспроизведения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Гиперпараметры, версии, аппаратура, открытый код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Отсутствует ablation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по каждому заявленному решению метода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Подача и работа с рецензиями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Формальные требования проверяются до подачи: отказ по формальным основаниям происходит без рецензирования.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261872"/>
            <a:ext cx="5349240" cy="2532888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362456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letter: </a:t>
            </a: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</a:t>
            </a: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абзацев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684325"/>
            <a:ext cx="4946904" cy="153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направляется: название, тип заявки.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работа соответствует тематике журнала.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заявление статьи в одной фразе.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отсутствия параллельной подачи.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согласия всех соавторов.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53912" y="1243584"/>
            <a:ext cx="5349240" cy="2551176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316736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Формальная проверка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184101" y="1666037"/>
            <a:ext cx="5238641" cy="153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PDF требованиям издательства (IEEE PDF eXpress и аналоги).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 у всех соавторов.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текстовых совпадений — ориентир ниже 15–20 %.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Раскрытие использования генеративных моделей согласно политике издательства; модель не может быть автором.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10817352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096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на рецензию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316939"/>
              </p:ext>
            </p:extLst>
          </p:nvPr>
        </p:nvGraphicFramePr>
        <p:xfrm>
          <a:off x="914400" y="4354373"/>
          <a:ext cx="10332720" cy="14935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Замечание рецензента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Ответ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Где изменено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Приводится дословно, с нумерацией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Благодарность; существо выполненного изменения; при несогласии — аргументация с фактами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Раздел, страница, номер строки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Замечание, требующее эксперимента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 постановки и результата нового эксперимента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Новая таблица или рисунок с номером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в тексте выделяются цветом. Вежливая форма сохраняется при любом несогласии: «We appreciate…», «We respectfully disagree because…».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2346960"/>
            <a:ext cx="19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Протоколы </a:t>
            </a:r>
            <a:r>
              <a:rPr lang="en-US" dirty="0" smtClean="0"/>
              <a:t>Review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599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</a:rPr>
              <a:t>Использование агентов для статей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3977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B2A33"/>
                </a:solidFill>
                <a:latin typeface="Cambria" pitchFamily="34" charset="0"/>
                <a:ea typeface="Cambria" pitchFamily="34" charset="-122"/>
              </a:rPr>
              <a:t>Написание статей через спецификацию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9593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13D49"/>
          </a:solidFill>
          <a:ln w="12700">
            <a:solidFill>
              <a:srgbClr val="113D4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Итоговый проверочный список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пункт проверяется до подачи. Отрицательный ответ означает возврат к соответствующему этапу.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Концепция и заявление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одной фразы пройден без пропусков.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Квадрант новизны заявлен явно.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выбран, требования к эксперименту учтены.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сформулирована одной фразой.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648456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31336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Обзор и постановка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31336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поиска зафиксирован.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сравнения работ построена.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выражен через допущения конкретных работ.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обозначений составлена.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473952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хронологическое, утечки исключены.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Включены актуальные и наивный базовые методы.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по каждому решению метода.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Приведены ресурсные показатели и неопределённость.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9299448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82328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 и подача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482328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«утверждение — доказательство» без незакрытых строк.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Подписи рисунков самодостаточны.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Обратное конспектирование выполнено.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и формальные требования проверены.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22960" y="4937760"/>
            <a:ext cx="10543032" cy="1234440"/>
          </a:xfrm>
          <a:prstGeom prst="roundRect">
            <a:avLst>
              <a:gd name="adj" fmla="val 3704"/>
            </a:avLst>
          </a:prstGeom>
          <a:solidFill>
            <a:srgbClr val="13495A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5047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Сопровождающий материал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349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guide_and_prompt.md содержит развёрнутый гайд по этапам, полный промпт для ИИ-ассистента (режимы AUDIT, COACH, DRAFT, FLOW, CLAIM-MAP, REVIEW) и мини-промпты для отдельных задач: формулировка gap, протокол обзора, поиск утечек, ответ рецензенту.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4918</Words>
  <Application>Microsoft Office PowerPoint</Application>
  <PresentationFormat>Широкоэкранный</PresentationFormat>
  <Paragraphs>713</Paragraphs>
  <Slides>34</Slides>
  <Notes>32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писать научную статью: инженерная задача x анализ данных</dc:title>
  <dc:subject>PptxGenJS Presentation</dc:subject>
  <dc:creator>УрФУ, ИРИТ-РТФ</dc:creator>
  <cp:lastModifiedBy>Ронкин Михаил Владимирович</cp:lastModifiedBy>
  <cp:revision>13</cp:revision>
  <dcterms:created xsi:type="dcterms:W3CDTF">2026-09-08T10:50:20Z</dcterms:created>
  <dcterms:modified xsi:type="dcterms:W3CDTF">2026-09-08T12:00:51Z</dcterms:modified>
</cp:coreProperties>
</file>