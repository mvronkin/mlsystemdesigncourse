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271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Пособие охватывает полный цикл: концепция, литобзор, скелет, эксперимент, черновик, медиаматериалы, подача, ответ рецензенту. Разделы 12-16 частично основаны на материалах Peng Sida (learning_research) в адаптации репозитория Research-Paper-Writing-Skills.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Квартиль присваивается журналу в предметной категории, поэтому один журнал может быть Q1 в одной категории и Q2 в другой. При отчётности указывается категория.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Набор данных без методического вывода публикуется как data paper, а не как research paper: это частая причина несоответствия типа заявки содержанию.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студенческой работы рекомендуется сочетание: спецификация плюс рисунки. Протокол «от рецензии» применяется при повторной подаче после отказа.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Возврат назад допустим: результаты эксперимента могут потребовать переформулировки заявления. Недопустимо пропускать этап концепции и начинать с текста.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выполняется дважды: после составления скелета и перед подачей.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поиском по собственной формулировке выполняется до начала эксперимента: это дешевле, чем обнаружить совпадение при рецензировании.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 одной фразы применяется повторно перед подачей: формулировка должна совпадать с тем, что доказано в разделе результатов.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Различие impact и contribution: impact — изменение представления об объекте, contribution — качество работы предложенной идеи.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Комбинация «новая задача + новый метод» не запрещена, но требует вдвое большего объёма доказательств при том же лимите страниц.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выбором проверяются: scope журнала, средний срок рецензирования, требования к объёму и к доступности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Протокол оформляется отдельным файлом и сохраняется: при ревизии рецензент может запросить критерии отбора.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обзорной статьи диаграмма потока обязательна. Для research paper она заменяется сводкой в разделе Related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сравнения переносится в раздел Related Work в сокращённом виде и служит доказательством полноты обзора.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Технический вызов состоит из двух частей: наблюдаемое ограничение и техническая причина. Формулировка без причины воспринимается как описание неудачи, а не как задача.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Объёмы указаны для regular paper в двухколоночном формате. Для letter структура сжимается, состав разделов сохраняется.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 на четыре вопроса записываются отдельно и служат материалом для введения и аннотации.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Абзацы 2–3 подводят строго к тому вызову, который решается в работе. Прочие ограничения известных методов во введение не выносятся.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сравнения из литобзора включается в этот раздел в сокращённом виде.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Детали реализации — гиперпараметры, размерности, нормировки — выносятся в конец раздела либо в отдельный подраздел.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составляется до постановки экспериментов и служит планом раздела результатов.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на утечку выполняется до написания черновика: обнаружение утечки после написания текста требует переработки всех разделов, опирающихся на результаты.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Показатели эффекта переводят работу из категории «модель обучена» в категорию «решение применимо». Для журналов прикладной направленности они обязательны.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data integrity выполняется до начала черновика, иначе текст придётся переписывать.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Название приёма в аннотации упоминается, но не разъясняется по шагам: разъяснение относится к разделу метода.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Первое впечатление рецензента формируется схемой метода и главной таблицей результатов. Эти два элемента прорабатываются в первую очередь.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русскоязычного автора наиболее устойчивые ошибки — артикли и согласование времён. Проверка выполняется отдельным проходом по тексту.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вопрос помечается: пройден, требует правки, требует нового эксперимента. Правка выполняется до подачи.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Причины 1, 3 и 7 составляют большинство отказов работ по анализу данных в инженерных журналах.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составляется по каждому пункту отдельно, без объединения замечаний. Неотвеченный пункт трактуется как отказ от правки.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Внутреннее рецензирование поручается участнику группы, не участвовавшему в работе, либо выполняется по проверочному списку с интервалом не менее суток после завершения текста.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Практическое правило: агент применяется там, где результат его работы проверяется быстрее, чем выполняется вручную.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Подход перенесён из практики разработки по спецификации. Для студенческой работы спецификация занимает одну страницу и заполняется до постановки эксперимента.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Методические источники: Peng Sida, learning_research; репозиторий Research-Paper-Writing-Skills (MIT); требования к оформлению IEEE.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754880" cy="4754880"/>
          </a:xfrm>
          <a:prstGeom prst="ellipse">
            <a:avLst/>
          </a:prstGeom>
          <a:solidFill>
            <a:srgbClr val="113D49"/>
          </a:solidFill>
          <a:ln w="12700">
            <a:solidFill>
              <a:srgbClr val="113D49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10404E"/>
          </a:solidFill>
          <a:ln w="12700">
            <a:solidFill>
              <a:srgbClr val="10404E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7FB6C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НАУЧНАЯ СТАТЬЯ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412480" cy="9144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Как писать статью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8412480" cy="9144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7DDE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Инженерная задача × анализ данных: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7DDE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от концепции до ответа рецензенту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13495A"/>
          </a:solidFill>
          <a:ln w="12700">
            <a:solidFill>
              <a:srgbClr val="1E6274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024128" y="4206240"/>
            <a:ext cx="8046720" cy="65836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6E9E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Целевые площадки-примеры: IEEE Sensors Journal · IEEE TIM · IEEE TIA/TII · Measurement · MSSP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12080"/>
            <a:ext cx="8412480" cy="36576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86AEB8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УрФУ, ИРИТ-РТФ · методическое пособие для студентов и аспирантов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Зачем писать статьи. Наукометрия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Публикация — способ зафиксировать и верифицировать результат. Наукометрический показатель — критерий выбора площадки, а не цель работы.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3483864" cy="2011680"/>
          </a:xfrm>
          <a:prstGeom prst="roundRect">
            <a:avLst>
              <a:gd name="adj" fmla="val 227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837944"/>
            <a:ext cx="3081528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Функция публикации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96389"/>
            <a:ext cx="3081528" cy="139720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7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Фиксация приоритета результата и условий его получения.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Проверка результата сообществом через рецензирование.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Введение результата в оборот: цитирование, повторное использование, внедрение.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Обязательное требование квалификационной работы.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011680"/>
          </a:xfrm>
          <a:prstGeom prst="roundRect">
            <a:avLst>
              <a:gd name="adj" fmla="val 227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553712" y="1837944"/>
            <a:ext cx="3081528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Что даёт автору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196389"/>
            <a:ext cx="3081528" cy="139720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Подтверждение квалификации при защите и при найме.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Доступ к соавторству, конференциям, грантовым заявкам.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Обратная связь рецензентов по постановке и методике.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Оформленный результат, пригодный для передачи в производство.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19288" y="1691640"/>
            <a:ext cx="3483864" cy="2011680"/>
          </a:xfrm>
          <a:prstGeom prst="roundRect">
            <a:avLst>
              <a:gd name="adj" fmla="val 227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220456" y="1837944"/>
            <a:ext cx="3081528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Что даёт коллективу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0456" y="2196389"/>
            <a:ext cx="3081528" cy="139720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1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Закрепление тематики за научной группой.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Основание для заявок на финансирование.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Материал для диссертационных работ участников.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Внешняя оценка направления работ.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31920"/>
          <a:ext cx="6949440" cy="25359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Показатель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Что измеряет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Источник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Квартиль Q1–Q4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Положение журнала внутри предметной категории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Scopus (SJR, CiteScore), Web of Science (JIF)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 число цитирований статей журнала за двухлетнее окно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 Citation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CiteScore, SJR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Цитируемость за четырёхлетнее окно; SJR учитывает вес цитирующих журналов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Процентиль по категории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Положение журнала в процентах внутри категории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h-индекс автора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Число работ h, каждая из которых цитируется не менее h раз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Scopus, Web of Science, Google Scholar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818120" y="3931920"/>
            <a:ext cx="3685032" cy="2377440"/>
          </a:xfrm>
          <a:prstGeom prst="roundRect">
            <a:avLst>
              <a:gd name="adj" fmla="val 1923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8019288" y="4078224"/>
            <a:ext cx="3282696" cy="288219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5661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Проверка журнала до подачи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19288" y="4421307"/>
            <a:ext cx="3282696" cy="1778325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1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Индексация в Scopus или Web of Science подтверждается на текущую дату.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Квартиль указывается с названием категории: у журнала их несколько.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Признаки недобросовестного издания: гарантия срока публикации, оплата без рецензирования, разнотематический охват.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Показатель журнала не заменяет соответствие тематике.</a:t>
            </a:r>
            <a:endParaRPr lang="en-US" sz="11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Виды и особенности статей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Тип статьи определяет требования к новизне и к составу доказательств. Тип выбирается на этапе концепции.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17352" cy="380390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Тип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Что заявляется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Что проверяет рецензент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Объём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paper (regular)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Новый метод для известной задачи либо известные методы для новой задачи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Новизна, корректность сравнения, ablation, воспроизводимость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стр.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Letter, short communication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Один результат, требующий быстрой публикации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Значимость единственного результата, обоснование срочности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стр.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Review, survey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Систематизация области и выявленные пробелы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Протокол отбора работ, полнота, классификация, обоснованность выводов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15–30 стр.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Набор данных как самостоятельный результат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Методика регистрации, метаданные, лицензия, доступность, потенциал повторного использования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стр.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Изложение метода для сообщества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Полнота, методическая ценность, корректность изложения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 стр.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study, application 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 внедрения на конкретном объекте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Производственный эффект, условия эксплуатации, ограничения переноса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 стр.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Comment, reply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Возражение по опубликованной работе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Обоснованность возражения, корректность формы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стр.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5394960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886968" y="5541264"/>
            <a:ext cx="4946904" cy="28053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Смена типа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5876666"/>
            <a:ext cx="4946904" cy="32296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00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Тип определяет требования к новизне. Смена типа после написания текста требует переработки разделов метода и результатов.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53912" y="5394960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355080" y="5541264"/>
            <a:ext cx="4946904" cy="28053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Расширение доклада до статьи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5876666"/>
            <a:ext cx="4946904" cy="32296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00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Журнальная версия конференционного доклада содержит существенно новый материал, ориентир 30–50 %, и ссылку на исходную публикацию.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Протоколы написания статей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Протокол — воспроизводимая последовательность действий при написании. Выбирается по стадии готовности результатов и числу соавторов.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2606040" cy="310896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837944"/>
            <a:ext cx="22037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От скелета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1525"/>
            <a:ext cx="2203704" cy="249448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1180" dirty="0"/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Скелет с назначением каждого раздела, затем черновик по разделам.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Когда применим</a:t>
            </a:r>
            <a:endParaRPr lang="en-US" sz="1180" dirty="0"/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Результаты получены, работа выполняется одним автором.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Текст пишется отдельно от иллюстраций, связь с рисунками устанавливается в конце.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3511296" y="1691640"/>
            <a:ext cx="2606040" cy="310896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712464" y="1837944"/>
            <a:ext cx="22037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От рисунков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2141525"/>
            <a:ext cx="2203704" cy="249448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1180" dirty="0"/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Сначала главная таблица результатов и схема метода, затем текст вокруг них.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Когда применим</a:t>
            </a:r>
            <a:endParaRPr lang="en-US" sz="1180" dirty="0"/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Результаты разнородны, требуется отобрать существенное.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Появление иллюстраций без сообщения; требуется отбраковка.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336792" y="1691640"/>
            <a:ext cx="2606040" cy="310896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37960" y="1837944"/>
            <a:ext cx="22037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От спецификации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196389"/>
            <a:ext cx="2203704" cy="249448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1180" dirty="0"/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Формальный документ с заявлением, вкладом и картой доказательств до написания текста.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Когда применим</a:t>
            </a:r>
            <a:endParaRPr lang="en-US" sz="1180" dirty="0"/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Несколько соавторов, длительная работа, применение ИИ-ассистента.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Сопровождение спецификации требует дисциплины.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9162288" y="1691640"/>
            <a:ext cx="2606040" cy="310896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363456" y="1837944"/>
            <a:ext cx="22037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От рецензии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363456" y="2196389"/>
            <a:ext cx="2203704" cy="249448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1180" dirty="0"/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Сначала записываются ожидаемые замечания, текст строится как ответ на них.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Когда применим</a:t>
            </a:r>
            <a:endParaRPr lang="en-US" sz="1180" dirty="0"/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Высокий риск отказа, спорная постановка, ревизия после отказа.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Оборонительный стиль изложения, если не контролировать формулировки.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85800" y="4983480"/>
            <a:ext cx="10817352" cy="1325880"/>
          </a:xfrm>
          <a:prstGeom prst="roundRect">
            <a:avLst>
              <a:gd name="adj" fmla="val 344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86968" y="5129784"/>
            <a:ext cx="10415016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Инвариант всех протоколов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5480548"/>
            <a:ext cx="10415016" cy="7190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Первой пишется фактическая часть: метод и результаты. Затем обсуждение, затем введение, затем аннотация и заключение. Протокол определяет способ подготовки материала, но не меняет этот порядок. Протоколы комбинируются: спецификация задаёт заявление и карту доказательств, рисунки задают структуру раздела результатов.</a:t>
            </a:r>
            <a:endParaRPr lang="en-US" sz="12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Карта процесса: восемь этапов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Порядок этапов фиксирован. Введение и аннотация пишутся последними, после получения результатов.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46504"/>
            <a:ext cx="17465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Концепция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04949"/>
            <a:ext cx="2203704" cy="8028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Заявление, цель, выбор журнала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71907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  <p:txBody>
          <a:bodyPr wrap="square" lIns="76200" tIns="38100" rIns="76200" bIns="38100">
            <a:normAutofit fontScale="62500" lnSpcReduction="20000"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283464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00984" y="222199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25000" lnSpcReduction="20000"/>
          </a:bodyPr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511296" y="16002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3712464" y="1746504"/>
            <a:ext cx="17465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Литобзор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12464" y="2104949"/>
            <a:ext cx="2203704" cy="8028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Протокол поиска, таблица работ, gap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0136" y="171907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  <p:txBody>
          <a:bodyPr wrap="square" lIns="76200" tIns="38100" rIns="76200" bIns="38100">
            <a:normAutofit fontScale="62500" lnSpcReduction="20000"/>
          </a:bodyPr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5660136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222199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25000" lnSpcReduction="20000"/>
          </a:bodyPr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336792" y="16002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537960" y="1746504"/>
            <a:ext cx="17465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Скелет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104949"/>
            <a:ext cx="2203704" cy="8028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Структура, обозначения, гипотезы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85632" y="171907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  <p:txBody>
          <a:bodyPr wrap="square" lIns="76200" tIns="38100" rIns="76200" bIns="38100">
            <a:normAutofit fontScale="62500" lnSpcReduction="20000"/>
          </a:bodyPr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8485632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51976" y="222199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25000" lnSpcReduction="20000"/>
          </a:bodyPr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162288" y="16002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9363456" y="1746504"/>
            <a:ext cx="17465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Эксперимент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63456" y="2104949"/>
            <a:ext cx="2203704" cy="8028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Данные, базовые методы, ablation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311128" y="171907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  <p:txBody>
          <a:bodyPr wrap="square" lIns="76200" tIns="38100" rIns="76200" bIns="38100">
            <a:normAutofit fontScale="62500" lnSpcReduction="20000"/>
          </a:bodyPr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11311128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35661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886968" y="3712464"/>
            <a:ext cx="17465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Черновик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86968" y="4070909"/>
            <a:ext cx="2203704" cy="8028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Метод и результаты, затем обсуждение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834640" y="368503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  <p:txBody>
          <a:bodyPr wrap="square" lIns="76200" tIns="38100" rIns="76200" bIns="38100">
            <a:normAutofit fontScale="62500" lnSpcReduction="20000"/>
          </a:bodyPr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2834640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300984" y="418795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25000" lnSpcReduction="20000"/>
          </a:bodyPr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3511296" y="35661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3712464" y="3712464"/>
            <a:ext cx="17465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Медиа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712464" y="4070909"/>
            <a:ext cx="2203704" cy="8028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Рисунки, таблицы, алгоритмы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0136" y="368503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  <p:txBody>
          <a:bodyPr wrap="square" lIns="76200" tIns="38100" rIns="76200" bIns="38100">
            <a:normAutofit fontScale="62500" lnSpcReduction="20000"/>
          </a:bodyPr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5660136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26480" y="418795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25000" lnSpcReduction="20000"/>
          </a:bodyPr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336792" y="35661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6537960" y="3712464"/>
            <a:ext cx="17465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Самопроверка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537960" y="4070909"/>
            <a:ext cx="2203704" cy="8028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Reverse outlining, карта заявлений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485632" y="368503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  <p:txBody>
          <a:bodyPr wrap="square" lIns="76200" tIns="38100" rIns="76200" bIns="38100">
            <a:normAutofit fontScale="62500" lnSpcReduction="20000"/>
          </a:bodyPr>
          <a:lstStyle/>
          <a:p>
            <a:endParaRPr/>
          </a:p>
        </p:txBody>
      </p:sp>
      <p:sp>
        <p:nvSpPr>
          <p:cNvPr id="45" name="Text 43"/>
          <p:cNvSpPr txBox="1"/>
          <p:nvPr/>
        </p:nvSpPr>
        <p:spPr>
          <a:xfrm>
            <a:off x="8485632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951976" y="418795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25000" lnSpcReduction="20000"/>
          </a:bodyPr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162288" y="35661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363456" y="3712464"/>
            <a:ext cx="17465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Подача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9363456" y="4070909"/>
            <a:ext cx="2203704" cy="8028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Cover letter, ответ рецензенту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1311128" y="368503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  <p:txBody>
          <a:bodyPr wrap="square" lIns="76200" tIns="38100" rIns="76200" bIns="38100">
            <a:normAutofit fontScale="62500" lnSpcReduction="20000"/>
          </a:bodyPr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11311128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2162175" y="3127248"/>
            <a:ext cx="8394573" cy="420624"/>
          </a:xfrm>
          <a:prstGeom prst="down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92500" lnSpcReduction="10000"/>
          </a:bodyPr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685800" y="5623560"/>
            <a:ext cx="10817352" cy="658368"/>
          </a:xfrm>
          <a:prstGeom prst="roundRect">
            <a:avLst>
              <a:gd name="adj" fmla="val 6944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54" name="Text 52"/>
          <p:cNvSpPr txBox="1"/>
          <p:nvPr/>
        </p:nvSpPr>
        <p:spPr>
          <a:xfrm>
            <a:off x="914400" y="5623560"/>
            <a:ext cx="10332720" cy="65836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5661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Правило порядка. </a:t>
            </a: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Разделы «Введение» и «Аннотация» формулируются после того, как результаты получены: до этого вклад не может быть заявлен точно.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Методологические аспекты концепции статьи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Четыре правила, которым подчинены все последующие решения по тексту.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2553462" cy="2377440"/>
          </a:xfrm>
          <a:prstGeom prst="roundRect">
            <a:avLst>
              <a:gd name="adj" fmla="val 192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46504"/>
            <a:ext cx="2151126" cy="3189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Одно заявление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20311"/>
            <a:ext cx="2151126" cy="174760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Одна статья — одно заявление научному сообществу. Заявлением может быть цель, новизна или вклад в область. Несколько параллельных заявлений снижают оценку каждого из них.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40430" y="1600200"/>
            <a:ext cx="2553462" cy="2377440"/>
          </a:xfrm>
          <a:prstGeom prst="roundRect">
            <a:avLst>
              <a:gd name="adj" fmla="val 192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641598" y="1746504"/>
            <a:ext cx="2151126" cy="56473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Единая терминология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41598" y="2366101"/>
            <a:ext cx="2151126" cy="150181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Терминология единая, минимально необходимая и однозначная. Один символ — один смысл во всём тексте. Обозначения не переопределяются по ходу изложения.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5060" y="1600200"/>
            <a:ext cx="2553462" cy="2377440"/>
          </a:xfrm>
          <a:prstGeom prst="roundRect">
            <a:avLst>
              <a:gd name="adj" fmla="val 192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396228" y="1746504"/>
            <a:ext cx="2151126" cy="56473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Источник новизны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96228" y="2366101"/>
            <a:ext cx="2151126" cy="150181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Новизна состоит либо в применении известных методов к новой задаче, либо в решении известной задачи новым методом. Третьего варианта, защитимого при рецензировании, нет.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49690" y="1600200"/>
            <a:ext cx="2553462" cy="2377440"/>
          </a:xfrm>
          <a:prstGeom prst="roundRect">
            <a:avLst>
              <a:gd name="adj" fmla="val 192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150858" y="1746504"/>
            <a:ext cx="2151126" cy="3189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Принцип Оккама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150858" y="2120311"/>
            <a:ext cx="2151126" cy="174760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Лишние сущности не вводятся ни в текст, ни в метод. Каждый термин, блок метода и рисунок обязаны иметь назначение, сформулированное явно.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206240"/>
            <a:ext cx="10817352" cy="2103120"/>
          </a:xfrm>
          <a:prstGeom prst="roundRect">
            <a:avLst>
              <a:gd name="adj" fmla="val 217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14400" y="4334256"/>
            <a:ext cx="10360152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Тест на самопроверку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681728"/>
            <a:ext cx="5042916" cy="15361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Заявление статьи записывается одной фразой и совпадает с тем, что доказано в разделе результатов.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Каждый ключевой термин встречается в одном значении; таблица обозначений заполнена и не содержит повторов.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661" y="4590288"/>
            <a:ext cx="5042916" cy="15361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Раздел мысленно удаляется: если изложение не разрушается, раздел лишний.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Второе заявление, обнаруженное в тексте, выносится в отдельную работу либо переводится в состав вклада первого.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Методологические аспекты поиска новизны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Новизна формулируется до эксперимента и проверяется поиском по её же формулировке.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349240" cy="2377440"/>
          </a:xfrm>
          <a:prstGeom prst="roundRect">
            <a:avLst>
              <a:gd name="adj" fmla="val 1923"/>
            </a:avLst>
          </a:prstGeom>
          <a:solidFill>
            <a:srgbClr val="E9F2EE"/>
          </a:solidFill>
          <a:ln w="12700">
            <a:solidFill>
              <a:srgbClr val="CBE0D6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92224"/>
            <a:ext cx="49469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C6350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Что новизной является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50669"/>
            <a:ext cx="4946904" cy="176296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Известные методы применены к новой задаче; обосновано, почему подходы к смежным задачам неприменимы.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Известная задача решена новым методом; показан механизм, за счёт которого получен выигрыш.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Новая постановка задачи: изменены вход, выход или условия работы.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Новый критерий или метрика, отражающая стоимость ошибки в приложении.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Экспериментальное наблюдение, противоречащее принятому в области допущению.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153912" y="1645920"/>
            <a:ext cx="5349240" cy="2377440"/>
          </a:xfrm>
          <a:prstGeom prst="roundRect">
            <a:avLst>
              <a:gd name="adj" fmla="val 1923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355080" y="1792224"/>
            <a:ext cx="49469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F3226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Что новизной не является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50669"/>
            <a:ext cx="4946904" cy="176296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1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Корректность эксперимента, то есть одинаковые условия сравнения методов: требование методики, а не результат.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Объём выборки экспериментов: повышает достоверность, но не создаёт нового знания.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Применение популярной архитектуры вне инженерного контекста измерения, датчика или производственного ограничения.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Замена одного стандартного блока на другой без анализа причины изменения качества.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Новый набор данных без методического вывода: это data paper.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85800" y="4251960"/>
            <a:ext cx="10817352" cy="2057400"/>
          </a:xfrm>
          <a:prstGeom prst="roundRect">
            <a:avLst>
              <a:gd name="adj" fmla="val 2222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914400" y="4379976"/>
            <a:ext cx="10360152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Тест на самопроверку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27448"/>
            <a:ext cx="5042916" cy="149047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Новизна формулируется фразой «впервые показано, что…» без слов «улучшено» и «применено».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Поиск по формулировке новизны в Scopus и IEEE Xplore не возвращает работы с тем же заявлением.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31636" y="4727448"/>
            <a:ext cx="5042916" cy="149047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Названо, что перестанет работать при удалении заявленного элемента метода.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Указан квадрант новизны, и состав эксперимента соответствует именно этому квадранту.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Концепция: пять вопросов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Концепция считается готовой, когда получены ответы на все пять вопросов и пройден тест одной фразы.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2017166" cy="1920240"/>
          </a:xfrm>
          <a:prstGeom prst="roundRect">
            <a:avLst>
              <a:gd name="adj" fmla="val 238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46504"/>
            <a:ext cx="1614830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Что нового?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097268"/>
            <a:ext cx="1614830" cy="13134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Новый метод либо новая задача. Формулируется одной строкой.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2885846" y="1600200"/>
            <a:ext cx="2017166" cy="1920240"/>
          </a:xfrm>
          <a:prstGeom prst="roundRect">
            <a:avLst>
              <a:gd name="adj" fmla="val 238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087014" y="1746504"/>
            <a:ext cx="1614830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Кому нужно?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087014" y="2097268"/>
            <a:ext cx="1614830" cy="13134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75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Конкретное сообщество: метрология, техническая диагностика и NDT, обработка сигналов, edge-вычисления, предиктивное обслуживание.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085893" y="1600200"/>
            <a:ext cx="2017166" cy="1920240"/>
          </a:xfrm>
          <a:prstGeom prst="roundRect">
            <a:avLst>
              <a:gd name="adj" fmla="val 238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287061" y="1746504"/>
            <a:ext cx="1614830" cy="51864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Проверка идеи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287061" y="2320016"/>
            <a:ext cx="1614830" cy="10906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75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Эксперимент, результат которого подтверждает или опровергает заявление. Определяется до постановки эксперимента.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7285939" y="1600200"/>
            <a:ext cx="2017166" cy="1920240"/>
          </a:xfrm>
          <a:prstGeom prst="roundRect">
            <a:avLst>
              <a:gd name="adj" fmla="val 238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487107" y="1746504"/>
            <a:ext cx="1614830" cy="51864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Почему сейчас?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487107" y="2320016"/>
            <a:ext cx="1614830" cy="10906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Что изменилось: доступность данных, вычислительные средства, требования отрасли.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9485986" y="1600200"/>
            <a:ext cx="2017166" cy="1920240"/>
          </a:xfrm>
          <a:prstGeom prst="roundRect">
            <a:avLst>
              <a:gd name="adj" fmla="val 238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687154" y="1746504"/>
            <a:ext cx="1614830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Почему вы?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687154" y="2097268"/>
            <a:ext cx="1614830" cy="13134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Доступ к установке, данным или экспертизе, которого нет у конкурирующих групп.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85800" y="3749040"/>
            <a:ext cx="10817352" cy="2148840"/>
          </a:xfrm>
          <a:prstGeom prst="roundRect">
            <a:avLst>
              <a:gd name="adj" fmla="val 2128"/>
            </a:avLst>
          </a:prstGeom>
          <a:solidFill>
            <a:srgbClr val="E9F2EE"/>
          </a:solidFill>
          <a:ln w="12700">
            <a:solidFill>
              <a:srgbClr val="CBE0D6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960120" y="3931920"/>
            <a:ext cx="1024128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C6350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Пример теста одной фразы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343400"/>
            <a:ext cx="10241280" cy="7772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«Показано, что [метод] обеспечивает [измеримый результат] в задаче [задача], в отличие от [существующие подходы], для которых характерно [конкретное ограничение]».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5166360"/>
            <a:ext cx="10241280" cy="59436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Если фраза не составляется без пропусков — концепция не готова, и переход к тексту преждевременен. Пропуск в скобках [существующие подходы] означает, что не выполнен литобзор; пропуск в [измеримый результат] означает, что не определена метрика.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Цель, новизна, вклад, impact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Четыре понятия различаются по смыслу и по месту в тексте. Смешение приводит к замечанию о нечёткости заявления.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2606040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46504"/>
            <a:ext cx="2203704" cy="3189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Цель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20311"/>
            <a:ext cx="2203704" cy="165616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Одна фраза, не перечень пунктов. Отвечает на вопрос «что показано», а не «что сделано».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3511296" y="1600200"/>
            <a:ext cx="2606040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712464" y="1746504"/>
            <a:ext cx="2203704" cy="3189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Новизна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2120311"/>
            <a:ext cx="2203704" cy="165616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То, что заявлено впервые. Оценивается по потенциалу развития: новый метод с приростом 5 % ценнее развития известного метода с приростом 10 %.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336792" y="1600200"/>
            <a:ext cx="2606040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37960" y="1746504"/>
            <a:ext cx="2203704" cy="56473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Вклад (contribution)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366101"/>
            <a:ext cx="2203704" cy="141037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Насколько хорошо идея работает. Допускает разбиение на 3–4 проверяемых пункта: алгоритм, валидация на реальных данных, открытый код.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9162288" y="1600200"/>
            <a:ext cx="2606040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363456" y="1746504"/>
            <a:ext cx="2203704" cy="3189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363456" y="2120311"/>
            <a:ext cx="2203704" cy="165616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Насколько работа изменяет представление об объекте исследования. Определяется сообществом, а не автором.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685800" y="4160520"/>
            <a:ext cx="5349240" cy="2148840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86968" y="4306824"/>
            <a:ext cx="4946904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Формулировка на языке сообщества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4657588"/>
            <a:ext cx="4946904" cy="15420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Статья заявляет то, что может быть использовано; формулировка соответствует применению.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Статья не заявляет больше, чем доказано в разделе результатов.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Статья не заявляет того, что сообществу не требуется.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Пункты введения используют терминологию сообщества: формулировка «обучена модель с точностью 0,97» его вопросов не закрывает.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153912" y="4160520"/>
            <a:ext cx="5349240" cy="2148840"/>
          </a:xfrm>
          <a:prstGeom prst="roundRect">
            <a:avLst>
              <a:gd name="adj" fmla="val 2128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355080" y="4306824"/>
            <a:ext cx="4946904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B5661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Верифицируемость заявленных результатов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657588"/>
            <a:ext cx="4946904" cy="15420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Если результат нельзя проверить или проверка неоднозначна, результату не доверяют.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Критерий проверки задан численно, с указанием условий измерения.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Процедура проверки воспроизводима: данные, код и параметры доступны либо описан порядок доступа.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Проверка выполнима независимо от авторов и без доступа к их оборудованию либо это ограничение указано явно.</a:t>
            </a:r>
            <a:endParaRPr lang="en-US" sz="12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Матрица новизны: где допустимо находиться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Квадрант определяет, какое доказательство потребует рецензент.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90472"/>
            <a:ext cx="4297680" cy="3108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Задача известная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490472"/>
            <a:ext cx="4297680" cy="3108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Задача новая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86200"/>
            <a:ext cx="1325880" cy="9144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300" dirty="0"/>
          </a:p>
          <a:p>
            <a:pPr marL="0" indent="0" algn="r"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известный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874520"/>
            <a:ext cx="1325880" cy="9144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300" dirty="0"/>
          </a:p>
          <a:p>
            <a:pPr marL="0" indent="0" algn="r">
              <a:buNone/>
            </a:pPr>
            <a:r>
              <a:rPr lang="en-US" sz="1350" b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новый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94560" y="1874520"/>
            <a:ext cx="4297680" cy="1828800"/>
          </a:xfrm>
          <a:prstGeom prst="roundRect">
            <a:avLst>
              <a:gd name="adj" fmla="val 2500"/>
            </a:avLst>
          </a:prstGeom>
          <a:solidFill>
            <a:srgbClr val="E9F2EE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2395728" y="2020824"/>
            <a:ext cx="3895344" cy="3189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C6350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Принимается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395728" y="2394631"/>
            <a:ext cx="3895344" cy="119896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Новый метод для известной задачи. Требуется сравнение с актуальными базовыми методами при одинаковых условиях.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1874520"/>
            <a:ext cx="4297680" cy="1828800"/>
          </a:xfrm>
          <a:prstGeom prst="roundRect">
            <a:avLst>
              <a:gd name="adj" fmla="val 2500"/>
            </a:avLst>
          </a:prstGeom>
          <a:solidFill>
            <a:srgbClr val="FBF0E6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876288" y="2020824"/>
            <a:ext cx="3895344" cy="3189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5661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Высокий риск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2394631"/>
            <a:ext cx="3895344" cy="119896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Новый метод для новой задачи. Два заявления одновременно: рецензент требует доказательства обоих. Рекомендуется разделить на две работы.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194560" y="3886200"/>
            <a:ext cx="4297680" cy="1828800"/>
          </a:xfrm>
          <a:prstGeom prst="roundRect">
            <a:avLst>
              <a:gd name="adj" fmla="val 2500"/>
            </a:avLst>
          </a:prstGeom>
          <a:solidFill>
            <a:srgbClr val="F8ECEA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395728" y="4032504"/>
            <a:ext cx="3895344" cy="3189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8F3226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Инкрементальная работа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395728" y="4406311"/>
            <a:ext cx="3895344" cy="119896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Известный метод для известной задачи. Защитима только при новом экспериментальном выводе, который не следует из опубликованных работ.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0" y="3886200"/>
            <a:ext cx="4297680" cy="1828800"/>
          </a:xfrm>
          <a:prstGeom prst="roundRect">
            <a:avLst>
              <a:gd name="adj" fmla="val 2500"/>
            </a:avLst>
          </a:prstGeom>
          <a:solidFill>
            <a:srgbClr val="E9F2EE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876288" y="4032504"/>
            <a:ext cx="3895344" cy="3189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C6350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Принимается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4406311"/>
            <a:ext cx="3895344" cy="119896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Известные методы для новой задачи. Требуется обоснование, почему существующие подходы к смежным задачам неприменимы.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194560" y="5943600"/>
            <a:ext cx="8778240" cy="4572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Заявленный квадрант указывается во введении явно: рецензент проверяет соответствие эксперимента квадранту, а не общую полезность работы.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Выбор журнала выполняется на этапе концепции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Журнал определяет требования к эксперименту. Выбор после написания текста приводит к переработке раздела результатов.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817352" cy="3200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Тип площадки (примеры)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Что оценивается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Частая причина отказа работ по анализу данных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Sensors Journal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Сенсорная система в связке с обработкой данных, прикладной сценарий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Машинное обучение вне сенсорного контекста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Измерение, погрешность и неопределённость, калибровка, средства измерений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Отсутствует оценка неопределённости; нет реальной измерительной задачи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Промышленное применение, энергетика, электропривод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показана промышленная значимость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TII / IoT Journal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 решения для промышленности и IoT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сравнения с актуальными методами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Measurement, MSSP (Elsevier)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Сигналы, диагностика, экспериментальная валидация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Синтетические данные без обоснования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Отраслевые журналы (горное дело, энергетика)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 производственной задачи, экономический эффект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 описан без привязки к технологическому процессу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5349240"/>
            <a:ext cx="10817352" cy="868680"/>
          </a:xfrm>
          <a:prstGeom prst="roundRect">
            <a:avLst>
              <a:gd name="adj" fmla="val 5263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914400" y="5349240"/>
            <a:ext cx="10332720" cy="86868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8F3226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Общее правило. </a:t>
            </a: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Машинное обучение на абстрактных данных без измерительного, сенсорного или производственного ограничения отклоняется вне зависимости от качества модели. Инженерный контекст вводится в постановку задачи, а не в заключение.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Литобзор: протокол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Вопросы обзора и критерии фиксируются до начала поиска. Протокол обеспечивает воспроизводимость обзора.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170078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92224"/>
            <a:ext cx="1298448" cy="47256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Вопросы обзора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319650"/>
            <a:ext cx="1298448" cy="90818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00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RQ формулируются первыми: они задают строку поиска и колонки таблицы сравнения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391156" y="2423160"/>
            <a:ext cx="109728" cy="146304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25000" lnSpcReduction="20000"/>
          </a:bodyPr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505456" y="1645920"/>
            <a:ext cx="170078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2706624" y="1792224"/>
            <a:ext cx="1298448" cy="47256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Строка поиска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06624" y="2319650"/>
            <a:ext cx="1298448" cy="90818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00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Булевы операторы, синонимы термина; базы: IEEE Xplore, Scopus, Web of Science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210812" y="2423160"/>
            <a:ext cx="109728" cy="146304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25000" lnSpcReduction="20000"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25112" y="1645920"/>
            <a:ext cx="170078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526280" y="1792224"/>
            <a:ext cx="1298448" cy="47256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Критерии отбора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319650"/>
            <a:ext cx="1298448" cy="90818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00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Рецензируемые издания, наличие эксперимента и метрик, окно 5–7 лет плюс классические работы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030468" y="2423160"/>
            <a:ext cx="109728" cy="146304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25000" lnSpcReduction="20000"/>
          </a:bodyPr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144768" y="1645920"/>
            <a:ext cx="170078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345936" y="1792224"/>
            <a:ext cx="1298448" cy="272857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Скрининг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45936" y="2119945"/>
            <a:ext cx="1298448" cy="1107887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Отбор по аннотации, затем по полному тексту; число отклонённых работ фиксируется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850124" y="2423160"/>
            <a:ext cx="109728" cy="146304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25000" lnSpcReduction="20000"/>
          </a:bodyPr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964424" y="1645920"/>
            <a:ext cx="170078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8165592" y="1792224"/>
            <a:ext cx="1298448" cy="47256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Таблица сравнения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165592" y="2319650"/>
            <a:ext cx="1298448" cy="90818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Единая форма записи по всем отобранным работам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9669780" y="2423160"/>
            <a:ext cx="109728" cy="146304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25000" lnSpcReduction="20000"/>
          </a:bodyPr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9784080" y="1645920"/>
            <a:ext cx="170078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9985248" y="1792224"/>
            <a:ext cx="1298448" cy="272857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Gap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985248" y="2119945"/>
            <a:ext cx="1298448" cy="1107887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Незаполненные клетки таблицы указывают на неисследованную область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85800" y="3474720"/>
            <a:ext cx="6949440" cy="1097280"/>
          </a:xfrm>
          <a:prstGeom prst="roundRect">
            <a:avLst>
              <a:gd name="adj" fmla="val 4167"/>
            </a:avLst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914400" y="3566160"/>
            <a:ext cx="6492240" cy="2743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8FC0C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Пример строки поиска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3840480"/>
            <a:ext cx="6492240" cy="65836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fontScale="92500"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("fault diagnosis" OR "fault detection")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AND ("induction motor" OR "bearing")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AND ("neural network" OR "deep learning") AND PUBYEAR &gt; 2018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18120" y="3474720"/>
            <a:ext cx="3685032" cy="1097280"/>
          </a:xfrm>
          <a:prstGeom prst="roundRect">
            <a:avLst>
              <a:gd name="adj" fmla="val 4167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8019288" y="3621024"/>
            <a:ext cx="3282696" cy="272857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5661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Порог цитируемости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019288" y="3948745"/>
            <a:ext cx="3282696" cy="513527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625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Отбор по числу цитирований выполняется на этапе скрининга. В строке поиска условие вида OR CITES &gt; 20 из-за приоритета операторов вернёт все работы с цитируемостью выше порога независимо от темы.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85800" y="4709160"/>
            <a:ext cx="3483864" cy="1645920"/>
          </a:xfrm>
          <a:prstGeom prst="roundRect">
            <a:avLst>
              <a:gd name="adj" fmla="val 277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886968" y="4855464"/>
            <a:ext cx="3081528" cy="28053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Вопросы обзора (RQ)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886968" y="5190866"/>
            <a:ext cx="3081528" cy="105448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Формулируются 3–5 вопросов до поиска. Каждый вопрос закрывается отдельной колонкой таблицы сравнения. Вопрос, на который таблица не отвечает, либо снимается, либо требует расширения поиска.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52544" y="4709160"/>
            <a:ext cx="3483864" cy="1645920"/>
          </a:xfrm>
          <a:prstGeom prst="roundRect">
            <a:avLst>
              <a:gd name="adj" fmla="val 277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4553712" y="4855464"/>
            <a:ext cx="3081528" cy="28053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Примеры RQ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4553712" y="5190866"/>
            <a:ext cx="3081528" cy="105448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62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RQ1: какие подходы применяются к задаче и на каких допущениях они основаны.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RQ2: при каких условиях опубликованные методы теряют работоспособность.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RQ3: какие данные и метрики приняты в области.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RQ4: какие ограничения реального применения обсуждаются.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19288" y="4709160"/>
            <a:ext cx="3483864" cy="1645920"/>
          </a:xfrm>
          <a:prstGeom prst="roundRect">
            <a:avLst>
              <a:gd name="adj" fmla="val 277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8220456" y="4855464"/>
            <a:ext cx="3081528" cy="48792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Что выявляется дополнительно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220456" y="5398252"/>
            <a:ext cx="3081528" cy="8471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62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Динамика числа публикаций по годам и тематическая эволюция.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Устоявшиеся наборы данных и метрики, принятые сообществом.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Терминологические расхождения между школами.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Протоколы литобзора для инженерных статей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Протокол выбирается по назначению обзора: раздел статьи, обзорная статья либо оценка новой для группы области.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17352" cy="27432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Протокол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Что даёт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Когда применять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Учёт всех найденных и отклонённых работ, диаграмма потока отбора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Обзорная статья; раздел Related Work объёмного исследования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SLR по Kitchenham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Формализованный обзор с вопросами исследования: планирование, проведение, отчёт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Обзоры в технических дисциплинах, диссертационный обзор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Scoping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Оценка объёма и структуры области без оценки качества работ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Новая для группы тематика, выбор направления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Snowballing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Дополнение поиска по спискам литературы и по цитирующим работам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Узкие темы, разнородная терминология, дополнение строки поиска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Библиометрический анализ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Карта направлений и динамика по ключевым словам и совместному цитированию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Раздел «анализ трендов»; обоснование актуальности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4434840"/>
            <a:ext cx="10817352" cy="2743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Диаграмма потока отбора: числа приводятся в тексте статьи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4800600"/>
            <a:ext cx="1993392" cy="658368"/>
          </a:xfrm>
          <a:prstGeom prst="roundRect">
            <a:avLst>
              <a:gd name="adj" fmla="val 694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758952" y="4800600"/>
            <a:ext cx="1847088" cy="65836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Найдено по строке поиска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679192" y="4800600"/>
            <a:ext cx="164592" cy="65836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43784" y="4800600"/>
            <a:ext cx="1993392" cy="658368"/>
          </a:xfrm>
          <a:prstGeom prst="roundRect">
            <a:avLst>
              <a:gd name="adj" fmla="val 694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2916936" y="4800600"/>
            <a:ext cx="1847088" cy="65836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После удаления дубликатов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837176" y="4800600"/>
            <a:ext cx="164592" cy="65836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11"/>
          <p:cNvSpPr/>
          <p:nvPr/>
        </p:nvSpPr>
        <p:spPr>
          <a:xfrm>
            <a:off x="5001768" y="4800600"/>
            <a:ext cx="1993392" cy="658368"/>
          </a:xfrm>
          <a:prstGeom prst="roundRect">
            <a:avLst>
              <a:gd name="adj" fmla="val 694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5074920" y="4800600"/>
            <a:ext cx="1847088" cy="65836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Отсеяно по аннотации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4800600"/>
            <a:ext cx="164592" cy="65836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159752" y="4800600"/>
            <a:ext cx="1993392" cy="658368"/>
          </a:xfrm>
          <a:prstGeom prst="roundRect">
            <a:avLst>
              <a:gd name="adj" fmla="val 694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7232904" y="4800600"/>
            <a:ext cx="1847088" cy="65836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Прочитано полностью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53144" y="4800600"/>
            <a:ext cx="164592" cy="65836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317736" y="4800600"/>
            <a:ext cx="1993392" cy="658368"/>
          </a:xfrm>
          <a:prstGeom prst="roundRect">
            <a:avLst>
              <a:gd name="adj" fmla="val 694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9390888" y="4800600"/>
            <a:ext cx="1847088" cy="65836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Включено в обзор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85800" y="5596128"/>
            <a:ext cx="10817352" cy="731520"/>
          </a:xfrm>
          <a:prstGeom prst="roundRect">
            <a:avLst>
              <a:gd name="adj" fmla="val 625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3" name="Text 20"/>
          <p:cNvSpPr txBox="1"/>
          <p:nvPr/>
        </p:nvSpPr>
        <p:spPr>
          <a:xfrm>
            <a:off x="886968" y="5742432"/>
            <a:ext cx="10415016" cy="272857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Применение в обычной исследовательской статье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86968" y="6070153"/>
            <a:ext cx="10415016" cy="147767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400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Полный протокол не публикуется, но выполняется и сохраняется. В тексте приводятся строка поиска, окно лет, базы, число отобранных работ и критерии исключения — трёх-четырёх предложений достаточно.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Таблица сравнения работ порождает gap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Единая форма записи по всем работам. Незаполненные клетки указывают на неисследованную область.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17352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Задача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Метод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Данные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Метрики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Ограничение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Диагностика подшипника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по спектрограмме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Открытый набор, стенд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Стационарная нагрузка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же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Автокодировщик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Синтетические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Реальные данные отсутствуют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же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Пороговое правило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Промышленные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Настройка порога для каждого агрегата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же при дрейфе условий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F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F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F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Неопределённость не оценивается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F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Пустая строка =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34340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886968" y="4489704"/>
            <a:ext cx="3081528" cy="288219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Форма записи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4832787"/>
            <a:ext cx="3081528" cy="1092525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Колонки одинаковы для всех работ. Записывается то, что в работе указано; предположения автора обзора в таблицу не вносятся.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52544" y="434340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4553712" y="4489704"/>
            <a:ext cx="3081528" cy="288219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Анализ трендов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53712" y="4832787"/>
            <a:ext cx="3081528" cy="1092525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Гистограмма числа публикаций по годам и по подтемам. Показывает насыщение направления либо его рост.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19288" y="434340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8220456" y="4489704"/>
            <a:ext cx="3081528" cy="288219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Завершение обзора</a:t>
            </a:r>
            <a:endParaRPr lang="en-US" sz="1400" dirty="0"/>
          </a:p>
        </p:txBody>
      </p:sp>
      <p:sp>
        <p:nvSpPr>
          <p:cNvPr id="6" name="Text 12"/>
          <p:cNvSpPr txBox="1"/>
          <p:nvPr/>
        </p:nvSpPr>
        <p:spPr>
          <a:xfrm>
            <a:off x="8220456" y="4832787"/>
            <a:ext cx="3081528" cy="1092525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Обзор завершается конструкцией «Однако…»: изложенное состояние области должно логически требовать появления предлагаемой работы.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Gap statement: шаблон и типовая ошибка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Gap формулируется через ограничения конкретных работ, а не через объём литературы.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10817352" cy="1234440"/>
          </a:xfrm>
          <a:prstGeom prst="roundRect">
            <a:avLst>
              <a:gd name="adj" fmla="val 370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14400" y="1755648"/>
            <a:ext cx="10332720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Шаблон формулировки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212140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87552" y="2121408"/>
            <a:ext cx="1847088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Существующие подходы делают X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2121408"/>
            <a:ext cx="164592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72384" y="212140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3145536" y="2121408"/>
            <a:ext cx="1847088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предполагают 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65776" y="2121408"/>
            <a:ext cx="164592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30368" y="212140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303520" y="2121408"/>
            <a:ext cx="1847088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Y не выполняется в сценарии Z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121408"/>
            <a:ext cx="164592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88352" y="212140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461504" y="2121408"/>
            <a:ext cx="1847088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следствие: что нарушается и насколько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381744" y="2121408"/>
            <a:ext cx="164592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46336" y="212140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9619488" y="2121408"/>
            <a:ext cx="1847088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предлагается 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3108960"/>
            <a:ext cx="5349240" cy="1325880"/>
          </a:xfrm>
          <a:prstGeom prst="roundRect">
            <a:avLst>
              <a:gd name="adj" fmla="val 3448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886968" y="3255264"/>
            <a:ext cx="4946904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8F3226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Ошибочная формулировка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86968" y="3606028"/>
            <a:ext cx="4946904" cy="7190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«Данной теме посвящено мало работ». Утверждение не проверяемо, не указывает на техническую причину и не задаёт критерий успеха.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53912" y="3108960"/>
            <a:ext cx="5349240" cy="1325880"/>
          </a:xfrm>
          <a:prstGeom prst="roundRect">
            <a:avLst>
              <a:gd name="adj" fmla="val 3448"/>
            </a:avLst>
          </a:prstGeom>
          <a:solidFill>
            <a:srgbClr val="E9F2EE"/>
          </a:solidFill>
          <a:ln w="12700">
            <a:solidFill>
              <a:srgbClr val="CBE0D6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355080" y="3255264"/>
            <a:ext cx="4946904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C6350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Корректная формулировка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3606028"/>
            <a:ext cx="4946904" cy="7190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75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«Существующие методы [5]–[9] предполагают стационарные условия калибровки. При температурном дрейфе датчика точность снижается на N % [10]. Оценка неопределённости предсказания не выполняется ни в одной из работ, что исключает метрологическое применение. Предлагается…»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4663440"/>
            <a:ext cx="10817352" cy="1645920"/>
          </a:xfrm>
          <a:prstGeom prst="roundRect">
            <a:avLst>
              <a:gd name="adj" fmla="val 2778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914400" y="4791456"/>
            <a:ext cx="10360152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Тест на самопроверку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5138928"/>
            <a:ext cx="5042916" cy="10789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Указаны конкретные источники и конкретное допущение, принятое в них.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Указано условие нарушения допущения и последствие в измеримой форме.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231636" y="5138928"/>
            <a:ext cx="5042916" cy="10789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Предлагаемое решение адресует именно названное допущение, а не смежную трудность.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Gap проверяется обратным чтением: из формулировки выводится состав эксперимента без дополнительных пояснений.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Скелет статьи и типовой объём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Скелет создаётся до написания текста и содержит назначение каждого раздела.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6903720" cy="4096512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Раздел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Объём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Содержание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Abstract, Index Terms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150–250 слов, один абзац; 5–7 терминов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Задача, ограничение известных методов, вклад, результат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Introduction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1–1,5 страницы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Мотивация, gap, цель, вклад списком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II. Related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 страница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Группировка по подходам, таблица сравнения, отличие предлагаемой работы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III. Problem Formulation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0,5–1 страница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Формальная постановка, допущения, таблица обозначений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IV. Proposed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1,5–2,5 страницы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Схема, устройство модулей, псевдокод, сложность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Experimental 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1–1,5 страницы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Стенд и данные, разбиение, базовые методы, метрики, аппаратура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VI. Results and Discussion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страницы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Сравнение, ablation, границы применимости, отказы метода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VII. Conclusion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абзаца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 и направление продолжения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40–60 источников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менее 60 % за последние пять лет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645920"/>
            <a:ext cx="3730752" cy="1874520"/>
          </a:xfrm>
          <a:prstGeom prst="roundRect">
            <a:avLst>
              <a:gd name="adj" fmla="val 2439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7973568" y="1792224"/>
            <a:ext cx="3328416" cy="28053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5661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Обозначения и терминология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973568" y="2127626"/>
            <a:ext cx="3328416" cy="128308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Один символ — один смысл во всей статье. Единицы СИ. Обозначение определяется до первого использования и далее не переопределяется. Словарь терминов ведётся с первого дня работы.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7772400" y="3657600"/>
            <a:ext cx="3730752" cy="2231136"/>
          </a:xfrm>
          <a:prstGeom prst="roundRect">
            <a:avLst>
              <a:gd name="adj" fmla="val 2049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8001000" y="3785616"/>
            <a:ext cx="3273552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Тест на самопроверку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4133088"/>
            <a:ext cx="3273552" cy="16642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10000"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Назначение каждого раздела сформулировано одной фразой.</a:t>
            </a:r>
            <a:endParaRPr lang="en-US" sz="11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Удаление любого раздела разрушает изложение.</a:t>
            </a:r>
            <a:endParaRPr lang="en-US" sz="11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Объёмы соответствуют типу заявки и требованиям журнала.</a:t>
            </a:r>
            <a:endParaRPr lang="en-US" sz="11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Каждое обозначение встречается в таблице ровно один раз.</a:t>
            </a:r>
            <a:endParaRPr lang="en-US" sz="11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Введение: обратный ход и прямое изложение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Логика введения выстраивается от вклада к задаче, а записывается в обратном порядке.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5349240" cy="3246120"/>
          </a:xfrm>
          <a:prstGeom prst="roundRect">
            <a:avLst>
              <a:gd name="adj" fmla="val 140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14400" y="1719072"/>
            <a:ext cx="4892040" cy="3108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Обратный ход: вопросы до написания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274320" cy="274320"/>
          </a:xfrm>
          <a:prstGeom prst="ellipse">
            <a:avLst/>
          </a:prstGeom>
          <a:solidFill>
            <a:srgbClr val="2E7D8F"/>
          </a:solidFill>
          <a:ln/>
        </p:spPr>
        <p:txBody>
          <a:bodyPr wrap="square" lIns="76200" tIns="38100" rIns="76200" bIns="38100">
            <a:normAutofit fontScale="47500" lnSpcReduction="20000"/>
          </a:bodyPr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1440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066544"/>
            <a:ext cx="4517136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Какая техническая проблема решается и почему устоявшегося решения нет.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914400" y="2761488"/>
            <a:ext cx="274320" cy="274320"/>
          </a:xfrm>
          <a:prstGeom prst="ellipse">
            <a:avLst/>
          </a:prstGeom>
          <a:solidFill>
            <a:srgbClr val="2E7D8F"/>
          </a:solidFill>
          <a:ln/>
        </p:spPr>
        <p:txBody>
          <a:bodyPr wrap="square" lIns="76200" tIns="38100" rIns="76200" bIns="38100">
            <a:normAutofit fontScale="47500" lnSpcReduction="20000"/>
          </a:bodyPr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91440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724912"/>
            <a:ext cx="4517136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 чём состоит вклад: новая задача, новая метрика, новая техническая проблема или новый приём.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914400" y="3419856"/>
            <a:ext cx="274320" cy="274320"/>
          </a:xfrm>
          <a:prstGeom prst="ellipse">
            <a:avLst/>
          </a:prstGeom>
          <a:solidFill>
            <a:srgbClr val="2E7D8F"/>
          </a:solidFill>
          <a:ln/>
        </p:spPr>
        <p:txBody>
          <a:bodyPr wrap="square" lIns="76200" tIns="38100" rIns="76200" bIns="38100">
            <a:normAutofit fontScale="47500" lnSpcReduction="20000"/>
          </a:bodyPr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91440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383280"/>
            <a:ext cx="4517136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Почему предложенное решает эту проблему и какое новое понимание оно даёт.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914400" y="4078224"/>
            <a:ext cx="274320" cy="274320"/>
          </a:xfrm>
          <a:prstGeom prst="ellipse">
            <a:avLst/>
          </a:prstGeom>
          <a:solidFill>
            <a:srgbClr val="2E7D8F"/>
          </a:solidFill>
          <a:ln/>
        </p:spPr>
        <p:txBody>
          <a:bodyPr wrap="square" lIns="76200" tIns="38100" rIns="76200" bIns="38100">
            <a:normAutofit fontScale="47500" lnSpcReduction="20000"/>
          </a:bodyPr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91440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4041648"/>
            <a:ext cx="4517136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Как через известные работы читатель подводится к сформулированной проблеме.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153912" y="1600200"/>
            <a:ext cx="5349240" cy="3246120"/>
          </a:xfrm>
          <a:prstGeom prst="roundRect">
            <a:avLst>
              <a:gd name="adj" fmla="val 1408"/>
            </a:avLst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382512" y="1719072"/>
            <a:ext cx="4892040" cy="3108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FC0CB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Прямое изложение: порядок записи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82512" y="2121408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17505F"/>
          </a:solidFill>
          <a:ln w="12700">
            <a:solidFill>
              <a:srgbClr val="2A6C7D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382512" y="2121408"/>
            <a:ext cx="960120" cy="38404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FE6E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Часть 1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470648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Задача и её приложения; целевые показатели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382512" y="2651760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17505F"/>
          </a:solidFill>
          <a:ln w="12700">
            <a:solidFill>
              <a:srgbClr val="2A6C7D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382512" y="2651760"/>
            <a:ext cx="960120" cy="38404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FE6E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Часть 2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470648" y="2633472"/>
            <a:ext cx="3840480" cy="4572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Известные методы и технический вызов: ограничение плюс его причина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6382512" y="3182112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17505F"/>
          </a:solidFill>
          <a:ln w="12700">
            <a:solidFill>
              <a:srgbClr val="2A6C7D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382512" y="3182112"/>
            <a:ext cx="960120" cy="38404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FE6E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Часть 3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470648" y="3163824"/>
            <a:ext cx="3840480" cy="4572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Предлагаемое решение и объяснение, почему оно работает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6382512" y="3712464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17505F"/>
          </a:solidFill>
          <a:ln w="12700">
            <a:solidFill>
              <a:srgbClr val="2A6C7D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382512" y="3712464"/>
            <a:ext cx="960120" cy="38404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FE6E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Часть 4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470648" y="3694176"/>
            <a:ext cx="3840480" cy="4572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Дополнительные составляющие вклада и их значение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6382512" y="4242816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17505F"/>
          </a:solidFill>
          <a:ln w="12700">
            <a:solidFill>
              <a:srgbClr val="2A6C7D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382512" y="4242816"/>
            <a:ext cx="960120" cy="38404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FE6E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Часть 5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470648" y="4224528"/>
            <a:ext cx="3840480" cy="4572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Результаты эксперимента в одной-двух фразах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685800" y="5029200"/>
            <a:ext cx="5349240" cy="1280160"/>
          </a:xfrm>
          <a:prstGeom prst="roundRect">
            <a:avLst>
              <a:gd name="adj" fmla="val 357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886968" y="5175504"/>
            <a:ext cx="4946904" cy="28053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Как выбрать вариант открывающей части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86968" y="5510906"/>
            <a:ext cx="4946904" cy="68872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00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Задача узкая — сначала определение задачи, затем приложения.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Задача известна читателю — сразу приложения.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Постановка новая — от общей задачи к частной с указанием границ.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Вызов формулируется коротко — открытие вызовом в первом абзаце.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53912" y="5029200"/>
            <a:ext cx="5349240" cy="1280160"/>
          </a:xfrm>
          <a:prstGeom prst="roundRect">
            <a:avLst>
              <a:gd name="adj" fmla="val 357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6355080" y="5175504"/>
            <a:ext cx="4946904" cy="28053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Как выбрать вариант изложения вызова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6355080" y="5510906"/>
            <a:ext cx="4946904" cy="68872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62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Известная задача с известными методами — цепочка: общая трудность, традиционные методы, современные методы, остающийся вызов.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Идея имеет корни в классических методах — классическая линия как опора, затем причина недостаточности современных методов.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Новая задача без аналогов — декомпозиция на три независимые причины сложности.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6382512"/>
            <a:ext cx="10817352" cy="2743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Источник схемы: методика Peng Sida (learning_research) в адаптации Research-Paper-Writing-Skills.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Анатомия введения: семь абзацев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Один абзац — одно сообщение. Первое предложение абзаца сообщает его назначение.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92224"/>
            <a:ext cx="2350008" cy="51864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Контекст и актуальность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365736"/>
            <a:ext cx="3081528" cy="8620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Прикладная задача и её инженерная значимость: стоимость отказа, требования технологического процесса, ограничения эксплуатации. Не «машинное обучение популярно».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3392424" y="1764792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85000" lnSpcReduction="20000"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392424" y="1764792"/>
            <a:ext cx="603504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2544" y="164592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4553712" y="1792224"/>
            <a:ext cx="2350008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Состояние области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142988"/>
            <a:ext cx="3081528" cy="10848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Два направления работ: что достигнуто, при каких допущениях, где отказывает и по какой технической причине.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7059168" y="1764792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85000" lnSpcReduction="20000"/>
          </a:bodyPr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059168" y="1764792"/>
            <a:ext cx="603504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19288" y="164592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8220456" y="1792224"/>
            <a:ext cx="2350008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Gap и мотивация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0456" y="2142988"/>
            <a:ext cx="3081528" cy="10848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Центральный абзац. Почему задача остаётся нерешённой и что нарушается при существующих подходах. Формулируется по шаблону предыдущего слайда.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10725912" y="1764792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85000" lnSpcReduction="20000"/>
          </a:bodyPr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10725912" y="1764792"/>
            <a:ext cx="603504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352044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886968" y="3666744"/>
            <a:ext cx="2350008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Решение и новизна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017508"/>
            <a:ext cx="3081528" cy="10848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«В данной работе предлагается…»: приём, схема, причина работоспособности. Здесь заявляется новизна одной фразой.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3392424" y="3639312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85000" lnSpcReduction="20000"/>
          </a:bodyPr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3392424" y="3639312"/>
            <a:ext cx="603504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52544" y="352044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4553712" y="3666744"/>
            <a:ext cx="2350008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Вклад списком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53712" y="4017508"/>
            <a:ext cx="3081528" cy="10848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3–4 проверяемых пункта: постановка, метод, валидация на реальных данных, открытый код и данные. Новизна разложена по пунктам вклада.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7059168" y="3639312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85000" lnSpcReduction="20000"/>
          </a:bodyPr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7059168" y="3639312"/>
            <a:ext cx="603504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19288" y="352044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8220456" y="3666744"/>
            <a:ext cx="2350008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Организация текста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220456" y="4017508"/>
            <a:ext cx="3081528" cy="10848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Одно предложение о структуре оставшейся части статьи.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10725912" y="3639312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85000" lnSpcReduction="20000"/>
          </a:bodyPr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10725912" y="3639312"/>
            <a:ext cx="603504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" y="5394960"/>
            <a:ext cx="6949440" cy="914400"/>
          </a:xfrm>
          <a:prstGeom prst="roundRect">
            <a:avLst>
              <a:gd name="adj" fmla="val 5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886968" y="5541264"/>
            <a:ext cx="6547104" cy="28053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Где что находится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886968" y="5876666"/>
            <a:ext cx="6547104" cy="32296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00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Актуальность — абзац 1. Мотивация — абзацы 1 и 4: цена нерешённой задачи и причина, по которой она не решена. Новизна — абзац 5, заявляется одной фразой, и абзац 6, где раскладывается по пунктам вклада.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7818120" y="5394960"/>
            <a:ext cx="3685032" cy="914400"/>
          </a:xfrm>
          <a:prstGeom prst="roundRect">
            <a:avLst>
              <a:gd name="adj" fmla="val 5000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8019288" y="5541264"/>
            <a:ext cx="3282696" cy="28053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8F3226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Запрещённая конструкция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8019288" y="5876666"/>
            <a:ext cx="3282696" cy="32296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550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Не описывается сначала наивное решение, а затем улучшение над ним: работа воспринимается как правка тривиального базового варианта.</a:t>
            </a:r>
            <a:endParaRPr lang="en-US" sz="11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Related Work: позиционирование работы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Группировка по техническим темам, не по годам публикации.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349240" cy="2103120"/>
          </a:xfrm>
          <a:prstGeom prst="roundRect">
            <a:avLst>
              <a:gd name="adj" fmla="val 217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92224"/>
            <a:ext cx="49469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Состав раздела: 2–4 темы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50669"/>
            <a:ext cx="4946904" cy="14886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Основные методы, применяемые к данной задаче.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Работы, наиболее близкие к предлагаемой идее.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Вспомогательные приёмы, на которых построен метод.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Сильнейшие конкурирующие работы включаются обязательно; их отсутствие трактуется как сокрытие.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153912" y="1645920"/>
            <a:ext cx="5349240" cy="2103120"/>
          </a:xfrm>
          <a:prstGeom prst="roundRect">
            <a:avLst>
              <a:gd name="adj" fmla="val 217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355080" y="1792224"/>
            <a:ext cx="49469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Шаблон абзаца темы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50669"/>
            <a:ext cx="4946904" cy="14886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Тематическое предложение: границы темы.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Сводка представительных работ, одна компактная формулировка.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Ограничение, связанное именно с решаемым вызовом.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Переход к предлагаемому методу.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5330952" cy="1874520"/>
          </a:xfrm>
          <a:prstGeom prst="roundRect">
            <a:avLst>
              <a:gd name="adj" fmla="val 2439"/>
            </a:avLst>
          </a:prstGeom>
          <a:solidFill>
            <a:srgbClr val="E9F2EE"/>
          </a:solidFill>
          <a:ln w="12700">
            <a:solidFill>
              <a:srgbClr val="CBE0D6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86968" y="4123944"/>
            <a:ext cx="4928616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C6350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Делать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" y="4482389"/>
            <a:ext cx="4928616" cy="12600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Сравнивать механизмы, допущения и режимы отказа.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Явно указывать, какую часть пробела закрывает работа.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Выражать отличие в технических терминах.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6172200" y="3977640"/>
            <a:ext cx="5330952" cy="1874520"/>
          </a:xfrm>
          <a:prstGeom prst="roundRect">
            <a:avLst>
              <a:gd name="adj" fmla="val 2439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373368" y="4123944"/>
            <a:ext cx="4928616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F3226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Не делать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4482389"/>
            <a:ext cx="4928616" cy="126004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Превращать раздел в перечень цитирований.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Опускать сильнейшие базовые методы.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Заменять техническое отличие оценочными формулировками.</a:t>
            </a:r>
            <a:endParaRPr lang="en-US" sz="12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Метод: три элемента описания модуля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Описание каждого блока метода состоит из трёх частей и записывается в указанном порядке.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3483864" cy="1965960"/>
          </a:xfrm>
          <a:prstGeom prst="roundRect">
            <a:avLst>
              <a:gd name="adj" fmla="val 23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92224"/>
            <a:ext cx="3081528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Устройство модуля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50669"/>
            <a:ext cx="3081528" cy="135148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Представление, структура сети или данных. Прямой проход строго по шагам: вход → шаг 1 → шаг 2 → выход. Записывается первым.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4178808" y="2542032"/>
            <a:ext cx="164592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25000" lnSpcReduction="20000"/>
          </a:bodyPr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352544" y="1645920"/>
            <a:ext cx="3483864" cy="1965960"/>
          </a:xfrm>
          <a:prstGeom prst="roundRect">
            <a:avLst>
              <a:gd name="adj" fmla="val 23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553712" y="1792224"/>
            <a:ext cx="3081528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Мотивация модуля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150669"/>
            <a:ext cx="3081528" cy="135148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Формулируется от проблемы: поскольку существует ограничение X, введён блок Y. Записывается после устройства.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7845552" y="2542032"/>
            <a:ext cx="164592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25000" lnSpcReduction="20000"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019288" y="1645920"/>
            <a:ext cx="3483864" cy="1965960"/>
          </a:xfrm>
          <a:prstGeom prst="roundRect">
            <a:avLst>
              <a:gd name="adj" fmla="val 23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220456" y="1792224"/>
            <a:ext cx="3081528" cy="53401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Техническое преимущество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0456" y="2381098"/>
            <a:ext cx="3081528" cy="112105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Чем блок превосходит альтернативы. Привязывается к измеримому поведению, а не к общим свойствам.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85800" y="3840480"/>
            <a:ext cx="10817352" cy="1280160"/>
          </a:xfrm>
          <a:prstGeom prst="roundRect">
            <a:avLst>
              <a:gd name="adj" fmla="val 357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914400" y="3950208"/>
            <a:ext cx="10332720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Порядок работы над разделом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14400" y="431596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987552" y="4315968"/>
            <a:ext cx="1847088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Схема метода (pipeline)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907792" y="4315968"/>
            <a:ext cx="164592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072384" y="431596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3145536" y="4315968"/>
            <a:ext cx="1847088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Разбиение на подразделы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065776" y="4315968"/>
            <a:ext cx="164592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30368" y="431596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303520" y="4315968"/>
            <a:ext cx="1847088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Устройство каждого блока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4315968"/>
            <a:ext cx="164592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88352" y="431596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461504" y="4315968"/>
            <a:ext cx="1847088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Мотивация и преимущества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381744" y="4315968"/>
            <a:ext cx="164592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546336" y="431596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9619488" y="4315968"/>
            <a:ext cx="1847088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Детали реализации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5257800"/>
            <a:ext cx="10817352" cy="1051560"/>
          </a:xfrm>
          <a:prstGeom prst="roundRect">
            <a:avLst>
              <a:gd name="adj" fmla="val 434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886968" y="5404104"/>
            <a:ext cx="10415016" cy="288219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Проверка понятности метода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86968" y="5747187"/>
            <a:ext cx="10415016" cy="452445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Логический уровень: изложение метода пересказывается кратко и проверяется на связность. Уровень абзаца: первое предложение сообщает содержание абзаца. Уровень предложения: для каждого предложения явна причина его присутствия; терминология не меняется по ходу текста.</a:t>
            </a:r>
            <a:endParaRPr lang="en-US" sz="12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Эксперимент отвечает на три вопроса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Состав эксперимента определяется составом заявленного вклада, а не доступностью данных.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3483864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92224"/>
            <a:ext cx="3081528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Метод превосходит сильные базовые варианты?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395728"/>
            <a:ext cx="3081528" cy="142646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Сравнение с актуальными методами и с одним наивным вариантом — порогом или линейной моделью, задающим нижнюю границу. Одинаковое разбиение, предобработка и протокол оценки для всех методов.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352544" y="1645920"/>
            <a:ext cx="3483864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553712" y="1792224"/>
            <a:ext cx="3081528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Какие блоки дают выигрыш?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395728"/>
            <a:ext cx="3081528" cy="142646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Ablation по каждому заявленному решению: удаление, замена, отключение. Приводится разность относительно полной модели. При связанных блоках проверяется их взаимодействие.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019288" y="1645920"/>
            <a:ext cx="3483864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220456" y="1792224"/>
            <a:ext cx="3081528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Как метод ведёт себя в тяжёлых условиях?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0456" y="2395728"/>
            <a:ext cx="3081528" cy="142646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Проверка вне обучающего распределения: усложнённые сценарии, редкие случаи, повышенный шум, ужесточённые ограничения. Приводятся и выигрыши, и режимы отказа.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85800" y="4160520"/>
            <a:ext cx="10817352" cy="2103120"/>
          </a:xfrm>
          <a:prstGeom prst="roundRect">
            <a:avLst>
              <a:gd name="adj" fmla="val 217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14400" y="4279392"/>
            <a:ext cx="10332720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Карта «заявление → эксперимент»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14400" y="468172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1005840" y="4681728"/>
            <a:ext cx="3840480" cy="40233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Заявленный вклад 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0" y="4800600"/>
            <a:ext cx="274320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25000" lnSpcReduction="20000"/>
          </a:bodyPr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440680" y="468172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532120" y="4681728"/>
            <a:ext cx="3840480" cy="40233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Эксперимент 1: подтверждение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518464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1005840" y="5184648"/>
            <a:ext cx="3840480" cy="40233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Заявленный вклад 2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0" y="5303520"/>
            <a:ext cx="274320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25000" lnSpcReduction="20000"/>
          </a:bodyPr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440680" y="518464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532120" y="5184648"/>
            <a:ext cx="3840480" cy="40233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Эксперимент 2: подтверждение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14400" y="568756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1005840" y="5687568"/>
            <a:ext cx="3840480" cy="40233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Блок метода / ключевой параметр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0" y="5806440"/>
            <a:ext cx="274320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 wrap="square" lIns="76200" tIns="38100" rIns="76200" bIns="38100">
            <a:normAutofit fontScale="25000" lnSpcReduction="20000"/>
          </a:bodyPr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440680" y="568756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5532120" y="5687568"/>
            <a:ext cx="3840480" cy="40233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Ablation-эксперимент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692640" y="4681728"/>
            <a:ext cx="1691640" cy="128016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8F3226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Заявление, для которого</a:t>
            </a:r>
            <a:endParaRPr lang="en-US" sz="1200" dirty="0"/>
          </a:p>
          <a:p>
            <a:pPr marL="0" indent="0">
              <a:buNone/>
            </a:pPr>
            <a:r>
              <a:rPr lang="en-US" sz="1350" b="1" dirty="0">
                <a:solidFill>
                  <a:srgbClr val="8F3226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 карте нет эксперимента,</a:t>
            </a:r>
            <a:endParaRPr lang="en-US" sz="1200" dirty="0"/>
          </a:p>
          <a:p>
            <a:pPr marL="0" indent="0">
              <a:buNone/>
            </a:pPr>
            <a:r>
              <a:rPr lang="en-US" sz="1350" b="1" dirty="0">
                <a:solidFill>
                  <a:srgbClr val="8F3226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из текста удаляется.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Data integrity и утечки данных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Наиболее частая причина отказа работ по анализу данных в инженерных журналах.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5349240" cy="2194560"/>
          </a:xfrm>
          <a:prstGeom prst="roundRect">
            <a:avLst>
              <a:gd name="adj" fmla="val 208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46504"/>
            <a:ext cx="49469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Проверочный список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04949"/>
            <a:ext cx="4946904" cy="158008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Преобразование признаков настроено только по обучающей части.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Окна обучающей и тестовой частей не перекрываются.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Дубликаты и повторные записи удалены.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Шум разметки оценён и указан.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Дрейф условий зафиксирован и описан.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Признаки не содержат величин, недоступных в момент предсказания.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600200"/>
            <a:ext cx="5349240" cy="2194560"/>
          </a:xfrm>
          <a:prstGeom prst="roundRect">
            <a:avLst>
              <a:gd name="adj" fmla="val 2083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355080" y="1746504"/>
            <a:ext cx="49469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B5661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Разбиение выборки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04949"/>
            <a:ext cx="4946904" cy="158008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1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Временные ряды: только хронологическое разбиение либо leave-one-unit-out.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Случайное разбиение временного ряда даёт завышенную оценку качества и трактуется как утечка.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Данные одного агрегата не попадают одновременно в обучающую и тестовую части.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Схема разбиения приводится в тексте явно, включая объёмы частей.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931920"/>
            <a:ext cx="10817352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914400" y="4023360"/>
            <a:ext cx="10332720" cy="2743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Описание данных в тексте статьи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370832"/>
            <a:ext cx="248716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042416" y="4443984"/>
            <a:ext cx="2231136" cy="2377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Происхождение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" y="4681728"/>
            <a:ext cx="2231136" cy="51206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Собственная установка или открытый набор; условия регистрации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3602736" y="4370832"/>
            <a:ext cx="248716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3730752" y="4443984"/>
            <a:ext cx="2231136" cy="2377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Статистика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730752" y="4681728"/>
            <a:ext cx="2231136" cy="51206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Объём, частота дискретизации, доля аномальных состояний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91072" y="4370832"/>
            <a:ext cx="248716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419088" y="4443984"/>
            <a:ext cx="2231136" cy="2377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Разбиение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4681728"/>
            <a:ext cx="2231136" cy="51206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Схема, объёмы частей, обоснование выбора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979408" y="4370832"/>
            <a:ext cx="248716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9107424" y="4443984"/>
            <a:ext cx="2231136" cy="2377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Доступность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107424" y="4681728"/>
            <a:ext cx="2231136" cy="51206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Ссылка на набор либо причина ограничения доступа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5800" y="5486400"/>
            <a:ext cx="10817352" cy="868680"/>
          </a:xfrm>
          <a:prstGeom prst="roundRect">
            <a:avLst>
              <a:gd name="adj" fmla="val 526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914400" y="5614416"/>
            <a:ext cx="10360152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Тест на самопроверку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5961888"/>
            <a:ext cx="10360152" cy="30175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25000" lnSpcReduction="20000"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Перемешивание записей во времени не меняет результат — вероятна утечка через перекрытие окон.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Обучение на случайных метках даёт качество выше случайного — утечка через признаки или через разбиение.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Результат воспроизводится при другом значении инициализации генератора и на другом агрегате.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Метрики и показатели эффекта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Показатели качества классификации недостаточны для инженерного журнала: приводятся также ресурсные показатели, неопределённость и эффект для производства.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2606040" cy="2331720"/>
          </a:xfrm>
          <a:prstGeom prst="roundRect">
            <a:avLst>
              <a:gd name="adj" fmla="val 196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92224"/>
            <a:ext cx="2203704" cy="28053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Метрики качества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27626"/>
            <a:ext cx="2203704" cy="174028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Метрика соответствует стоимости ошибки в приложении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Направление указывается: ↑ или ↓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Приводятся абсолютные значения, а не только прирост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11296" y="1645920"/>
            <a:ext cx="2606040" cy="2331720"/>
          </a:xfrm>
          <a:prstGeom prst="roundRect">
            <a:avLst>
              <a:gd name="adj" fmla="val 196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712464" y="1792224"/>
            <a:ext cx="2203704" cy="48792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Ресурсные показатели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2335012"/>
            <a:ext cx="2203704" cy="1532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Задержка обработки окна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Объём памяти и число параметров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Энергопотребление для edge-реализации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Требования к платформе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36792" y="1645920"/>
            <a:ext cx="2606040" cy="2331720"/>
          </a:xfrm>
          <a:prstGeom prst="roundRect">
            <a:avLst>
              <a:gd name="adj" fmla="val 196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37960" y="1792224"/>
            <a:ext cx="2203704" cy="28053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Неопределённость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127626"/>
            <a:ext cx="2203704" cy="174028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7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Доверительные интервалы либо планки погрешности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Повторные запуски с различной инициализацией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Число запусков и разброс приводятся явно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Бюджет неопределённости для измерительных задач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62288" y="1645920"/>
            <a:ext cx="2606040" cy="2331720"/>
          </a:xfrm>
          <a:prstGeom prst="roundRect">
            <a:avLst>
              <a:gd name="adj" fmla="val 196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363456" y="1792224"/>
            <a:ext cx="2203704" cy="28053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Воспроизводимость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363456" y="2127626"/>
            <a:ext cx="2203704" cy="174028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Код в репозитории и архивная копия с DOI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Зафиксированы значения инициализации генератора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Версии библиотек и характеристики аппаратуры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Скрипт полного воспроизведения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114800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9F2EE"/>
          </a:solidFill>
          <a:ln w="12700">
            <a:solidFill>
              <a:srgbClr val="CBE0D6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86968" y="4261104"/>
            <a:ext cx="4946904" cy="288219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C6350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Показатели эффекта для производства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4604187"/>
            <a:ext cx="4946904" cy="1001085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7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Снижение простоя оборудования и число предотвращённых отказов.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Число ложных срабатываний за смену и стоимость реакции на каждое.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Стоимость пропущенного события; срок окупаемости внедрения.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Требования к квалификации персонала и к обслуживанию решения.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153912" y="4114800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355080" y="4261104"/>
            <a:ext cx="4946904" cy="288219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5661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Требование измерительных журналов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604187"/>
            <a:ext cx="4946904" cy="1001085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Оценивается погрешность и неопределённость результата, а не только доля правильных решений. Приводится сопоставление с эталонным средством измерений либо с независимым методом. Условия сравнения методов одинаковы: одни и те же данные, предобработка и протокол оценки.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85800" y="5852160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914400" y="5980176"/>
            <a:ext cx="10360152" cy="34747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Для каждой метрики указано, какое решение принимается по её значению. Метрика, не меняющая решения, из статьи удаляется.</a:t>
            </a:r>
            <a:endParaRPr lang="en-US" sz="11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Первый черновик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Черновик превращает скелет в конкретные формулировки. Детали на этом этапе опускаются.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95528" y="1792224"/>
            <a:ext cx="1453896" cy="47548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Скелет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286000"/>
            <a:ext cx="1453896" cy="71323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Разделы и назначение каждого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691640"/>
            <a:ext cx="182880" cy="1371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05456" y="169164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2615184" y="1792224"/>
            <a:ext cx="1453896" cy="47548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Метод и результаты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15184" y="2286000"/>
            <a:ext cx="1453896" cy="71323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Фактическая часть, пишется первой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1691640"/>
            <a:ext cx="182880" cy="1371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25112" y="169164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434840" y="1792224"/>
            <a:ext cx="1453896" cy="47548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Обсуждение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286000"/>
            <a:ext cx="1453896" cy="71323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Интерпретация, ограничения, отказы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80176" y="1691640"/>
            <a:ext cx="182880" cy="1371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44768" y="169164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F3F8F9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254496" y="1792224"/>
            <a:ext cx="1453896" cy="47548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Введение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2286000"/>
            <a:ext cx="1453896" cy="71323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Пишется после результатов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99832" y="1691640"/>
            <a:ext cx="182880" cy="1371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64424" y="169164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F3F8F9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8074152" y="1792224"/>
            <a:ext cx="1453896" cy="47548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Аннотация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74152" y="2286000"/>
            <a:ext cx="1453896" cy="71323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Сжатие всей статьи, пишется предпоследней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619488" y="1691640"/>
            <a:ext cx="182880" cy="1371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8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784080" y="169164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F3F8F9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9893808" y="1792224"/>
            <a:ext cx="1453896" cy="47548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Заключение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893808" y="2286000"/>
            <a:ext cx="1453896" cy="71323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Итог и продолжение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3291840"/>
            <a:ext cx="5349240" cy="1508760"/>
          </a:xfrm>
          <a:prstGeom prst="roundRect">
            <a:avLst>
              <a:gd name="adj" fmla="val 303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886968" y="3438144"/>
            <a:ext cx="49469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Назначение черновика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86968" y="3796589"/>
            <a:ext cx="4946904" cy="89428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Проверка соответствия результатов заявленным гипотезам.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Проверка полноты: всё необходимое присутствует.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Выявление внутренних противоречий между разделами.</a:t>
            </a:r>
            <a:endParaRPr lang="en-US" sz="1230" dirty="0"/>
          </a:p>
        </p:txBody>
      </p:sp>
      <p:sp>
        <p:nvSpPr>
          <p:cNvPr id="32" name="Shape 30"/>
          <p:cNvSpPr/>
          <p:nvPr/>
        </p:nvSpPr>
        <p:spPr>
          <a:xfrm>
            <a:off x="6153912" y="3291840"/>
            <a:ext cx="5349240" cy="1508760"/>
          </a:xfrm>
          <a:prstGeom prst="roundRect">
            <a:avLst>
              <a:gd name="adj" fmla="val 303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6355080" y="3438144"/>
            <a:ext cx="49469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Правила работы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355080" y="3796589"/>
            <a:ext cx="4946904" cy="89428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Быстрое написание, медленная правка: сначала законченный слабый текст, затем улучшение.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Отсутствующее помечается \todo[]{} с комментарием, а не додумывается.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Числа, которых нет, не подставляются: ставится метка.</a:t>
            </a:r>
            <a:endParaRPr lang="en-US" sz="1230" dirty="0"/>
          </a:p>
        </p:txBody>
      </p:sp>
      <p:sp>
        <p:nvSpPr>
          <p:cNvPr id="35" name="Shape 33"/>
          <p:cNvSpPr/>
          <p:nvPr/>
        </p:nvSpPr>
        <p:spPr>
          <a:xfrm>
            <a:off x="685800" y="5029200"/>
            <a:ext cx="10817352" cy="1188720"/>
          </a:xfrm>
          <a:prstGeom prst="roundRect">
            <a:avLst>
              <a:gd name="adj" fmla="val 3846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914400" y="5138928"/>
            <a:ext cx="10332720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8F3226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Обнаруженное противоречие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Противоречие между гипотезой и результатом фиксируется в тексте, а не устраняется подбором формулировок. Возможные действия: ослабление заявления, дополнительный эксперимент, изменение постановки. Сокрытие противоречия обнаруживается при рецензировании и приводит к отказу.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Аннотация: три схемы построения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Схема выбирается по числу составляющих вклада. Аннотация пишется последней.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3483864" cy="260604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92224"/>
            <a:ext cx="3081528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Схема A: вызов → вклад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42988"/>
            <a:ext cx="3081528" cy="19992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Технический вызов для известных методов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Одно-два предложения о предлагаемом решении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Преимущества решения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Итог эксперимента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2544" y="1645920"/>
            <a:ext cx="3483864" cy="260604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553712" y="1792224"/>
            <a:ext cx="3081528" cy="51864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Схема B: вызов → идея → вклад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365736"/>
            <a:ext cx="3081528" cy="17764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Технический вызов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Одно предложение об идее решения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Одно-два предложения о технической реализации идеи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Преимущества и итог эксперимента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19288" y="1645920"/>
            <a:ext cx="3483864" cy="260604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220456" y="1792224"/>
            <a:ext cx="3081528" cy="51864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Схема C: несколько составляющих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220456" y="2365736"/>
            <a:ext cx="3081528" cy="17764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При необходимости — противопоставление известным методам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Составляющая 1 + её преимущество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Составляющая 2 + её преимущество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Итог эксперимента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480560"/>
            <a:ext cx="5349240" cy="1783080"/>
          </a:xfrm>
          <a:prstGeom prst="roundRect">
            <a:avLst>
              <a:gd name="adj" fmla="val 256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886968" y="4626864"/>
            <a:ext cx="49469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Вопросы до написания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" y="4985309"/>
            <a:ext cx="4946904" cy="116860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Какая техническая проблема решается и почему устоявшегося решения нет.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 чём состоит техническая составляющая вклада.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Почему предложенное работает по существу.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Какое преимущество и какое новое понимание получено.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153912" y="4480560"/>
            <a:ext cx="5349240" cy="1783080"/>
          </a:xfrm>
          <a:prstGeom prst="roundRect">
            <a:avLst>
              <a:gd name="adj" fmla="val 256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355080" y="4626864"/>
            <a:ext cx="49469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Проверка аннотации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4985309"/>
            <a:ext cx="4946904" cy="116860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Задача, вызов, решение и результат распознаются за одно прочтение.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Каждое утверждение подтверждено экспериментом из статьи.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Названия приёмов понятны без обращения к основному тексту.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Ни одно предложение не содержит более одного сообщения.</a:t>
            </a:r>
            <a:endParaRPr lang="en-US" sz="12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Медиаматериалы: рисунки, таблицы, алгоритмы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Каждый элемент имеет назначение и следствие, изложенные в тексте.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3483864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92224"/>
            <a:ext cx="3081528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Два типа графиков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50669"/>
            <a:ext cx="3081528" cy="167152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Иллюстрация: показывает пример данных или работы метода. Утверждение: содержит вывод, который формулируется в подписи и в тексте. График без утверждения и без иллюстративной функции удаляется.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352544" y="1645920"/>
            <a:ext cx="3483864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553712" y="1792224"/>
            <a:ext cx="3081528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Подпись самодостаточна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150669"/>
            <a:ext cx="3081528" cy="167152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Подпись читается без основного текста. Пример: «Рис. 4. Сравнение точности методов X и Y на наборе Z при условии W; штриховая линия — 95 % доверительный интервал; 10 запусков».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019288" y="1645920"/>
            <a:ext cx="3483864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220456" y="1792224"/>
            <a:ext cx="3081528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Требования к оформлению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0456" y="2150669"/>
            <a:ext cx="3081528" cy="167152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Векторный формат (PDF, EPS) для схем и графиков.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Не менее 300 dpi для фотографий.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Минимальный кегль на рисунке после масштабирования — около 8 pt.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Единый стиль всех рисунков статьи.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85800" y="4114800"/>
            <a:ext cx="5349240" cy="2148840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886968" y="4261104"/>
            <a:ext cx="49469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Правила таблиц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" y="4619549"/>
            <a:ext cx="4946904" cy="153436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7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Подпись размещается над таблицей.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Вертикальные линейки не используются; горизонтальные разделяют группы, а не строки (booktabs).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Направление метрики указывается в заголовке: ↑ или ↓; приводятся единицы.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Одинаковое число знаков после запятой в пределах столбца.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Лучшие значения выделяются; приводится ± стандартное отклонение и число запусков.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Одна таблица — одно сообщение.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153912" y="4114800"/>
            <a:ext cx="5349240" cy="2148840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355080" y="4261104"/>
            <a:ext cx="49469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Связь с текстом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4619549"/>
            <a:ext cx="4946904" cy="153436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1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Каждый рисунок и таблица прокомментированы: зачем приведены и что из них следует.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Рисунок не дублирует текст, текст не пересказывает рисунок.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Схема метода (pipeline) и обзорный рисунок создаются до написания раздела метода.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Алгоритм оформляется псевдокодом с указанием вычислительной сложности.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Язык и стиль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Требование к тексту: одно предложение — одно утверждение.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2606040" cy="274320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92224"/>
            <a:ext cx="2203704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Строй предложения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42988"/>
            <a:ext cx="2203704" cy="213640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Короткие простые предложения, ориентир — до 20 слов.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Цепочки придаточных не используются.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Инженерно-академический стиль, не литературный.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3511296" y="1645920"/>
            <a:ext cx="2606040" cy="274320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712464" y="1792224"/>
            <a:ext cx="2203704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Времена и залог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2142988"/>
            <a:ext cx="2203704" cy="213640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1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Факты и описание статьи — настоящее время: Section III describes…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Выполненные действия — прошедшее: We collected…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Активный залог в умеренном объёме: We propose вместо It is proposed by the authors.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336792" y="1645920"/>
            <a:ext cx="2606040" cy="274320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37960" y="1792224"/>
            <a:ext cx="2203704" cy="51864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Точность утверждений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365736"/>
            <a:ext cx="2203704" cy="191365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proves → indicates, suggests.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significantly — только при выполненной статистической проверке.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Числовое утверждение сопровождается условиями измерения.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9162288" y="1645920"/>
            <a:ext cx="2606040" cy="274320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363456" y="1792224"/>
            <a:ext cx="2203704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Частые ошибки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9363456" y="2142988"/>
            <a:ext cx="2203704" cy="213640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Артикли: the measurement и measurement различаются по смыслу.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«to the best of our knowledge» — не более одного раза.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Оценочные формулировки «very good results» не используются.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85800" y="4617720"/>
            <a:ext cx="10817352" cy="1600200"/>
          </a:xfrm>
          <a:prstGeom prst="roundRect">
            <a:avLst>
              <a:gd name="adj" fmla="val 2857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14400" y="4736592"/>
            <a:ext cx="10332720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Связность текста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084064"/>
            <a:ext cx="10332720" cy="105156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fontScale="92500" lnSpcReduction="10000"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Один абзац — одно сообщение; сообщение указано в первом предложении абзаца.</a:t>
            </a:r>
            <a:endParaRPr lang="en-US" sz="12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Между соседними предложениями существует явное отношение: причина, противопоставление, следствие, уточнение, пример.</a:t>
            </a:r>
            <a:endParaRPr lang="en-US" sz="12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Связующие слова используются по назначению: therefore, consequently — следствие; however, in contrast — противопоставление; specifically, for instance — уточнение и пример.</a:t>
            </a:r>
            <a:endParaRPr lang="en-US" sz="12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Термин определяется до первого использования и далее не заменяется синонимом.</a:t>
            </a:r>
            <a:endParaRPr lang="en-US" sz="12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Самопроверка перед подачей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Два инструмента: обратное конспектирование и карта «утверждение — доказательство».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349240" cy="2240280"/>
          </a:xfrm>
          <a:prstGeom prst="roundRect">
            <a:avLst>
              <a:gd name="adj" fmla="val 204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92224"/>
            <a:ext cx="4946904" cy="5029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Обратное конспектирование (reverse outlining)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350008"/>
            <a:ext cx="4946904" cy="142646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Выписывается основное заявление статьи.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Выписывается первое предложение каждого абзаца.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Выписываются доказательства внутри каждого абзаца.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Проверяется соответствие: первое предложение → заявление, доказательство → первое предложение.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Абзац, не отображаемый на заявление, перерабатывается или удаляется.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153912" y="1645920"/>
            <a:ext cx="5349240" cy="2240280"/>
          </a:xfrm>
          <a:prstGeom prst="roundRect">
            <a:avLst>
              <a:gd name="adj" fmla="val 204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355080" y="1792224"/>
            <a:ext cx="4946904" cy="5029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Карта «утверждение — доказательство»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350008"/>
            <a:ext cx="4946904" cy="142646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Для каждого утверждения аннотации и введения записывается строка: утверждение | доказательство (таблица, рисунок, раздел) | статус: подтверждено либо требует доказательства.</a:t>
            </a:r>
            <a:endParaRPr lang="en-US" sz="122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Утверждение со статусом «требует доказательства» либо обеспечивается экспериментом, либо ослабляется, либо удаляется из текста.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85800" y="4069080"/>
            <a:ext cx="10817352" cy="2194560"/>
          </a:xfrm>
          <a:prstGeom prst="roundRect">
            <a:avLst>
              <a:gd name="adj" fmla="val 208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914400" y="4187952"/>
            <a:ext cx="10332720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Пять групп вопросов рецензента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4572000"/>
            <a:ext cx="19933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024128" y="4681728"/>
            <a:ext cx="1773936" cy="2743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Вклад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4974336"/>
            <a:ext cx="1773936" cy="9601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Какое новое знание получает читатель. Разбирается ли значимый случай отказа, а не тривиальный.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72384" y="4572000"/>
            <a:ext cx="19933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3182112" y="4681728"/>
            <a:ext cx="1773936" cy="2743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Ясность изложения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182112" y="4974336"/>
            <a:ext cx="1773936" cy="9601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Воспроизводим ли метод по тексту. Явна ли мотивация каждого блока.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30368" y="4572000"/>
            <a:ext cx="19933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340096" y="4681728"/>
            <a:ext cx="1773936" cy="2743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Сила результата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340096" y="4974336"/>
            <a:ext cx="1773936" cy="9601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Значим ли выигрыш. Устойчив ли он по наборам данных и метрикам.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88352" y="4572000"/>
            <a:ext cx="19933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7498080" y="4681728"/>
            <a:ext cx="1773936" cy="2743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Полнота оценки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4974336"/>
            <a:ext cx="1773936" cy="9601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Есть ли ablation по каждому решению. Включены ли сильнейшие базовые методы.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46336" y="4572000"/>
            <a:ext cx="19933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9656064" y="4681728"/>
            <a:ext cx="1773936" cy="2743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Корректность метода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656064" y="4974336"/>
            <a:ext cx="1773936" cy="9601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Реалистичны ли условия эксперимента. Не требует ли метод перенастройки под каждый случай.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Типовые причины отказа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Список используется как проверочный перед подачей.</a:t>
            </a:r>
            <a:endParaRPr lang="en-US" sz="13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817352" cy="914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6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№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Причина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Предупреждающее действие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Отсутствует сравнение с актуальными методами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менее двух современных базовых методов из обзора плюс наивный вариант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синтетические данные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Реальный стенд или производственные данные; при отсутствии — явное обоснование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Утечка данных в эксперименте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Проверочный список data integrity, хронологическое разбиение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Инкрементальная новизна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Явная формулировка gap и заявленного квадранта новизны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учтены инженерные ограничения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Задержка, память, стоимость, устойчивость к дрейфу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оценена неопределённость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Доверительные интервалы, повторные запуски, бюджет неопределённости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Завышенные утверждения в аннотации и введении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Карта «утверждение — доказательство»; формулировки через indicates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Недостаточно деталей для воспроизведения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Гиперпараметры, версии, аппаратура, открытый код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Отсутствует ablation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 по каждому заявленному решению метода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Подача и работа с рецензиями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Формальные требования проверяются до подачи: отказ по формальным основаниям происходит без рецензирования.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349240" cy="2148840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92224"/>
            <a:ext cx="49469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Cover letter: пять абзацев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50669"/>
            <a:ext cx="4946904" cy="153436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Что направляется: название, тип заявки.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Почему работа соответствует тематике журнала.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Одно заявление статьи в одной фразе.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Подтверждение отсутствия параллельной подачи.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Подтверждение согласия всех соавторов.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153912" y="1645920"/>
            <a:ext cx="5349240" cy="2148840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355080" y="1792224"/>
            <a:ext cx="49469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Формальная проверка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50669"/>
            <a:ext cx="4946904" cy="153436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Соответствие PDF требованиям издательства (IEEE PDF eXpress и аналоги).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ORCID у всех соавторов.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Показатель текстовых совпадений — ориентир ниже 15–20 %.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Раскрытие использования генеративных моделей согласно политике издательства; модель не может быть автором.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10817352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914400" y="4096512"/>
            <a:ext cx="10332720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Ответ на рецензию</a:t>
            </a:r>
            <a:endParaRPr lang="en-US" sz="14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462272"/>
          <a:ext cx="1033272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Замечание рецензента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Ответ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Где изменено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Приводится дословно, с нумерацией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Благодарность; существо выполненного изменения; при несогласии — аргументация с фактами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Раздел, страница, номер строки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Замечание, требующее эксперимента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Описание постановки и результата нового эксперимента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Новая таблица или рисунок с номером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Изменения в тексте выделяются цветом. Вежливая форма сохраняется при любом несогласии: «We appreciate…», «We respectfully disagree because…».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Протоколы рецензирования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Две стороны процесса: как рецензируют присланную работу и как выполняется внутреннее рецензирование до подачи.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3483864" cy="2834640"/>
          </a:xfrm>
          <a:prstGeom prst="roundRect">
            <a:avLst>
              <a:gd name="adj" fmla="val 161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92224"/>
            <a:ext cx="3081528" cy="51864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Как устроено рецензирование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365736"/>
            <a:ext cx="3081528" cy="20050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Схемы: одностороннее и двустороннее слепое, открытое рецензирование.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Два-три рецензента; редактор принимает итоговое решение.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Решения: reject, major revision, minor revision, accept.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Срок первого цикла в инженерных журналах: ориентир 1–4 месяца.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645920"/>
            <a:ext cx="3483864" cy="2834640"/>
          </a:xfrm>
          <a:prstGeom prst="roundRect">
            <a:avLst>
              <a:gd name="adj" fmla="val 161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553712" y="1792224"/>
            <a:ext cx="3081528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Структура рецензии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142988"/>
            <a:ext cx="3081528" cy="22278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1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Краткое изложение работы своими словами: проверка того, что работа понята.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Соответствие тематике журнала.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Major comments: замечания, влияющие на решение, каждое с обоснованием.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Minor comments: правки текста и оформления.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Рекомендация с указанием условий её изменения.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19288" y="1645920"/>
            <a:ext cx="3483864" cy="2834640"/>
          </a:xfrm>
          <a:prstGeom prst="roundRect">
            <a:avLst>
              <a:gd name="adj" fmla="val 161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220456" y="1792224"/>
            <a:ext cx="3081528" cy="29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Этические требования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220456" y="2142988"/>
            <a:ext cx="3081528" cy="222784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Рукопись конфиденциальна; передача третьим лицам и внешним сервисам, включая ИИ, не допускается.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Конфликт интересов заявляется до принятия работы к рецензированию.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Требование цитировать собственные работы рецензента недопустимо.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Замечание формулируется по тексту, а не по личности автора.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4663440"/>
            <a:ext cx="10817352" cy="1645920"/>
          </a:xfrm>
          <a:prstGeom prst="roundRect">
            <a:avLst>
              <a:gd name="adj" fmla="val 277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14400" y="4773168"/>
            <a:ext cx="10332720" cy="292608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Внутреннее рецензирование до подачи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fontScale="92500"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Работа читается по пяти группам вопросов: вклад, ясность изложения, сила результата, полнота оценки, корректность метода.</a:t>
            </a:r>
            <a:endParaRPr lang="en-US" sz="122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Каждый пункт помечается: пройден, требует правки, требует нового эксперимента. Правка выполняется до подачи.</a:t>
            </a:r>
            <a:endParaRPr lang="en-US" sz="122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Каждое замечание сопровождается предлагаемым действием; замечание без действия не засчитывается.</a:t>
            </a:r>
            <a:endParaRPr lang="en-US" sz="122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Замечания, снимаемые очевидным инженерным соображением, не выносятся: они расходуют время и обесценивают остальные.</a:t>
            </a:r>
            <a:endParaRPr lang="en-US" sz="12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Использование ИИ-агентов при работе над статьёй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Агент применяется к проверяемым операциям. Ответственность за текст и за результаты несут авторы.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349240" cy="2606040"/>
          </a:xfrm>
          <a:prstGeom prst="roundRect">
            <a:avLst>
              <a:gd name="adj" fmla="val 1754"/>
            </a:avLst>
          </a:prstGeom>
          <a:solidFill>
            <a:srgbClr val="E9F2EE"/>
          </a:solidFill>
          <a:ln w="12700">
            <a:solidFill>
              <a:srgbClr val="CBE0D6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86968" y="1792224"/>
            <a:ext cx="49469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C6350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Где применение оправдано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50669"/>
            <a:ext cx="4946904" cy="199156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1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Структурирование найденной литературы и заполнение таблицы сравнения по заданной форме.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Поиск дефектов постановки эксперимента: утечки, некорректное разбиение, несоответствие метрик задаче.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Генерация вспомогательного кода, скриптов оформления таблиц и рисунков.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Вычитка стиля, времён, артиклей; проверка связности абзацев.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Предрецензирование по проверочному списку и черновик ответа рецензенту.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153912" y="1645920"/>
            <a:ext cx="5349240" cy="2606040"/>
          </a:xfrm>
          <a:prstGeom prst="roundRect">
            <a:avLst>
              <a:gd name="adj" fmla="val 1754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355080" y="1792224"/>
            <a:ext cx="4946904" cy="303581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F3226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Где применение недопустимо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50669"/>
            <a:ext cx="4946904" cy="1991563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1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Формирование списка литературы: ссылки генерируются правдоподобно и не существуют. Каждая ссылка проверяется по DOI.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Подстановка чисел, результатов и характеристик оборудования.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Формулировка новизны и вклада вместо автора: заявление принадлежит автору.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Загрузка чужой рукописи при рецензировании: нарушение конфиденциальности.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Публикация текста без построчной проверки автором.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85800" y="4434840"/>
            <a:ext cx="5349240" cy="1874520"/>
          </a:xfrm>
          <a:prstGeom prst="roundRect">
            <a:avLst>
              <a:gd name="adj" fmla="val 2439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86968" y="4581144"/>
            <a:ext cx="4946904" cy="288219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Правила работы с агентом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" y="4924227"/>
            <a:ext cx="4946904" cy="1275405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Режимы задаются явно: AUDIT, COACH, DRAFT, FLOW, CLAIM-MAP, REVIEW, GAP, LEAKAGE, RESPONSE.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Отсутствующий источник помечается [REF: описание искомой работы], отсутствующее число — [TODO].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Правки выдаются парами «было → стало» с указанием причины.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Полный промпт и мини-промпты приведены в файле guide_and_prompt.md.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153912" y="4434840"/>
            <a:ext cx="5349240" cy="1874520"/>
          </a:xfrm>
          <a:prstGeom prst="roundRect">
            <a:avLst>
              <a:gd name="adj" fmla="val 2439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355080" y="4581144"/>
            <a:ext cx="4946904" cy="288219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5661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Политика издательств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4924227"/>
            <a:ext cx="4946904" cy="1275405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7500" lnSpcReduction="20000"/>
          </a:bodyPr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Использование генеративных моделей раскрывается в тексте статьи согласно требованиям издательства.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Модель не может быть автором и не несёт ответственности за содержание.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Автор отвечает за корректность всех формулировок, ссылок и чисел, включая полученные от модели.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Требования различаются между издательствами и обновляются: проверяются на дату подачи.</a:t>
            </a:r>
            <a:endParaRPr lang="en-US" sz="11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C7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Написание статьи через спецификацию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Спецификация — документ, фиксирующий заявление и состав доказательств до написания текста.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486400" cy="3977640"/>
          </a:xfrm>
          <a:prstGeom prst="roundRect">
            <a:avLst>
              <a:gd name="adj" fmla="val 1149"/>
            </a:avLst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14400" y="1755648"/>
            <a:ext cx="5029200" cy="2743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8FC0C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Состав спецификации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03120"/>
            <a:ext cx="5029200" cy="338328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8FC0CB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statement:</a:t>
            </a: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  заявление одной фразой
</a:t>
            </a:r>
            <a:r>
              <a:rPr lang="en-US" sz="1350" dirty="0">
                <a:solidFill>
                  <a:srgbClr val="8FC0CB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novelty_quadrant:</a:t>
            </a: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  известные методы → новая задача
</a:t>
            </a:r>
            <a:r>
              <a:rPr lang="en-US" sz="1350" dirty="0">
                <a:solidFill>
                  <a:srgbClr val="8FC0CB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journal:</a:t>
            </a: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  целевой журнал, тип заявки
</a:t>
            </a:r>
            <a:r>
              <a:rPr lang="en-US" sz="1350" dirty="0">
                <a:solidFill>
                  <a:srgbClr val="8FC0CB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contributions:</a:t>
            </a: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  1..4 проверяемых пункта
</a:t>
            </a:r>
            <a:r>
              <a:rPr lang="en-US" sz="1350" dirty="0">
                <a:solidFill>
                  <a:srgbClr val="8FC0CB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claims_map:</a:t>
            </a: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  заявление → подтверждающий эксперимент
</a:t>
            </a:r>
            <a:r>
              <a:rPr lang="en-US" sz="1350" dirty="0">
                <a:solidFill>
                  <a:srgbClr val="8FC0CB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notation:</a:t>
            </a: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  таблица обозначений
</a:t>
            </a:r>
            <a:r>
              <a:rPr lang="en-US" sz="1350" dirty="0">
                <a:solidFill>
                  <a:srgbClr val="8FC0CB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figures:</a:t>
            </a: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  F1: сообщение рисунка; F2: сообщение
</a:t>
            </a:r>
            <a:r>
              <a:rPr lang="en-US" sz="1350" dirty="0">
                <a:solidFill>
                  <a:srgbClr val="8FC0CB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tables:</a:t>
            </a: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  T1: сообщение таблицы
</a:t>
            </a:r>
            <a:r>
              <a:rPr lang="en-US" sz="1350" dirty="0">
                <a:solidFill>
                  <a:srgbClr val="8FC0CB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sections:</a:t>
            </a: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  раздел → назначение одной фразой
</a:t>
            </a:r>
            <a:r>
              <a:rPr lang="en-US" sz="1350" dirty="0">
                <a:solidFill>
                  <a:srgbClr val="8FC0CB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open_items:</a:t>
            </a: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  перечень \todo с ответственными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5148072" cy="1234440"/>
          </a:xfrm>
          <a:prstGeom prst="roundRect">
            <a:avLst>
              <a:gd name="adj" fmla="val 370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56248" y="1792224"/>
            <a:ext cx="4745736" cy="288219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Порядок работы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2135307"/>
            <a:ext cx="4745736" cy="635325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Спецификация согласуется соавторами до написания текста. Текст пишется по спецификации. Изменение заявления вносится сначала в спецификацию, затем в текст. Спецификация передаётся ИИ-ассистенту как контекст.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355080" y="3017520"/>
            <a:ext cx="5148072" cy="1234440"/>
          </a:xfrm>
          <a:prstGeom prst="roundRect">
            <a:avLst>
              <a:gd name="adj" fmla="val 370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56248" y="3163824"/>
            <a:ext cx="4745736" cy="288219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Что это даёт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56248" y="3506907"/>
            <a:ext cx="4745736" cy="635325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Обсуждение ведётся на уровне заявлений, а не абзацев. Расхождение между текстом и результатами обнаруживается на спецификации до написания. Сокращается число переписываний введения.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355080" y="4389120"/>
            <a:ext cx="5148072" cy="1234440"/>
          </a:xfrm>
          <a:prstGeom prst="roundRect">
            <a:avLst>
              <a:gd name="adj" fmla="val 370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556248" y="4535424"/>
            <a:ext cx="4745736" cy="288219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Ограничение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56248" y="4878507"/>
            <a:ext cx="4745736" cy="635325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85000"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Спецификация требует сопровождения: устаревшая спецификация хуже её отсутствия. При расхождении спецификации и результатов эксперимента приоритет имеют результаты.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85800" y="5760720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86968" y="5907024"/>
            <a:ext cx="10415016" cy="310896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70000" lnSpcReduction="2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Спецификация заменяет устные договорённости в коллективной работе и служит основанием для проверки: каждая строка claims_map либо подтверждена экспериментом, либо снята.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113D49"/>
          </a:solidFill>
          <a:ln w="12700">
            <a:solidFill>
              <a:srgbClr val="113D49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52238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Итоговый проверочный список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9EC6D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Каждый пункт проверяется до подачи. Отрицательный ответ означает возврат к соответствующему этапу.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2606040" cy="3017520"/>
          </a:xfrm>
          <a:prstGeom prst="roundRect">
            <a:avLst>
              <a:gd name="adj" fmla="val 1754"/>
            </a:avLst>
          </a:prstGeom>
          <a:solidFill>
            <a:srgbClr val="10404E"/>
          </a:solidFill>
          <a:ln w="12700">
            <a:solidFill>
              <a:srgbClr val="1E6274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1005840" y="1828800"/>
            <a:ext cx="2240280" cy="53035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8FC0CB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Концепция и заявление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395728"/>
            <a:ext cx="2240280" cy="219456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Тест одной фразы пройден без пропусков.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Квадрант новизны заявлен явно.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Журнал выбран, требования к эксперименту учтены.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Цель сформулирована одной фразой.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3648456" y="1691640"/>
            <a:ext cx="2606040" cy="3017520"/>
          </a:xfrm>
          <a:prstGeom prst="roundRect">
            <a:avLst>
              <a:gd name="adj" fmla="val 1754"/>
            </a:avLst>
          </a:prstGeom>
          <a:solidFill>
            <a:srgbClr val="10404E"/>
          </a:solidFill>
          <a:ln w="12700">
            <a:solidFill>
              <a:srgbClr val="1E6274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3831336" y="1828800"/>
            <a:ext cx="2240280" cy="53035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8FC0CB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Обзор и постановка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31336" y="2395728"/>
            <a:ext cx="2240280" cy="219456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Протокол поиска зафиксирован.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Таблица сравнения работ построена.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Gap выражен через допущения конкретных работ.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Таблица обозначений составлена.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473952" y="1691640"/>
            <a:ext cx="2606040" cy="3017520"/>
          </a:xfrm>
          <a:prstGeom prst="roundRect">
            <a:avLst>
              <a:gd name="adj" fmla="val 1754"/>
            </a:avLst>
          </a:prstGeom>
          <a:solidFill>
            <a:srgbClr val="10404E"/>
          </a:solidFill>
          <a:ln w="12700">
            <a:solidFill>
              <a:srgbClr val="1E6274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656832" y="1828800"/>
            <a:ext cx="2240280" cy="53035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8FC0CB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Эксперимент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56832" y="2395728"/>
            <a:ext cx="2240280" cy="219456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10000"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Разбиение хронологическое, утечки исключены.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Включены актуальные и наивный базовые методы.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Ablation по каждому решению метода.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Приведены ресурсные показатели и неопределённость.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9299448" y="1691640"/>
            <a:ext cx="2606040" cy="3017520"/>
          </a:xfrm>
          <a:prstGeom prst="roundRect">
            <a:avLst>
              <a:gd name="adj" fmla="val 1754"/>
            </a:avLst>
          </a:prstGeom>
          <a:solidFill>
            <a:srgbClr val="10404E"/>
          </a:solidFill>
          <a:ln w="12700">
            <a:solidFill>
              <a:srgbClr val="1E6274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9482328" y="1828800"/>
            <a:ext cx="2240280" cy="530352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8FC0CB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Текст и подача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482328" y="2395728"/>
            <a:ext cx="2240280" cy="219456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>
            <a:normAutofit fontScale="92500" lnSpcReduction="10000"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Карта «утверждение — доказательство» без незакрытых строк.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Подписи рисунков самодостаточны.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Обратное конспектирование выполнено.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4F0F3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Cover letter и формальные требования проверены.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822960" y="4937760"/>
            <a:ext cx="10543032" cy="1234440"/>
          </a:xfrm>
          <a:prstGeom prst="roundRect">
            <a:avLst>
              <a:gd name="adj" fmla="val 3704"/>
            </a:avLst>
          </a:prstGeom>
          <a:solidFill>
            <a:srgbClr val="13495A"/>
          </a:solidFill>
          <a:ln w="12700">
            <a:solidFill>
              <a:srgbClr val="1E6274"/>
            </a:solidFill>
            <a:prstDash val="solid"/>
          </a:ln>
        </p:spPr>
        <p:txBody>
          <a:bodyPr wrap="square" lIns="76200" tIns="38100" rIns="76200" bIns="38100">
            <a:normAutofit/>
          </a:bodyPr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1051560" y="5047488"/>
            <a:ext cx="10058400" cy="27432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8FC0C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Сопровождающий материал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349240"/>
            <a:ext cx="10058400" cy="685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6E9E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Файл guide_and_prompt.md содержит развёрнутый гайд по всем этапам, включая наукометрию, виды статей, протоколы написания и обзора, работу с ИИ-агентами и спецификацию статьи, полный промпт для ассистента (режимы AUDIT, COACH, DRAFT, FLOW, CLAIM-MAP, REVIEW, GAP, LEAKAGE, RESPONSE) и мини-промпты для отдельных задач.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411480" cy="3200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238"/>
                </a:solidFill>
                <a:latin typeface="Arial"/>
              </a:rPr>
              <a:t>Статья 2026: не текст, а пакет доказательств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13232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26C7E"/>
                </a:solidFill>
                <a:latin typeface="Arial"/>
              </a:rPr>
              <a:t>Рукопись должна быть связана с данными, кодом, медиаматериалами и журналом решений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42415"/>
            <a:ext cx="10561320" cy="274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3154680" y="3154680"/>
            <a:ext cx="146304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95160" y="3154680"/>
            <a:ext cx="146304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806440" y="1600200"/>
            <a:ext cx="0" cy="548640"/>
          </a:xfrm>
          <a:prstGeom prst="line">
            <a:avLst/>
          </a:prstGeom>
          <a:ln w="2540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06440" y="4160520"/>
            <a:ext cx="0" cy="640080"/>
          </a:xfrm>
          <a:prstGeom prst="line">
            <a:avLst/>
          </a:prstGeom>
          <a:ln w="2540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17720" y="2606040"/>
            <a:ext cx="2377440" cy="10972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ОДНО</a:t>
            </a:r>
          </a:p>
          <a:p>
            <a:r>
              <a:t>ЗАЯВЛЕНИЕ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26517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600" b="1">
                <a:solidFill>
                  <a:srgbClr val="232B3B"/>
                </a:solidFill>
                <a:latin typeface="Arial"/>
              </a:rPr>
              <a:t>Рукопись</a:t>
            </a:r>
          </a:p>
          <a:p>
            <a:r>
              <a:rPr sz="1600" b="1">
                <a:solidFill>
                  <a:srgbClr val="232B3B"/>
                </a:solidFill>
                <a:latin typeface="Arial"/>
              </a:rPr>
              <a:t>• постановка</a:t>
            </a:r>
          </a:p>
          <a:p>
            <a:r>
              <a:rPr sz="1600" b="1">
                <a:solidFill>
                  <a:srgbClr val="232B3B"/>
                </a:solidFill>
                <a:latin typeface="Arial"/>
              </a:rPr>
              <a:t>• метод</a:t>
            </a:r>
          </a:p>
          <a:p>
            <a:r>
              <a:rPr sz="1600" b="1">
                <a:solidFill>
                  <a:srgbClr val="232B3B"/>
                </a:solidFill>
                <a:latin typeface="Arial"/>
              </a:rPr>
              <a:t>• результаты</a:t>
            </a:r>
          </a:p>
          <a:p>
            <a:r>
              <a:rPr sz="1600" b="1">
                <a:solidFill>
                  <a:srgbClr val="232B3B"/>
                </a:solidFill>
                <a:latin typeface="Arial"/>
              </a:rPr>
              <a:t>• ограничения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331720"/>
            <a:ext cx="2743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600" b="1">
                <a:solidFill>
                  <a:srgbClr val="232B3B"/>
                </a:solidFill>
                <a:latin typeface="Arial"/>
              </a:rPr>
              <a:t>Воспроизводимость</a:t>
            </a:r>
          </a:p>
          <a:p>
            <a:r>
              <a:rPr sz="1600" b="1">
                <a:solidFill>
                  <a:srgbClr val="232B3B"/>
                </a:solidFill>
                <a:latin typeface="Arial"/>
              </a:rPr>
              <a:t>• данные/доступ</a:t>
            </a:r>
          </a:p>
          <a:p>
            <a:r>
              <a:rPr sz="1600" b="1">
                <a:solidFill>
                  <a:srgbClr val="232B3B"/>
                </a:solidFill>
                <a:latin typeface="Arial"/>
              </a:rPr>
              <a:t>• код/версии</a:t>
            </a:r>
          </a:p>
          <a:p>
            <a:r>
              <a:rPr sz="1600" b="1">
                <a:solidFill>
                  <a:srgbClr val="232B3B"/>
                </a:solidFill>
                <a:latin typeface="Arial"/>
              </a:rPr>
              <a:t>• параметры</a:t>
            </a:r>
          </a:p>
          <a:p>
            <a:r>
              <a:rPr sz="1600" b="1">
                <a:solidFill>
                  <a:srgbClr val="232B3B"/>
                </a:solidFill>
                <a:latin typeface="Arial"/>
              </a:rPr>
              <a:t>• DOI/архив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051560"/>
            <a:ext cx="347472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C8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500" b="0">
                <a:solidFill>
                  <a:srgbClr val="232B3B"/>
                </a:solidFill>
                <a:latin typeface="Arial"/>
              </a:rPr>
              <a:t>Медиа: схема метода, главная таблица, ablation-графики, алгоритм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4709160"/>
            <a:ext cx="347472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C8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500" b="0">
                <a:solidFill>
                  <a:srgbClr val="232B3B"/>
                </a:solidFill>
                <a:latin typeface="Arial"/>
              </a:rPr>
              <a:t>AI-log: промпты, режимы, проверка ссылок, раскрытие использования 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806440"/>
            <a:ext cx="10515600" cy="32004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/>
            <a:r>
              <a:rPr sz="1500" b="1">
                <a:solidFill>
                  <a:srgbClr val="152238"/>
                </a:solidFill>
                <a:latin typeface="Arial"/>
              </a:rPr>
              <a:t>Практический вывод: писать нужно не “текст”, а связанный комплект утверждений, доказательств и артефактов.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411480" cy="3200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238"/>
                </a:solidFill>
                <a:latin typeface="Arial"/>
              </a:rPr>
              <a:t>Протокол работы с ИИ-ассистентом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13232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26C7E"/>
                </a:solidFill>
                <a:latin typeface="Arial"/>
              </a:rPr>
              <a:t>ИИ полезен там, где результат можно проверить быстрее, чем сделать вручную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42415"/>
            <a:ext cx="10561320" cy="274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2011680" y="2834640"/>
            <a:ext cx="320040" cy="0"/>
          </a:xfrm>
          <a:prstGeom prst="line">
            <a:avLst/>
          </a:prstGeom>
          <a:ln w="25400">
            <a:solidFill>
              <a:srgbClr val="62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40480" y="2834640"/>
            <a:ext cx="320040" cy="0"/>
          </a:xfrm>
          <a:prstGeom prst="line">
            <a:avLst/>
          </a:prstGeom>
          <a:ln w="25400">
            <a:solidFill>
              <a:srgbClr val="62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0" y="2834640"/>
            <a:ext cx="320040" cy="0"/>
          </a:xfrm>
          <a:prstGeom prst="line">
            <a:avLst/>
          </a:prstGeom>
          <a:ln w="25400">
            <a:solidFill>
              <a:srgbClr val="62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98080" y="2834640"/>
            <a:ext cx="320040" cy="0"/>
          </a:xfrm>
          <a:prstGeom prst="line">
            <a:avLst/>
          </a:prstGeom>
          <a:ln w="25400">
            <a:solidFill>
              <a:srgbClr val="62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326880" y="2834640"/>
            <a:ext cx="320040" cy="0"/>
          </a:xfrm>
          <a:prstGeom prst="line">
            <a:avLst/>
          </a:prstGeom>
          <a:ln w="25400">
            <a:solidFill>
              <a:srgbClr val="62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2331720"/>
            <a:ext cx="141732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1600200" cy="6858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1200" b="0">
                <a:solidFill>
                  <a:srgbClr val="232B3B"/>
                </a:solidFill>
                <a:latin typeface="Arial"/>
              </a:rPr>
              <a:t>спецификация</a:t>
            </a:r>
          </a:p>
          <a:p>
            <a:r>
              <a:t>заявление, вклад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2331720"/>
            <a:ext cx="1417320" cy="1005840"/>
          </a:xfrm>
          <a:prstGeom prst="round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429000"/>
            <a:ext cx="1600200" cy="6858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1200" b="0">
                <a:solidFill>
                  <a:srgbClr val="232B3B"/>
                </a:solidFill>
                <a:latin typeface="Arial"/>
              </a:rPr>
              <a:t>проверка</a:t>
            </a:r>
          </a:p>
          <a:p>
            <a:r>
              <a:t>дырок и рисков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331720"/>
            <a:ext cx="141732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429000"/>
            <a:ext cx="16002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232B3B"/>
                </a:solidFill>
                <a:latin typeface="Arial"/>
              </a:rPr>
              <a:t>черновик</a:t>
            </a:r>
          </a:p>
          <a:p>
            <a:r>
              <a:t>по секциям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331720"/>
            <a:ext cx="1417320" cy="1005840"/>
          </a:xfrm>
          <a:prstGeom prst="round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429000"/>
            <a:ext cx="16002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232B3B"/>
                </a:solidFill>
                <a:latin typeface="Arial"/>
              </a:rPr>
              <a:t>связность</a:t>
            </a:r>
          </a:p>
          <a:p>
            <a:r>
              <a:t>абзацев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331720"/>
            <a:ext cx="1417320" cy="1005840"/>
          </a:xfrm>
          <a:prstGeom prst="round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429000"/>
            <a:ext cx="16002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232B3B"/>
                </a:solidFill>
                <a:latin typeface="Arial"/>
              </a:rPr>
              <a:t>предрецензия</a:t>
            </a:r>
          </a:p>
          <a:p>
            <a:r>
              <a:t>как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2331720"/>
            <a:ext cx="1417320" cy="1005840"/>
          </a:xfrm>
          <a:prstGeom prst="round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3429000"/>
            <a:ext cx="16002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232B3B"/>
                </a:solidFill>
                <a:latin typeface="Arial"/>
              </a:rPr>
              <a:t>ответ</a:t>
            </a:r>
          </a:p>
          <a:p>
            <a:r>
              <a:t>рецензенту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1234440"/>
            <a:ext cx="3474720" cy="640080"/>
          </a:xfrm>
          <a:prstGeom prst="roundRect">
            <a:avLst/>
          </a:prstGeom>
          <a:solidFill>
            <a:srgbClr val="F5F7FA"/>
          </a:solidFill>
          <a:ln>
            <a:solidFill>
              <a:srgbClr val="D7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 fontScale="92500"/>
          </a:bodyPr>
          <a:lstStyle/>
          <a:p>
            <a:r>
              <a:rPr sz="1500" b="1">
                <a:solidFill>
                  <a:srgbClr val="232B3B"/>
                </a:solidFill>
                <a:latin typeface="Arial"/>
              </a:rPr>
              <a:t>Вход: спецификация статьи + факты + таблицы + стиль журнала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1234440"/>
            <a:ext cx="3474720" cy="640080"/>
          </a:xfrm>
          <a:prstGeom prst="roundRect">
            <a:avLst/>
          </a:prstGeom>
          <a:solidFill>
            <a:srgbClr val="F5F7FA"/>
          </a:solidFill>
          <a:ln>
            <a:solidFill>
              <a:srgbClr val="D7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 lnSpcReduction="10000"/>
          </a:bodyPr>
          <a:lstStyle/>
          <a:p>
            <a:r>
              <a:rPr sz="1500" b="1">
                <a:solidFill>
                  <a:srgbClr val="232B3B"/>
                </a:solidFill>
                <a:latin typeface="Arial"/>
              </a:rPr>
              <a:t>Выход: правки “было → стало”, claims-map и список TODO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754880"/>
            <a:ext cx="98755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600" b="1">
                <a:solidFill>
                  <a:srgbClr val="232B3B"/>
                </a:solidFill>
                <a:latin typeface="Arial"/>
              </a:rPr>
              <a:t>Запреты: не генерировать ссылки, не подставлять числа, не придумывать новизну, не заменять проверку автора.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411480" cy="3200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238"/>
                </a:solidFill>
                <a:latin typeface="Arial"/>
              </a:rPr>
              <a:t>Какие медиаматериалы нужны инженерной статье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13232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26C7E"/>
                </a:solidFill>
                <a:latin typeface="Arial"/>
              </a:rPr>
              <a:t>Каждый рисунок должен не украшать, а закрывать конкретный вопрос рецензента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42415"/>
            <a:ext cx="10561320" cy="274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822960" cy="50292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141732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400" b="0">
                <a:solidFill>
                  <a:srgbClr val="232B3B"/>
                </a:solidFill>
                <a:latin typeface="Arial"/>
              </a:rPr>
              <a:t>Обзорная схема объекта</a:t>
            </a:r>
          </a:p>
          <a:p>
            <a:r>
              <a:rPr sz="1400" b="0">
                <a:solidFill>
                  <a:srgbClr val="232B3B"/>
                </a:solidFill>
                <a:latin typeface="Arial"/>
              </a:rPr>
              <a:t>что измеряется и где границы системы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822960" cy="50292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41732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400" b="0">
                <a:solidFill>
                  <a:srgbClr val="232B3B"/>
                </a:solidFill>
                <a:latin typeface="Arial"/>
              </a:rPr>
              <a:t>Pipeline метода</a:t>
            </a:r>
          </a:p>
          <a:p>
            <a:r>
              <a:rPr sz="1400" b="0">
                <a:solidFill>
                  <a:srgbClr val="232B3B"/>
                </a:solidFill>
                <a:latin typeface="Arial"/>
              </a:rPr>
              <a:t>как вход превращается в решение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822960" cy="502920"/>
          </a:xfrm>
          <a:prstGeom prst="roundRect">
            <a:avLst/>
          </a:prstGeom>
          <a:solidFill>
            <a:srgbClr val="3DA05F"/>
          </a:solidFill>
          <a:ln>
            <a:solidFill>
              <a:srgbClr val="3DA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41732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400" b="0">
                <a:solidFill>
                  <a:srgbClr val="232B3B"/>
                </a:solidFill>
                <a:latin typeface="Arial"/>
              </a:rPr>
              <a:t>Главная таблица</a:t>
            </a:r>
          </a:p>
          <a:p>
            <a:r>
              <a:rPr sz="1400" b="0">
                <a:solidFill>
                  <a:srgbClr val="232B3B"/>
                </a:solidFill>
                <a:latin typeface="Arial"/>
              </a:rPr>
              <a:t>кто лучше и при каких условиях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822960" cy="50292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365760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400" b="0">
                <a:solidFill>
                  <a:srgbClr val="232B3B"/>
                </a:solidFill>
                <a:latin typeface="Arial"/>
              </a:rPr>
              <a:t>Ablation / sensitivity</a:t>
            </a:r>
          </a:p>
          <a:p>
            <a:r>
              <a:rPr sz="1400" b="0">
                <a:solidFill>
                  <a:srgbClr val="232B3B"/>
                </a:solidFill>
                <a:latin typeface="Arial"/>
              </a:rPr>
              <a:t>какой блок даёт выигрыш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657600"/>
            <a:ext cx="822960" cy="50292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365760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400" b="0">
                <a:solidFill>
                  <a:srgbClr val="232B3B"/>
                </a:solidFill>
                <a:latin typeface="Arial"/>
              </a:rPr>
              <a:t>Failure modes</a:t>
            </a:r>
          </a:p>
          <a:p>
            <a:r>
              <a:rPr sz="1400" b="0">
                <a:solidFill>
                  <a:srgbClr val="232B3B"/>
                </a:solidFill>
                <a:latin typeface="Arial"/>
              </a:rPr>
              <a:t>где метод ломается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657600"/>
            <a:ext cx="822960" cy="502920"/>
          </a:xfrm>
          <a:prstGeom prst="roundRect">
            <a:avLst/>
          </a:prstGeom>
          <a:solidFill>
            <a:srgbClr val="3DA05F"/>
          </a:solidFill>
          <a:ln>
            <a:solidFill>
              <a:srgbClr val="3DA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Alg.1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365760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400" b="0">
                <a:solidFill>
                  <a:srgbClr val="232B3B"/>
                </a:solidFill>
                <a:latin typeface="Arial"/>
              </a:rPr>
              <a:t>Псевдокод</a:t>
            </a:r>
          </a:p>
          <a:p>
            <a:r>
              <a:rPr sz="1400" b="0">
                <a:solidFill>
                  <a:srgbClr val="232B3B"/>
                </a:solidFill>
                <a:latin typeface="Arial"/>
              </a:rPr>
              <a:t>как воспроизвести процедуру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60720"/>
            <a:ext cx="10058400" cy="32004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ctr"/>
            <a:r>
              <a:rPr sz="1500" b="1">
                <a:solidFill>
                  <a:srgbClr val="152238"/>
                </a:solidFill>
                <a:latin typeface="Arial"/>
              </a:rPr>
              <a:t>Минимум для сильной статьи: схема метода + таблица результатов + ablation + честный рисунок режима отказа.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411480" cy="3200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238"/>
                </a:solidFill>
                <a:latin typeface="Arial"/>
              </a:rPr>
              <a:t>Запрос к ИИ должен быть спецификацией, а не просьбой “напиши статью”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13232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26C7E"/>
                </a:solidFill>
                <a:latin typeface="Arial"/>
              </a:rPr>
              <a:t>Чем строже вход, тем меньше фантазий и тем легче проверка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42415"/>
            <a:ext cx="10561320" cy="274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292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600" b="0">
                <a:solidFill>
                  <a:srgbClr val="232B3B"/>
                </a:solidFill>
                <a:latin typeface="Arial"/>
              </a:rPr>
              <a:t>1. Роль: редактор инженерной статьи IEEE.</a:t>
            </a:r>
          </a:p>
          <a:p>
            <a:r>
              <a:rPr sz="1600" b="0">
                <a:solidFill>
                  <a:srgbClr val="232B3B"/>
                </a:solidFill>
                <a:latin typeface="Arial"/>
              </a:rPr>
              <a:t>2. Режим: AUDIT / DRAFT / FLOW / REVIEW.</a:t>
            </a:r>
          </a:p>
          <a:p>
            <a:r>
              <a:rPr sz="1600" b="0">
                <a:solidFill>
                  <a:srgbClr val="232B3B"/>
                </a:solidFill>
                <a:latin typeface="Arial"/>
              </a:rPr>
              <a:t>3. Журнал и тип статьи.</a:t>
            </a:r>
          </a:p>
          <a:p>
            <a:r>
              <a:rPr sz="1600" b="0">
                <a:solidFill>
                  <a:srgbClr val="232B3B"/>
                </a:solidFill>
                <a:latin typeface="Arial"/>
              </a:rPr>
              <a:t>4. Statement одной фразой.</a:t>
            </a:r>
          </a:p>
          <a:p>
            <a:r>
              <a:rPr sz="1600" b="0">
                <a:solidFill>
                  <a:srgbClr val="232B3B"/>
                </a:solidFill>
                <a:latin typeface="Arial"/>
              </a:rPr>
              <a:t>5. Contributions 1–4 пункта.</a:t>
            </a:r>
          </a:p>
          <a:p>
            <a:r>
              <a:rPr sz="1600" b="0">
                <a:solidFill>
                  <a:srgbClr val="232B3B"/>
                </a:solidFill>
                <a:latin typeface="Arial"/>
              </a:rPr>
              <a:t>6. Данные, разбиение, метрики.</a:t>
            </a:r>
          </a:p>
          <a:p>
            <a:r>
              <a:rPr sz="1600" b="0">
                <a:solidFill>
                  <a:srgbClr val="232B3B"/>
                </a:solidFill>
                <a:latin typeface="Arial"/>
              </a:rPr>
              <a:t>7. Что менять запрещено.</a:t>
            </a:r>
          </a:p>
          <a:p>
            <a:r>
              <a:rPr sz="1600" b="0">
                <a:solidFill>
                  <a:srgbClr val="232B3B"/>
                </a:solidFill>
                <a:latin typeface="Arial"/>
              </a:rPr>
              <a:t>8. Формат ответа: было → стало → причина.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4663440" cy="4206240"/>
          </a:xfrm>
          <a:prstGeom prst="roundRect">
            <a:avLst/>
          </a:prstGeom>
          <a:solidFill>
            <a:srgbClr val="F5F7FA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600" b="0">
                <a:solidFill>
                  <a:srgbClr val="232B3B"/>
                </a:solidFill>
                <a:latin typeface="Arial"/>
              </a:rPr>
              <a:t>Проверять отдельно:</a:t>
            </a:r>
          </a:p>
          <a:p>
            <a:r>
              <a:rPr sz="1600" b="0">
                <a:solidFill>
                  <a:srgbClr val="232B3B"/>
                </a:solidFill>
                <a:latin typeface="Arial"/>
              </a:rPr>
              <a:t>• соответствие scope журнала;</a:t>
            </a:r>
          </a:p>
          <a:p>
            <a:r>
              <a:rPr sz="1600" b="0">
                <a:solidFill>
                  <a:srgbClr val="232B3B"/>
                </a:solidFill>
                <a:latin typeface="Arial"/>
              </a:rPr>
              <a:t>• gap через допущения работ;</a:t>
            </a:r>
          </a:p>
          <a:p>
            <a:r>
              <a:rPr sz="1600" b="0">
                <a:solidFill>
                  <a:srgbClr val="232B3B"/>
                </a:solidFill>
                <a:latin typeface="Arial"/>
              </a:rPr>
              <a:t>• утечки данных;</a:t>
            </a:r>
          </a:p>
          <a:p>
            <a:r>
              <a:rPr sz="1600" b="0">
                <a:solidFill>
                  <a:srgbClr val="232B3B"/>
                </a:solidFill>
                <a:latin typeface="Arial"/>
              </a:rPr>
              <a:t>• карту claim → evidence;</a:t>
            </a:r>
          </a:p>
          <a:p>
            <a:r>
              <a:rPr sz="1600" b="0">
                <a:solidFill>
                  <a:srgbClr val="232B3B"/>
                </a:solidFill>
                <a:latin typeface="Arial"/>
              </a:rPr>
              <a:t>• неопределённость и ресурсные метрики;</a:t>
            </a:r>
          </a:p>
          <a:p>
            <a:r>
              <a:rPr sz="1600" b="0">
                <a:solidFill>
                  <a:srgbClr val="232B3B"/>
                </a:solidFill>
                <a:latin typeface="Arial"/>
              </a:rPr>
              <a:t>• подписи рисунков;</a:t>
            </a:r>
          </a:p>
          <a:p>
            <a:r>
              <a:rPr sz="1600" b="0">
                <a:solidFill>
                  <a:srgbClr val="232B3B"/>
                </a:solidFill>
                <a:latin typeface="Arial"/>
              </a:rPr>
              <a:t>• раскрытие использования ИИ.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06440" y="3337560"/>
            <a:ext cx="50292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ctr"/>
            <a:r>
              <a:rPr sz="1500" b="1">
                <a:solidFill>
                  <a:srgbClr val="152238"/>
                </a:solidFill>
                <a:latin typeface="Arial"/>
              </a:rPr>
              <a:t>Хороший запрос ограничивает ассистента: факты не выдумывать, ссылки не создавать, числа помечать TODO.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411480" cy="3200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238"/>
                </a:solidFill>
                <a:latin typeface="Arial"/>
              </a:rPr>
              <a:t>Что ещё стоит доделать в этом пособии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13232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26C7E"/>
                </a:solidFill>
                <a:latin typeface="Arial"/>
              </a:rPr>
              <a:t>Чтобы презентация стала рабочим протоколом для студентов и аспирантов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42415"/>
            <a:ext cx="10561320" cy="274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41148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188720"/>
            <a:ext cx="10058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400" b="0">
                <a:solidFill>
                  <a:srgbClr val="232B3B"/>
                </a:solidFill>
                <a:latin typeface="Arial"/>
              </a:rPr>
              <a:t>Добавить 1–2 сквозных примера: например HVAC, датчик, промышленная диагностика: от statement до таблицы результатов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41148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057400"/>
            <a:ext cx="10058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400" b="0">
                <a:solidFill>
                  <a:srgbClr val="232B3B"/>
                </a:solidFill>
                <a:latin typeface="Arial"/>
              </a:rPr>
              <a:t>Сделать шаблон specification.md: заполняемый файл: journal, statement, novelty quadrant, claims_map, figures, TODO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41148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926080"/>
            <a:ext cx="10058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400" b="0">
                <a:solidFill>
                  <a:srgbClr val="232B3B"/>
                </a:solidFill>
                <a:latin typeface="Arial"/>
              </a:rPr>
              <a:t>Сделать шаблон review_audit.md: чек-лист внутреннего рецензента: major/minor comments и решение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41148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794760"/>
            <a:ext cx="10058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400" b="0">
                <a:solidFill>
                  <a:srgbClr val="232B3B"/>
                </a:solidFill>
                <a:latin typeface="Arial"/>
              </a:rPr>
              <a:t>Добавить плохой/хороший пример абзаца: до/после: gap, contribution, метод, подпись рисунка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09160"/>
            <a:ext cx="41148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663440"/>
            <a:ext cx="10058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rtlCol="0" anchor="ctr">
            <a:normAutofit/>
          </a:bodyPr>
          <a:lstStyle/>
          <a:p>
            <a:r>
              <a:rPr sz="1400" b="0">
                <a:solidFill>
                  <a:srgbClr val="232B3B"/>
                </a:solidFill>
                <a:latin typeface="Arial"/>
              </a:rPr>
              <a:t>Добавить слайд с политиками издателей: как раскрывать использование ИИ и почему модель не автор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06440"/>
            <a:ext cx="10058400" cy="32004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/>
            <a:r>
              <a:rPr sz="1500" b="1">
                <a:solidFill>
                  <a:srgbClr val="152238"/>
                </a:solidFill>
                <a:latin typeface="Arial"/>
              </a:rPr>
              <a:t>Итоговая версия должна иметь два выхода: слайды для лекции и markdown-протокол для реальной статьи.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7499</Words>
  <Application>Microsoft Office PowerPoint</Application>
  <PresentationFormat>Широкоэкранный</PresentationFormat>
  <Paragraphs>1047</Paragraphs>
  <Slides>39</Slides>
  <Notes>34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4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писать научную статью: инженерная задача x анализ данных</dc:title>
  <dc:subject>PptxGenJS Presentation</dc:subject>
  <dc:creator>УрФУ, ИРИТ-РТФ</dc:creator>
  <cp:lastModifiedBy>Ронкин Михаил Владимирович</cp:lastModifiedBy>
  <cp:revision>3</cp:revision>
  <dcterms:created xsi:type="dcterms:W3CDTF">2026-09-08T12:11:34Z</dcterms:created>
  <dcterms:modified xsi:type="dcterms:W3CDTF">2026-09-08T14:00:43Z</dcterms:modified>
</cp:coreProperties>
</file>