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7" r:id="rId4"/>
    <p:sldId id="284" r:id="rId5"/>
    <p:sldId id="285" r:id="rId6"/>
    <p:sldId id="283" r:id="rId7"/>
    <p:sldId id="271" r:id="rId8"/>
    <p:sldId id="259" r:id="rId9"/>
    <p:sldId id="26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61" r:id="rId22"/>
    <p:sldId id="263" r:id="rId23"/>
    <p:sldId id="262" r:id="rId24"/>
    <p:sldId id="265" r:id="rId25"/>
    <p:sldId id="266" r:id="rId26"/>
    <p:sldId id="267" r:id="rId27"/>
    <p:sldId id="268" r:id="rId28"/>
    <p:sldId id="269" r:id="rId29"/>
    <p:sldId id="270" r:id="rId30"/>
    <p:sldId id="289" r:id="rId31"/>
    <p:sldId id="287" r:id="rId32"/>
    <p:sldId id="288" r:id="rId33"/>
    <p:sldId id="264" r:id="rId34"/>
    <p:sldId id="286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8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E8446-0576-4B63-9413-F778CD76DB1F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A0E36-AAC1-4482-AB24-D1F213B965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86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0E36-AAC1-4482-AB24-D1F213B965E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707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35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06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55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08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2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39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3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26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09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45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2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0CC9-7C26-4C4A-BCDA-DD588C648A6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9E14-ED47-4375-AC68-A1FF5B6BB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73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gartner.com/en/articles/top-technology-trends-2026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Разработка научных проектов с 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Нужно переписать так чтобы это простой и практически полезной презентацией с которой можно сделать практику и получить новые знания для студентов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814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75" y="241300"/>
            <a:ext cx="10515600" cy="1325563"/>
          </a:xfrm>
        </p:spPr>
        <p:txBody>
          <a:bodyPr/>
          <a:lstStyle/>
          <a:p>
            <a:r>
              <a:rPr lang="en-US" dirty="0" smtClean="0"/>
              <a:t>Gartner trends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2418" b="4089"/>
          <a:stretch/>
        </p:blipFill>
        <p:spPr>
          <a:xfrm>
            <a:off x="66675" y="95250"/>
            <a:ext cx="5410682" cy="65055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616574" y="6279118"/>
            <a:ext cx="6651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hlinkClick r:id="rId4"/>
              </a:rPr>
              <a:t>https://www.gartner.com/en/articles/top-technology-trends-2026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775" y="2615724"/>
            <a:ext cx="6776112" cy="366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365126"/>
            <a:ext cx="11049000" cy="730250"/>
          </a:xfrm>
        </p:spPr>
        <p:txBody>
          <a:bodyPr/>
          <a:lstStyle/>
          <a:p>
            <a:r>
              <a:rPr lang="ru-RU" dirty="0" smtClean="0"/>
              <a:t>Стадии работы с агентами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7795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Prompt engineering – </a:t>
            </a:r>
            <a:r>
              <a:rPr lang="ru-RU" dirty="0" smtClean="0"/>
              <a:t>способность и человека писать </a:t>
            </a:r>
            <a:r>
              <a:rPr lang="ru-RU" dirty="0" err="1" smtClean="0"/>
              <a:t>промпт</a:t>
            </a:r>
            <a:r>
              <a:rPr lang="ru-RU" dirty="0" smtClean="0"/>
              <a:t> и способность обвязки писать </a:t>
            </a:r>
            <a:r>
              <a:rPr lang="ru-RU" dirty="0" err="1" smtClean="0"/>
              <a:t>промпт</a:t>
            </a:r>
            <a:endParaRPr lang="ru-RU" dirty="0" smtClean="0"/>
          </a:p>
          <a:p>
            <a:pPr lvl="1"/>
            <a:r>
              <a:rPr lang="ru-RU" dirty="0" smtClean="0"/>
              <a:t>В эпоху ген </a:t>
            </a:r>
            <a:r>
              <a:rPr lang="ru-RU" dirty="0" err="1" smtClean="0"/>
              <a:t>ии</a:t>
            </a:r>
            <a:r>
              <a:rPr lang="ru-RU" dirty="0" smtClean="0"/>
              <a:t> это </a:t>
            </a:r>
            <a:r>
              <a:rPr lang="en-US" dirty="0" smtClean="0"/>
              <a:t>zero-short</a:t>
            </a:r>
          </a:p>
          <a:p>
            <a:r>
              <a:rPr lang="en-US" dirty="0" smtClean="0"/>
              <a:t>Context engineering</a:t>
            </a:r>
          </a:p>
          <a:p>
            <a:pPr lvl="1"/>
            <a:r>
              <a:rPr lang="ru-RU" dirty="0" smtClean="0"/>
              <a:t>Ответ зависит от задачи и от контекста</a:t>
            </a:r>
          </a:p>
          <a:p>
            <a:pPr lvl="1"/>
            <a:r>
              <a:rPr lang="ru-RU" dirty="0" smtClean="0"/>
              <a:t>Нужна оптимизация контекста по размеру.</a:t>
            </a:r>
            <a:endParaRPr lang="en-US" dirty="0" smtClean="0"/>
          </a:p>
          <a:p>
            <a:r>
              <a:rPr lang="en-US" dirty="0" smtClean="0"/>
              <a:t>Harness engineering</a:t>
            </a:r>
            <a:endParaRPr lang="ru-RU" dirty="0" smtClean="0"/>
          </a:p>
          <a:p>
            <a:pPr lvl="1"/>
            <a:r>
              <a:rPr lang="ru-RU" dirty="0" smtClean="0"/>
              <a:t>Задачи могут выполняться итерационно по спецификации, важно в какой среде решается задача</a:t>
            </a:r>
            <a:endParaRPr lang="en-US" dirty="0" smtClean="0"/>
          </a:p>
          <a:p>
            <a:r>
              <a:rPr lang="en-US" dirty="0" smtClean="0"/>
              <a:t>Loop engineering</a:t>
            </a:r>
            <a:endParaRPr lang="ru-RU" dirty="0" smtClean="0"/>
          </a:p>
          <a:p>
            <a:pPr lvl="1"/>
            <a:r>
              <a:rPr lang="ru-RU" dirty="0" smtClean="0"/>
              <a:t>Нужно настроить конвейер, включая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83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365126"/>
            <a:ext cx="11049000" cy="730250"/>
          </a:xfrm>
        </p:spPr>
        <p:txBody>
          <a:bodyPr/>
          <a:lstStyle/>
          <a:p>
            <a:r>
              <a:rPr lang="ru-RU" dirty="0" smtClean="0"/>
              <a:t>Определение и свойства агентов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77950"/>
            <a:ext cx="10515600" cy="435133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64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365126"/>
            <a:ext cx="11049000" cy="730250"/>
          </a:xfrm>
        </p:spPr>
        <p:txBody>
          <a:bodyPr/>
          <a:lstStyle/>
          <a:p>
            <a:r>
              <a:rPr lang="ru-RU" dirty="0" smtClean="0"/>
              <a:t>Архитектуры агатных систем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7795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 err="1" smtClean="0"/>
              <a:t>Мульити</a:t>
            </a:r>
            <a:r>
              <a:rPr lang="ru-RU" dirty="0" smtClean="0"/>
              <a:t> </a:t>
            </a:r>
            <a:r>
              <a:rPr lang="ru-RU" dirty="0" err="1" smtClean="0"/>
              <a:t>агентные</a:t>
            </a:r>
            <a:r>
              <a:rPr lang="ru-RU" dirty="0" smtClean="0"/>
              <a:t>, ансамбли 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517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365126"/>
            <a:ext cx="11049000" cy="730250"/>
          </a:xfrm>
        </p:spPr>
        <p:txBody>
          <a:bodyPr/>
          <a:lstStyle/>
          <a:p>
            <a:r>
              <a:rPr lang="ru-RU" dirty="0" smtClean="0"/>
              <a:t>Виды агентов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77950"/>
            <a:ext cx="10515600" cy="435133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633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Технический долг систем на каждом этапе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71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Prompt engineering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6900" y="1558925"/>
            <a:ext cx="10515600" cy="4351338"/>
          </a:xfrm>
        </p:spPr>
        <p:txBody>
          <a:bodyPr/>
          <a:lstStyle/>
          <a:p>
            <a:r>
              <a:rPr lang="ru-RU" dirty="0" smtClean="0"/>
              <a:t>Чем более четко и подробно написали что надо тем </a:t>
            </a:r>
            <a:r>
              <a:rPr lang="ru-RU" dirty="0" err="1" smtClean="0"/>
              <a:t>лучшк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71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engineering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68425"/>
            <a:ext cx="11334750" cy="5137150"/>
          </a:xfrm>
        </p:spPr>
        <p:txBody>
          <a:bodyPr/>
          <a:lstStyle/>
          <a:p>
            <a:r>
              <a:rPr lang="ru-RU" dirty="0" smtClean="0"/>
              <a:t>Контекст обычно до 1 млн. </a:t>
            </a:r>
            <a:r>
              <a:rPr lang="ru-RU" dirty="0" err="1" smtClean="0"/>
              <a:t>токенов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Чем больше контекста тем хуже обработает</a:t>
            </a:r>
          </a:p>
          <a:p>
            <a:r>
              <a:rPr lang="ru-RU" dirty="0" smtClean="0"/>
              <a:t>Нужно достичь максимальной плотности контекста</a:t>
            </a:r>
          </a:p>
          <a:p>
            <a:r>
              <a:rPr lang="ru-RU" dirty="0" smtClean="0"/>
              <a:t>Нужно уметь ставить и декомпозировать задачи под тот размер, с которым ИИ справится.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983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harnes</a:t>
            </a:r>
            <a:r>
              <a:rPr lang="en-US" dirty="0" smtClean="0"/>
              <a:t> engineering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68425"/>
            <a:ext cx="11334750" cy="5137150"/>
          </a:xfrm>
        </p:spPr>
        <p:txBody>
          <a:bodyPr/>
          <a:lstStyle/>
          <a:p>
            <a:r>
              <a:rPr lang="en-US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910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engineering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68425"/>
            <a:ext cx="11334750" cy="5137150"/>
          </a:xfrm>
        </p:spPr>
        <p:txBody>
          <a:bodyPr/>
          <a:lstStyle/>
          <a:p>
            <a:r>
              <a:rPr lang="en-US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94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</a:t>
            </a:r>
            <a:r>
              <a:rPr lang="ru-RU" dirty="0" err="1" smtClean="0"/>
              <a:t>скилов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79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чего то еще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8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Архитектуры агентов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85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с специфичными данными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2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то еще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93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задокументировать наработки с 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27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собрать запрос и учесть то что уже наработал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23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о </a:t>
            </a:r>
            <a:r>
              <a:rPr lang="ru-RU" dirty="0" err="1" smtClean="0"/>
              <a:t>воспроизводимости</a:t>
            </a:r>
            <a:r>
              <a:rPr lang="ru-RU" dirty="0" smtClean="0"/>
              <a:t> работы с агентами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94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1950" y="365126"/>
            <a:ext cx="10991850" cy="749300"/>
          </a:xfrm>
        </p:spPr>
        <p:txBody>
          <a:bodyPr/>
          <a:lstStyle/>
          <a:p>
            <a:r>
              <a:rPr lang="ru-RU" dirty="0" smtClean="0"/>
              <a:t>Разработка через спецификацию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949" y="1216025"/>
            <a:ext cx="11534775" cy="534670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98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2650"/>
          </a:xfrm>
        </p:spPr>
        <p:txBody>
          <a:bodyPr/>
          <a:lstStyle/>
          <a:p>
            <a:r>
              <a:rPr lang="ru-RU" dirty="0" smtClean="0"/>
              <a:t>Разработка на основе тестов в эпоху 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599" y="1247776"/>
            <a:ext cx="11534775" cy="4984750"/>
          </a:xfrm>
        </p:spPr>
        <p:txBody>
          <a:bodyPr/>
          <a:lstStyle/>
          <a:p>
            <a:r>
              <a:rPr lang="ru-RU" dirty="0" smtClean="0"/>
              <a:t>Важны и </a:t>
            </a:r>
            <a:r>
              <a:rPr lang="en-US" dirty="0" smtClean="0"/>
              <a:t>SDD (specification driven development)</a:t>
            </a:r>
          </a:p>
          <a:p>
            <a:r>
              <a:rPr lang="ru-RU" dirty="0" smtClean="0"/>
              <a:t>И </a:t>
            </a:r>
            <a:r>
              <a:rPr lang="en-US" dirty="0"/>
              <a:t>(</a:t>
            </a:r>
            <a:r>
              <a:rPr lang="en-US" dirty="0" smtClean="0"/>
              <a:t>Test driven development)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286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476250"/>
            <a:ext cx="10515600" cy="6731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Ревью</a:t>
            </a:r>
            <a:r>
              <a:rPr lang="ru-RU" dirty="0" smtClean="0"/>
              <a:t> 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125" y="1149350"/>
            <a:ext cx="11582400" cy="5213350"/>
          </a:xfrm>
        </p:spPr>
        <p:txBody>
          <a:bodyPr/>
          <a:lstStyle/>
          <a:p>
            <a:r>
              <a:rPr lang="ru-RU" dirty="0" smtClean="0"/>
              <a:t>ИИ создает куда больше контента чем человек может отследить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65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планировать исследование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875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провести исследование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48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оценить результаты исследования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19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тестировать результаты исследований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61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составить отчет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81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Поиск литературы с </a:t>
            </a:r>
            <a:r>
              <a:rPr lang="ru-RU" dirty="0" err="1" smtClean="0"/>
              <a:t>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54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545" y="1368424"/>
            <a:ext cx="11272736" cy="4857277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Нужен </a:t>
            </a:r>
            <a:r>
              <a:rPr lang="ru-RU" dirty="0" err="1" smtClean="0"/>
              <a:t>минмальный</a:t>
            </a:r>
            <a:r>
              <a:rPr lang="ru-RU" dirty="0" smtClean="0"/>
              <a:t> словарь терминов и </a:t>
            </a:r>
            <a:r>
              <a:rPr lang="ru-RU" dirty="0" err="1" smtClean="0"/>
              <a:t>определний</a:t>
            </a:r>
            <a:r>
              <a:rPr lang="ru-RU" dirty="0" smtClean="0"/>
              <a:t>. Его нужно сравнить с такими же в статьях эталонах. Он должен быть в контексте </a:t>
            </a:r>
            <a:r>
              <a:rPr lang="ru-RU" dirty="0" err="1" smtClean="0"/>
              <a:t>повтороен</a:t>
            </a:r>
            <a:r>
              <a:rPr lang="ru-RU" dirty="0" smtClean="0"/>
              <a:t> для усиления значимости.</a:t>
            </a:r>
          </a:p>
          <a:p>
            <a:r>
              <a:rPr lang="ru-RU" dirty="0" smtClean="0"/>
              <a:t>Любой раздел и статья пишутся по схеме от общего к частному. Сначала структура потом тезисы, потом детали. </a:t>
            </a:r>
          </a:p>
          <a:p>
            <a:r>
              <a:rPr lang="ru-RU" dirty="0" smtClean="0"/>
              <a:t>Каждая итерация должна проходить самопроверку на термины, на смыслы. </a:t>
            </a:r>
          </a:p>
          <a:p>
            <a:r>
              <a:rPr lang="ru-RU" dirty="0" smtClean="0"/>
              <a:t>Тезисы от общего к частному логика только в перед.</a:t>
            </a:r>
          </a:p>
          <a:p>
            <a:r>
              <a:rPr lang="ru-RU" dirty="0" smtClean="0"/>
              <a:t>Статья доказывает цель статьи иное не нужно.</a:t>
            </a:r>
          </a:p>
          <a:p>
            <a:r>
              <a:rPr lang="ru-RU" dirty="0" smtClean="0"/>
              <a:t>На каждый тезисы нужны вопросы, следует ли он из предыдущих. Нужна ли ссылка подтверждения из литературы. </a:t>
            </a:r>
          </a:p>
          <a:p>
            <a:r>
              <a:rPr lang="ru-RU" dirty="0" smtClean="0"/>
              <a:t>Прежде чем писать раздел нужно согласовать его </a:t>
            </a:r>
            <a:r>
              <a:rPr lang="ru-RU" smtClean="0"/>
              <a:t>скелет кратко.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51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 к введению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6643" y="1418314"/>
            <a:ext cx="10515600" cy="516731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мы идем от общего к частному.</a:t>
            </a:r>
          </a:p>
          <a:p>
            <a:r>
              <a:rPr lang="ru-RU" dirty="0" smtClean="0"/>
              <a:t>Не даем ссылок вперед только на то что сказано выше </a:t>
            </a:r>
            <a:endParaRPr lang="ru-RU" dirty="0"/>
          </a:p>
          <a:p>
            <a:r>
              <a:rPr lang="ru-RU" dirty="0" smtClean="0"/>
              <a:t>Если написали правило надо спросить как он его понял.</a:t>
            </a:r>
          </a:p>
          <a:p>
            <a:r>
              <a:rPr lang="ru-RU" dirty="0" smtClean="0"/>
              <a:t>Если есть желание </a:t>
            </a:r>
            <a:r>
              <a:rPr lang="ru-RU" dirty="0" err="1" smtClean="0"/>
              <a:t>сформулироать</a:t>
            </a:r>
            <a:r>
              <a:rPr lang="ru-RU" dirty="0" smtClean="0"/>
              <a:t> общий вывод, то частное это пример.</a:t>
            </a:r>
          </a:p>
          <a:p>
            <a:r>
              <a:rPr lang="ru-RU" dirty="0" smtClean="0"/>
              <a:t>Нельзя путать </a:t>
            </a:r>
            <a:r>
              <a:rPr lang="ru-RU" dirty="0" err="1" smtClean="0"/>
              <a:t>объектность</a:t>
            </a:r>
            <a:r>
              <a:rPr lang="ru-RU" dirty="0" smtClean="0"/>
              <a:t> и </a:t>
            </a:r>
            <a:r>
              <a:rPr lang="ru-RU" dirty="0" err="1" smtClean="0"/>
              <a:t>субъектность</a:t>
            </a:r>
            <a:r>
              <a:rPr lang="ru-RU" dirty="0" smtClean="0"/>
              <a:t> сказуемого. Если это поломка то ЕЕ чинят, если это оптимизация режимов работы, то ОНА приводит.</a:t>
            </a:r>
          </a:p>
          <a:p>
            <a:r>
              <a:rPr lang="ru-RU" dirty="0" smtClean="0"/>
              <a:t>Нужны общие примеры.</a:t>
            </a:r>
          </a:p>
          <a:p>
            <a:r>
              <a:rPr lang="ru-RU" dirty="0" smtClean="0"/>
              <a:t>Следовать лучше логики эталонных </a:t>
            </a:r>
            <a:r>
              <a:rPr lang="ru-RU" dirty="0" err="1" smtClean="0"/>
              <a:t>примекров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Лучше сначала схему </a:t>
            </a:r>
            <a:r>
              <a:rPr lang="ru-RU" dirty="0" err="1" smtClean="0"/>
              <a:t>ввдения</a:t>
            </a:r>
            <a:r>
              <a:rPr lang="ru-RU" dirty="0" smtClean="0"/>
              <a:t> потом накидывать на нее.</a:t>
            </a:r>
          </a:p>
          <a:p>
            <a:r>
              <a:rPr lang="ru-RU" dirty="0" smtClean="0"/>
              <a:t>Каждое утверждение кроме цели и вклада и значимости и </a:t>
            </a:r>
            <a:r>
              <a:rPr lang="ru-RU" dirty="0" err="1" smtClean="0"/>
              <a:t>тд</a:t>
            </a:r>
            <a:r>
              <a:rPr lang="ru-RU" dirty="0" smtClean="0"/>
              <a:t> должно </a:t>
            </a:r>
            <a:r>
              <a:rPr lang="ru-RU" dirty="0" err="1" smtClean="0"/>
              <a:t>подтверждаютсья</a:t>
            </a:r>
            <a:r>
              <a:rPr lang="ru-RU" dirty="0" smtClean="0"/>
              <a:t> ссылкой</a:t>
            </a:r>
          </a:p>
          <a:p>
            <a:r>
              <a:rPr lang="ru-RU" dirty="0" smtClean="0"/>
              <a:t>Чем более общее или более важное заявление тем больше ссылок оно требует</a:t>
            </a:r>
          </a:p>
          <a:p>
            <a:r>
              <a:rPr lang="ru-RU" dirty="0" smtClean="0"/>
              <a:t>Ссылки бывают или на классические работы, </a:t>
            </a:r>
            <a:r>
              <a:rPr lang="ru-RU" dirty="0" err="1" smtClean="0"/>
              <a:t>накоторые</a:t>
            </a:r>
            <a:r>
              <a:rPr lang="ru-RU" dirty="0" smtClean="0"/>
              <a:t> как правило уже многие ссылались или на самые свежие работы.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90798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 к основной части статьи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195" y="1485156"/>
            <a:ext cx="10515600" cy="4915644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Чем проще язык тем лучше. Заявления должны быть простыми предложениями. Стиль </a:t>
            </a:r>
            <a:r>
              <a:rPr lang="ru-RU" dirty="0" err="1" smtClean="0"/>
              <a:t>схуой</a:t>
            </a:r>
            <a:r>
              <a:rPr lang="ru-RU" dirty="0" smtClean="0"/>
              <a:t> научный. Максимум цифр и </a:t>
            </a:r>
            <a:r>
              <a:rPr lang="ru-RU" dirty="0" err="1" smtClean="0"/>
              <a:t>комментанриев</a:t>
            </a:r>
            <a:r>
              <a:rPr lang="ru-RU" dirty="0" smtClean="0"/>
              <a:t> к ним, минимум эмоций.</a:t>
            </a:r>
          </a:p>
          <a:p>
            <a:r>
              <a:rPr lang="ru-RU" dirty="0" smtClean="0"/>
              <a:t>Максимум медиа материалов, например таблицы, графики, </a:t>
            </a:r>
            <a:r>
              <a:rPr lang="ru-RU" dirty="0" err="1" smtClean="0"/>
              <a:t>иллюстрации,алгоритмы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Каждый </a:t>
            </a:r>
            <a:r>
              <a:rPr lang="ru-RU" dirty="0" err="1" smtClean="0"/>
              <a:t>медиаматериал</a:t>
            </a:r>
            <a:r>
              <a:rPr lang="ru-RU" dirty="0" smtClean="0"/>
              <a:t> имеет цель представления и после него идет к нему комментарий.</a:t>
            </a:r>
          </a:p>
          <a:p>
            <a:r>
              <a:rPr lang="ru-RU" dirty="0" smtClean="0"/>
              <a:t>Все </a:t>
            </a:r>
            <a:r>
              <a:rPr lang="ru-RU" dirty="0" err="1" smtClean="0"/>
              <a:t>медиаматериалы</a:t>
            </a:r>
            <a:r>
              <a:rPr lang="ru-RU" dirty="0" smtClean="0"/>
              <a:t> направлены на доказательство конкретных утверждений доказывающих цель работы.</a:t>
            </a:r>
          </a:p>
          <a:p>
            <a:r>
              <a:rPr lang="ru-RU" dirty="0" smtClean="0"/>
              <a:t>Каждый подраздел начинается с цели его введения в работу (1-2 </a:t>
            </a:r>
            <a:r>
              <a:rPr lang="ru-RU" dirty="0" err="1" smtClean="0"/>
              <a:t>предлоежния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Каждый подраздел заканчивается </a:t>
            </a:r>
            <a:r>
              <a:rPr lang="ru-RU" dirty="0" err="1" smtClean="0"/>
              <a:t>минивыводом</a:t>
            </a:r>
            <a:r>
              <a:rPr lang="ru-RU" dirty="0" smtClean="0"/>
              <a:t> в 1-2 предложения.</a:t>
            </a:r>
          </a:p>
          <a:p>
            <a:r>
              <a:rPr lang="ru-RU" dirty="0" smtClean="0"/>
              <a:t>Если утверждение не очевидно из популярных у аудитории статьи источников, оно или объясняется или кратко объясняется + ссылка.</a:t>
            </a:r>
          </a:p>
          <a:p>
            <a:r>
              <a:rPr lang="ru-RU" dirty="0" smtClean="0"/>
              <a:t>Подразделы должны быть логически связаны и однородны. То есть каждый посвящен своему </a:t>
            </a:r>
            <a:r>
              <a:rPr lang="ru-RU" dirty="0" err="1" smtClean="0"/>
              <a:t>подраздельчику</a:t>
            </a:r>
            <a:r>
              <a:rPr lang="ru-RU" dirty="0" smtClean="0"/>
              <a:t>.</a:t>
            </a:r>
          </a:p>
          <a:p>
            <a:r>
              <a:rPr lang="ru-RU" dirty="0"/>
              <a:t>вместо местоимений даем ссылки на обсуждаемый предмет</a:t>
            </a:r>
            <a:r>
              <a:rPr lang="ru-RU" dirty="0" smtClean="0"/>
              <a:t>.</a:t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102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0972800" cy="892175"/>
          </a:xfrm>
        </p:spPr>
        <p:txBody>
          <a:bodyPr/>
          <a:lstStyle/>
          <a:p>
            <a:r>
              <a:rPr lang="ru-RU" dirty="0" smtClean="0"/>
              <a:t>Советы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1000" y="1257300"/>
            <a:ext cx="10515600" cy="4351338"/>
          </a:xfrm>
        </p:spPr>
        <p:txBody>
          <a:bodyPr/>
          <a:lstStyle/>
          <a:p>
            <a:r>
              <a:rPr lang="ru-RU" dirty="0" smtClean="0"/>
              <a:t>Следует тратить 20% времени на исследования и </a:t>
            </a:r>
            <a:r>
              <a:rPr lang="ru-RU" dirty="0" err="1" smtClean="0"/>
              <a:t>кодинг</a:t>
            </a:r>
            <a:r>
              <a:rPr lang="ru-RU" dirty="0" smtClean="0"/>
              <a:t> самостоятельно </a:t>
            </a:r>
          </a:p>
          <a:p>
            <a:r>
              <a:rPr lang="ru-RU" dirty="0" smtClean="0"/>
              <a:t>Важна </a:t>
            </a:r>
            <a:r>
              <a:rPr lang="ru-RU" dirty="0" err="1" smtClean="0"/>
              <a:t>насмотренность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729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Дополнительно просить их каждый раз не нужно — применяем далее: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Простой академический английский.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Конкретный предмет, действие и результат. Без разговорных оборотов, риторических вопросов и оценочных фраз вроде </a:t>
            </a:r>
            <a:r>
              <a:rPr kumimoji="0" lang="ru-RU" altLang="ru-R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what the detector sees</a:t>
            </a:r>
            <a:r>
              <a:rPr kumimoji="0" lang="ru-RU" altLang="ru-RU" sz="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u-RU" altLang="ru-R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enabling property</a:t>
            </a:r>
            <a:r>
              <a:rPr kumimoji="0" lang="ru-RU" altLang="ru-RU" sz="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u-RU" altLang="ru-R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documented rather than merely published</a:t>
            </a:r>
            <a:r>
              <a:rPr kumimoji="0" lang="ru-RU" altLang="ru-RU" sz="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Сохранение научного содержания.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Сокращаем повторы и черновые пояснения, сохраняя существенные условия, экспериментальные детали и авторскую аргументацию.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Единая терминология.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Одно понятие — один основной термин. Различаем неисправность, условия эксплуатации, степень неисправности и метку данных.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Соответствие утверждений данным.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Измеренное значение, восстановленное значение и экспертная аннотация явно различаются. Неизвестные детали не дописываем.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Назначение каждого раздела.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Методика описывает получение данных; результаты — наблюдения; обсуждение — их объяснение и ограничения. Повторять одну мысль во всех разделах не требуется.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Проверяемость численных выводов.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каждого основного количественного утверждения должен быть источник в таблице, рисунке или расчёте. При отсутствии приложенной таблицы не считаем её проверенной.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Окончательность редакции.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Один готовый вариант каждого фрагмента. После согласования возвращаемся к нему только при конкретной ошибке или новых данных.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Формат работы:</a:t>
            </a: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точное место, «Было», готовое «Стало», краткая «Причина». Переносы указываем отдельно. Аннотацию и заключение окончательно согласуем после основного текста.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3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866</Words>
  <Application>Microsoft Office PowerPoint</Application>
  <PresentationFormat>Широкоэкранный</PresentationFormat>
  <Paragraphs>94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Arial Unicode MS</vt:lpstr>
      <vt:lpstr>Calibri</vt:lpstr>
      <vt:lpstr>Calibri Light</vt:lpstr>
      <vt:lpstr>Тема Office</vt:lpstr>
      <vt:lpstr>Разработка научных проектов с ИИ</vt:lpstr>
      <vt:lpstr>Gartner trends</vt:lpstr>
      <vt:lpstr>Стадии работы с агентами</vt:lpstr>
      <vt:lpstr>Определение и свойства агентов</vt:lpstr>
      <vt:lpstr>Архитектуры агатных систем</vt:lpstr>
      <vt:lpstr>Виды агентов</vt:lpstr>
      <vt:lpstr>Технический долг систем на каждом этапе</vt:lpstr>
      <vt:lpstr>Prompt engineering</vt:lpstr>
      <vt:lpstr>Context engineering </vt:lpstr>
      <vt:lpstr>harnes engineering </vt:lpstr>
      <vt:lpstr>loop engineering </vt:lpstr>
      <vt:lpstr>Создание скилов</vt:lpstr>
      <vt:lpstr>Создание чего то еще</vt:lpstr>
      <vt:lpstr>память</vt:lpstr>
      <vt:lpstr>Архитектуры агентов</vt:lpstr>
      <vt:lpstr>Работа с специфичными данными</vt:lpstr>
      <vt:lpstr>Что то еще</vt:lpstr>
      <vt:lpstr>Как задокументировать наработки с ИИ</vt:lpstr>
      <vt:lpstr>Как собрать запрос и учесть то что уже наработал</vt:lpstr>
      <vt:lpstr>Еще о воспроизводимости работы с агентами</vt:lpstr>
      <vt:lpstr>Разработка через спецификацию</vt:lpstr>
      <vt:lpstr>Разработка на основе тестов в эпоху ИИ</vt:lpstr>
      <vt:lpstr>Ревью ИИ</vt:lpstr>
      <vt:lpstr>Как планировать исследование с ии</vt:lpstr>
      <vt:lpstr>Как провести исследование с ии</vt:lpstr>
      <vt:lpstr>Как оценить результаты исследования с ии</vt:lpstr>
      <vt:lpstr>Как тестировать результаты исследований с ии</vt:lpstr>
      <vt:lpstr>Как составить отчет с ии</vt:lpstr>
      <vt:lpstr>Поиск литературы с ии</vt:lpstr>
      <vt:lpstr>подготовка</vt:lpstr>
      <vt:lpstr>Замечания к введению</vt:lpstr>
      <vt:lpstr>Замечания к основной части статьи</vt:lpstr>
      <vt:lpstr>Советы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24</cp:revision>
  <dcterms:created xsi:type="dcterms:W3CDTF">2026-09-09T04:47:59Z</dcterms:created>
  <dcterms:modified xsi:type="dcterms:W3CDTF">2026-09-16T11:40:09Z</dcterms:modified>
</cp:coreProperties>
</file>