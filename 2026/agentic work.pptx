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258" r:id="rId3"/>
    <p:sldId id="257" r:id="rId4"/>
    <p:sldId id="284" r:id="rId5"/>
    <p:sldId id="285" r:id="rId6"/>
    <p:sldId id="283" r:id="rId7"/>
    <p:sldId id="271" r:id="rId8"/>
    <p:sldId id="259" r:id="rId9"/>
    <p:sldId id="260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61" r:id="rId22"/>
    <p:sldId id="263" r:id="rId23"/>
    <p:sldId id="262" r:id="rId24"/>
    <p:sldId id="265" r:id="rId25"/>
    <p:sldId id="266" r:id="rId26"/>
    <p:sldId id="267" r:id="rId27"/>
    <p:sldId id="268" r:id="rId28"/>
    <p:sldId id="269" r:id="rId29"/>
    <p:sldId id="270" r:id="rId30"/>
    <p:sldId id="264" r:id="rId3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18" autoAdjust="0"/>
    <p:restoredTop sz="94660"/>
  </p:normalViewPr>
  <p:slideViewPr>
    <p:cSldViewPr snapToGrid="0">
      <p:cViewPr varScale="1">
        <p:scale>
          <a:sx n="98" d="100"/>
          <a:sy n="98" d="100"/>
        </p:scale>
        <p:origin x="90" y="6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CE8446-0576-4B63-9413-F778CD76DB1F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5A0E36-AAC1-4482-AB24-D1F213B965E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2862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E5A0E36-AAC1-4482-AB24-D1F213B965E0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2707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03506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4060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355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8087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0210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7398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8333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4261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98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3454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92658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450CC9-7C26-4C4A-BCDA-DD588C648A6C}" type="datetimeFigureOut">
              <a:rPr lang="ru-RU" smtClean="0"/>
              <a:t>09.09.2026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B369E14-ED47-4375-AC68-A1FF5B6BB9B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6733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https://www.gartner.com/en/articles/top-technology-trends-2026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Разработка научных проектов с ИИ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8148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80975" y="241300"/>
            <a:ext cx="10515600" cy="1325563"/>
          </a:xfrm>
        </p:spPr>
        <p:txBody>
          <a:bodyPr/>
          <a:lstStyle/>
          <a:p>
            <a:r>
              <a:rPr lang="en-US" dirty="0" smtClean="0"/>
              <a:t>Gartner trends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2418" b="4089"/>
          <a:stretch/>
        </p:blipFill>
        <p:spPr>
          <a:xfrm>
            <a:off x="66675" y="95250"/>
            <a:ext cx="5410682" cy="6505575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5616574" y="6279118"/>
            <a:ext cx="665162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hlinkClick r:id="rId4"/>
              </a:rPr>
              <a:t>https://www.gartner.com/en/articles/top-technology-trends-2026</a:t>
            </a:r>
            <a:r>
              <a:rPr lang="ru-RU" dirty="0" smtClean="0"/>
              <a:t> </a:t>
            </a:r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8775" y="2615724"/>
            <a:ext cx="6776112" cy="3663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7112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800" y="365126"/>
            <a:ext cx="11049000" cy="730250"/>
          </a:xfrm>
        </p:spPr>
        <p:txBody>
          <a:bodyPr/>
          <a:lstStyle/>
          <a:p>
            <a:r>
              <a:rPr lang="ru-RU" dirty="0" smtClean="0"/>
              <a:t>Стадии работы с агентами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77950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US" dirty="0" smtClean="0"/>
              <a:t>Prompt engineering – </a:t>
            </a:r>
            <a:r>
              <a:rPr lang="ru-RU" dirty="0" smtClean="0"/>
              <a:t>способность и человека писать </a:t>
            </a:r>
            <a:r>
              <a:rPr lang="ru-RU" dirty="0" err="1" smtClean="0"/>
              <a:t>промпт</a:t>
            </a:r>
            <a:r>
              <a:rPr lang="ru-RU" dirty="0" smtClean="0"/>
              <a:t> и способность обвязки писать </a:t>
            </a:r>
            <a:r>
              <a:rPr lang="ru-RU" dirty="0" err="1" smtClean="0"/>
              <a:t>промпт</a:t>
            </a:r>
            <a:endParaRPr lang="ru-RU" dirty="0" smtClean="0"/>
          </a:p>
          <a:p>
            <a:pPr lvl="1"/>
            <a:r>
              <a:rPr lang="ru-RU" dirty="0" smtClean="0"/>
              <a:t>В эпоху ген </a:t>
            </a:r>
            <a:r>
              <a:rPr lang="ru-RU" dirty="0" err="1" smtClean="0"/>
              <a:t>ии</a:t>
            </a:r>
            <a:r>
              <a:rPr lang="ru-RU" dirty="0" smtClean="0"/>
              <a:t> это </a:t>
            </a:r>
            <a:r>
              <a:rPr lang="en-US" dirty="0" smtClean="0"/>
              <a:t>zero-short</a:t>
            </a:r>
          </a:p>
          <a:p>
            <a:r>
              <a:rPr lang="en-US" dirty="0" smtClean="0"/>
              <a:t>Context </a:t>
            </a:r>
            <a:r>
              <a:rPr lang="en-US" dirty="0" smtClean="0"/>
              <a:t>engineering</a:t>
            </a:r>
          </a:p>
          <a:p>
            <a:pPr lvl="1"/>
            <a:r>
              <a:rPr lang="ru-RU" dirty="0" smtClean="0"/>
              <a:t>Ответ зависит от задачи и от контекста</a:t>
            </a:r>
          </a:p>
          <a:p>
            <a:pPr lvl="1"/>
            <a:r>
              <a:rPr lang="ru-RU" dirty="0" smtClean="0"/>
              <a:t>Нужна оптимизация контекста по размеру.</a:t>
            </a:r>
            <a:endParaRPr lang="en-US" dirty="0" smtClean="0"/>
          </a:p>
          <a:p>
            <a:r>
              <a:rPr lang="en-US" dirty="0" smtClean="0"/>
              <a:t>Harness </a:t>
            </a:r>
            <a:r>
              <a:rPr lang="en-US" dirty="0" smtClean="0"/>
              <a:t>engineering</a:t>
            </a:r>
            <a:endParaRPr lang="ru-RU" dirty="0" smtClean="0"/>
          </a:p>
          <a:p>
            <a:pPr lvl="1"/>
            <a:r>
              <a:rPr lang="ru-RU" dirty="0" smtClean="0"/>
              <a:t>Задачи могут выполняться итерационно по спецификации, важно в какой среде решается задача</a:t>
            </a:r>
            <a:endParaRPr lang="en-US" dirty="0" smtClean="0"/>
          </a:p>
          <a:p>
            <a:r>
              <a:rPr lang="en-US" dirty="0" smtClean="0"/>
              <a:t>Loop </a:t>
            </a:r>
            <a:r>
              <a:rPr lang="en-US" dirty="0" smtClean="0"/>
              <a:t>engineering</a:t>
            </a:r>
            <a:endParaRPr lang="ru-RU" dirty="0" smtClean="0"/>
          </a:p>
          <a:p>
            <a:pPr lvl="1"/>
            <a:r>
              <a:rPr lang="ru-RU" dirty="0" smtClean="0"/>
              <a:t>Нужно настроить конвейер, включая …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78311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800" y="365126"/>
            <a:ext cx="11049000" cy="730250"/>
          </a:xfrm>
        </p:spPr>
        <p:txBody>
          <a:bodyPr/>
          <a:lstStyle/>
          <a:p>
            <a:r>
              <a:rPr lang="ru-RU" dirty="0" smtClean="0"/>
              <a:t>Определение и свойства агентов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77950"/>
            <a:ext cx="10515600" cy="4351338"/>
          </a:xfrm>
        </p:spPr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92644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800" y="365126"/>
            <a:ext cx="11049000" cy="730250"/>
          </a:xfrm>
        </p:spPr>
        <p:txBody>
          <a:bodyPr/>
          <a:lstStyle/>
          <a:p>
            <a:r>
              <a:rPr lang="ru-RU" dirty="0" smtClean="0"/>
              <a:t>Архитектуры агатных систем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77950"/>
            <a:ext cx="10515600" cy="4351338"/>
          </a:xfrm>
        </p:spPr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35175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800" y="365126"/>
            <a:ext cx="11049000" cy="730250"/>
          </a:xfrm>
        </p:spPr>
        <p:txBody>
          <a:bodyPr/>
          <a:lstStyle/>
          <a:p>
            <a:r>
              <a:rPr lang="ru-RU" dirty="0" smtClean="0"/>
              <a:t>Виды агентов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77950"/>
            <a:ext cx="10515600" cy="4351338"/>
          </a:xfrm>
        </p:spPr>
        <p:txBody>
          <a:bodyPr>
            <a:normAutofit/>
          </a:bodyPr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6333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Технический долг систем на каждом этапе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719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Prompt engineering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96900" y="1558925"/>
            <a:ext cx="10515600" cy="4351338"/>
          </a:xfrm>
        </p:spPr>
        <p:txBody>
          <a:bodyPr/>
          <a:lstStyle/>
          <a:p>
            <a:r>
              <a:rPr lang="ru-RU" dirty="0" smtClean="0"/>
              <a:t>Чем более четко и подробно написали что надо тем </a:t>
            </a:r>
            <a:r>
              <a:rPr lang="ru-RU" dirty="0" err="1" smtClean="0"/>
              <a:t>лучшк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3714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Context engineering</a:t>
            </a:r>
            <a:br>
              <a:rPr lang="en-US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68425"/>
            <a:ext cx="11334750" cy="5137150"/>
          </a:xfrm>
        </p:spPr>
        <p:txBody>
          <a:bodyPr/>
          <a:lstStyle/>
          <a:p>
            <a:r>
              <a:rPr lang="ru-RU" dirty="0" smtClean="0"/>
              <a:t>Контекст обычно до 1 млн. </a:t>
            </a:r>
            <a:r>
              <a:rPr lang="ru-RU" dirty="0" err="1" smtClean="0"/>
              <a:t>токенов</a:t>
            </a:r>
            <a:r>
              <a:rPr lang="ru-RU" dirty="0" smtClean="0"/>
              <a:t>.</a:t>
            </a:r>
          </a:p>
          <a:p>
            <a:r>
              <a:rPr lang="ru-RU" dirty="0" smtClean="0"/>
              <a:t>Чем больше контекста тем хуже обработает</a:t>
            </a:r>
          </a:p>
          <a:p>
            <a:r>
              <a:rPr lang="ru-RU" dirty="0" smtClean="0"/>
              <a:t>Нужно достичь максимальной плотности контекста</a:t>
            </a:r>
          </a:p>
          <a:p>
            <a:r>
              <a:rPr lang="ru-RU" dirty="0" smtClean="0"/>
              <a:t>Нужно уметь ставить и декомпозировать задачи под тот размер, с которым ИИ справится.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29836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harnes</a:t>
            </a:r>
            <a:r>
              <a:rPr lang="en-US" dirty="0" smtClean="0"/>
              <a:t> engineering</a:t>
            </a:r>
            <a:br>
              <a:rPr lang="en-US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68425"/>
            <a:ext cx="11334750" cy="5137150"/>
          </a:xfrm>
        </p:spPr>
        <p:txBody>
          <a:bodyPr/>
          <a:lstStyle/>
          <a:p>
            <a:r>
              <a:rPr lang="en-US" dirty="0" smtClean="0"/>
              <a:t> </a:t>
            </a:r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591008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loop</a:t>
            </a:r>
            <a:r>
              <a:rPr lang="en-US" dirty="0" smtClean="0"/>
              <a:t> engineering</a:t>
            </a:r>
            <a:br>
              <a:rPr lang="en-US" dirty="0" smtClean="0"/>
            </a:b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71500" y="1368425"/>
            <a:ext cx="11334750" cy="5137150"/>
          </a:xfrm>
        </p:spPr>
        <p:txBody>
          <a:bodyPr/>
          <a:lstStyle/>
          <a:p>
            <a:r>
              <a:rPr lang="en-US" dirty="0" smtClean="0"/>
              <a:t> </a:t>
            </a:r>
            <a:endParaRPr lang="ru-RU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06941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Создание </a:t>
            </a:r>
            <a:r>
              <a:rPr lang="ru-RU" dirty="0" err="1" smtClean="0"/>
              <a:t>скилов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3798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Создание чего то еще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2388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память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9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Архитектуры агентов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8850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Работа с специфичными данными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12244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Что то еще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9380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задокументировать наработки с 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92777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собрать запрос и учесть то что уже наработал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02314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Еще о </a:t>
            </a:r>
            <a:r>
              <a:rPr lang="ru-RU" dirty="0" err="1" smtClean="0"/>
              <a:t>воспроизводимости</a:t>
            </a:r>
            <a:r>
              <a:rPr lang="ru-RU" dirty="0" smtClean="0"/>
              <a:t> работы с агентами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944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1950" y="365126"/>
            <a:ext cx="10991850" cy="749300"/>
          </a:xfrm>
        </p:spPr>
        <p:txBody>
          <a:bodyPr/>
          <a:lstStyle/>
          <a:p>
            <a:r>
              <a:rPr lang="ru-RU" dirty="0" smtClean="0"/>
              <a:t>Разработка через спецификацию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1949" y="1216025"/>
            <a:ext cx="11534775" cy="5346700"/>
          </a:xfrm>
        </p:spPr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986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82650"/>
          </a:xfrm>
        </p:spPr>
        <p:txBody>
          <a:bodyPr/>
          <a:lstStyle/>
          <a:p>
            <a:r>
              <a:rPr lang="ru-RU" dirty="0" smtClean="0"/>
              <a:t>Разработка на основе тестов в эпоху 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28599" y="1247776"/>
            <a:ext cx="11534775" cy="4984750"/>
          </a:xfrm>
        </p:spPr>
        <p:txBody>
          <a:bodyPr/>
          <a:lstStyle/>
          <a:p>
            <a:r>
              <a:rPr lang="ru-RU" dirty="0" smtClean="0"/>
              <a:t>Важны и </a:t>
            </a:r>
            <a:r>
              <a:rPr lang="en-US" dirty="0" smtClean="0"/>
              <a:t>SDD (specification driven development)</a:t>
            </a:r>
          </a:p>
          <a:p>
            <a:r>
              <a:rPr lang="ru-RU" dirty="0" smtClean="0"/>
              <a:t>И </a:t>
            </a:r>
            <a:r>
              <a:rPr lang="en-US" dirty="0"/>
              <a:t>(</a:t>
            </a:r>
            <a:r>
              <a:rPr lang="en-US" dirty="0" smtClean="0"/>
              <a:t>Test driven </a:t>
            </a:r>
            <a:r>
              <a:rPr lang="en-US" dirty="0" smtClean="0"/>
              <a:t>development)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428636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3400" y="476250"/>
            <a:ext cx="10515600" cy="673100"/>
          </a:xfrm>
        </p:spPr>
        <p:txBody>
          <a:bodyPr>
            <a:normAutofit fontScale="90000"/>
          </a:bodyPr>
          <a:lstStyle/>
          <a:p>
            <a:r>
              <a:rPr lang="ru-RU" dirty="0" err="1" smtClean="0"/>
              <a:t>Ревью</a:t>
            </a:r>
            <a:r>
              <a:rPr lang="ru-RU" dirty="0" smtClean="0"/>
              <a:t> 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38125" y="1149350"/>
            <a:ext cx="11582400" cy="5213350"/>
          </a:xfrm>
        </p:spPr>
        <p:txBody>
          <a:bodyPr/>
          <a:lstStyle/>
          <a:p>
            <a:r>
              <a:rPr lang="ru-RU" dirty="0" smtClean="0"/>
              <a:t>ИИ создает куда больше контента чем человек может отследить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5655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планировать исследование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48751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провести исследование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54897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оценить результаты исследования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9192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тестировать результаты исследований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611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Как составить отчет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5810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Поиск литературы с </a:t>
            </a:r>
            <a:r>
              <a:rPr lang="ru-RU" dirty="0" err="1" smtClean="0"/>
              <a:t>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5547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1000" y="365125"/>
            <a:ext cx="10972800" cy="892175"/>
          </a:xfrm>
        </p:spPr>
        <p:txBody>
          <a:bodyPr/>
          <a:lstStyle/>
          <a:p>
            <a:r>
              <a:rPr lang="ru-RU" dirty="0" smtClean="0"/>
              <a:t>Советы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81000" y="1257300"/>
            <a:ext cx="10515600" cy="4351338"/>
          </a:xfrm>
        </p:spPr>
        <p:txBody>
          <a:bodyPr/>
          <a:lstStyle/>
          <a:p>
            <a:r>
              <a:rPr lang="ru-RU" dirty="0" smtClean="0"/>
              <a:t>Следует тратить 20% времени на исследования и </a:t>
            </a:r>
            <a:r>
              <a:rPr lang="ru-RU" dirty="0" err="1" smtClean="0"/>
              <a:t>кодинг</a:t>
            </a:r>
            <a:r>
              <a:rPr lang="ru-RU" dirty="0" smtClean="0"/>
              <a:t> самостоятельно </a:t>
            </a:r>
          </a:p>
          <a:p>
            <a:r>
              <a:rPr lang="ru-RU" dirty="0" smtClean="0"/>
              <a:t>Важна </a:t>
            </a:r>
            <a:r>
              <a:rPr lang="ru-RU" dirty="0" err="1" smtClean="0"/>
              <a:t>насмотренность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72919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256</Words>
  <Application>Microsoft Office PowerPoint</Application>
  <PresentationFormat>Широкоэкранный</PresentationFormat>
  <Paragraphs>53</Paragraphs>
  <Slides>30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30</vt:i4>
      </vt:variant>
    </vt:vector>
  </HeadingPairs>
  <TitlesOfParts>
    <vt:vector size="34" baseType="lpstr">
      <vt:lpstr>Arial</vt:lpstr>
      <vt:lpstr>Calibri</vt:lpstr>
      <vt:lpstr>Calibri Light</vt:lpstr>
      <vt:lpstr>Тема Office</vt:lpstr>
      <vt:lpstr>Разработка научных проектов с ИИ</vt:lpstr>
      <vt:lpstr>Gartner trends</vt:lpstr>
      <vt:lpstr>Стадии работы с агентами</vt:lpstr>
      <vt:lpstr>Определение и свойства агентов</vt:lpstr>
      <vt:lpstr>Архитектуры агатных систем</vt:lpstr>
      <vt:lpstr>Виды агентов</vt:lpstr>
      <vt:lpstr>Технический долг систем на каждом этапе</vt:lpstr>
      <vt:lpstr>Prompt engineering</vt:lpstr>
      <vt:lpstr>Context engineering </vt:lpstr>
      <vt:lpstr>harnes engineering </vt:lpstr>
      <vt:lpstr>loop engineering </vt:lpstr>
      <vt:lpstr>Создание скилов</vt:lpstr>
      <vt:lpstr>Создание чего то еще</vt:lpstr>
      <vt:lpstr>память</vt:lpstr>
      <vt:lpstr>Архитектуры агентов</vt:lpstr>
      <vt:lpstr>Работа с специфичными данными</vt:lpstr>
      <vt:lpstr>Что то еще</vt:lpstr>
      <vt:lpstr>Как задокументировать наработки с ИИ</vt:lpstr>
      <vt:lpstr>Как собрать запрос и учесть то что уже наработал</vt:lpstr>
      <vt:lpstr>Еще о воспроизводимости работы с агентами</vt:lpstr>
      <vt:lpstr>Разработка через спецификацию</vt:lpstr>
      <vt:lpstr>Разработка на основе тестов в эпоху ИИ</vt:lpstr>
      <vt:lpstr>Ревью ИИ</vt:lpstr>
      <vt:lpstr>Как планировать исследование с ии</vt:lpstr>
      <vt:lpstr>Как провести исследование с ии</vt:lpstr>
      <vt:lpstr>Как оценить результаты исследования с ии</vt:lpstr>
      <vt:lpstr>Как тестировать результаты исследований с ии</vt:lpstr>
      <vt:lpstr>Как составить отчет с ии</vt:lpstr>
      <vt:lpstr>Поиск литературы с ии</vt:lpstr>
      <vt:lpstr>Советы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Ронкин Михаил Владимирович</dc:creator>
  <cp:lastModifiedBy>Ронкин Михаил Владимирович</cp:lastModifiedBy>
  <cp:revision>14</cp:revision>
  <dcterms:created xsi:type="dcterms:W3CDTF">2026-09-09T04:47:59Z</dcterms:created>
  <dcterms:modified xsi:type="dcterms:W3CDTF">2026-09-09T14:25:46Z</dcterms:modified>
</cp:coreProperties>
</file>