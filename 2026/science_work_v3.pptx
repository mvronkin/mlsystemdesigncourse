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9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68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Пособие охватывает полный цикл: концепция, литобзор, скелет, эксперимент, черновик, медиаматериалы, подача, ответ рецензенту. Разделы 12-16 частично основаны на материалах Peng Sida (learning_research) в адаптации репозитория Research-Paper-Writing-Skills.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Квартиль присваивается журналу в предметной категории, поэтому один журнал может быть Q1 в одной категории и Q2 в другой. При отчётности указывается категория.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Набор данных без методического вывода публикуется как data paper, а не как research paper: это частая причина несоответствия типа заявки содержанию.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студенческой работы рекомендуется сочетание: спецификация плюс рисунки. Протокол «от рецензии» применяется при повторной подаче после отказа.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Возврат назад допустим: результаты эксперимента могут потребовать переформулировки заявления. Недопустимо пропускать этап концепции и начинать с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выполняется дважды: после составления скелета и перед подачей.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поиском по собственной формулировке выполняется до начала эксперимента: это дешевле, чем обнаружить совпадение при рецензировании.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 одной фразы применяется повторно перед подачей: формулировка должна совпадать с тем, что доказано в разделе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Различие impact и contribution: impact — изменение представления об объекте, contribution — качество работы предложенной идеи.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Комбинация «новая задача + новый метод» не запрещена, но требует вдвое большего объёма доказательств при том же лимите страниц.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выбором проверяются: scope журнала, средний срок рецензирования, требования к объёму и к доступности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 оформляется отдельным файлом и сохраняется: при ревизии рецензент может запросить критерии отбора.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обзорной статьи диаграмма потока обязательна. Для research paper она заменяется сводкой в разделе Related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сравнения переносится в раздел Related Work в сокращённом виде и служит доказательством полноты обзора.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Технический вызов состоит из двух частей: наблюдаемое ограничение и техническая причина. Формулировка без причины воспринимается как описание неудачи, а не как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Объёмы указаны для regular paper в двухколоночном формате. Для letter структура сжимается, состав разделов сохраняется.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 на четыре вопроса записываются отдельно и служат материалом для введения и аннотации.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Абзацы 2–3 подводят строго к тому вызову, который решается в работе. Прочие ограничения известных методов во введение не выносятся.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сравнения из литобзора включается в этот раздел в сокращённом виде.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Детали реализации — гиперпараметры, размерности, нормировки — выносятся в конец раздела либо в отдельный подраздел.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составляется до постановки экспериментов и служит планом раздела результатов.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на утечку выполняется до написания черновика: обнаружение утечки после написания текста требует переработки всех разделов, опирающихся на результаты.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Показатели эффекта переводят работу из категории «модель обучена» в категорию «решение применимо». Для журналов прикладной направленности они обязательны.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data integrity выполняется до начала черновика, иначе текст придётся переписывать.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приёма в аннотации упоминается, но не разъясняется по шагам: разъяснение относится к разделу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впечатление рецензента формируется схемой метода и главной таблицей результатов. Эти два элемента прорабатываются в первую очередь.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русскоязычного автора наиболее устойчивые ошибки — артикли и согласование времён. Проверка выполняется отдельным проходом по тексту.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вопрос помечается: пройден, требует правки, требует нового эксперимента. Правка выполняется до подачи.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Причины 1, 3 и 7 составляют большинство отказов работ по анализу данных в инженерных журналах.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составляется по каждому пункту отдельно, без объединения замечаний. Неотвеченный пункт трактуется как отказ от правки.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Внутреннее рецензирование поручается участнику группы, не участвовавшему в работе, либо выполняется по проверочному списку с интервалом не менее суток после завершения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Практическое правило: агент применяется там, где результат его работы проверяется быстрее, чем выполняется вручную.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Подход перенесён из практики разработки по спецификации. Для студенческой работы спецификация занимает одну страницу и заполняется до постановки эксперимента.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Методические источники: Peng Sida, learning_research; репозиторий Research-Paper-Writing-Skills (MIT); требования к оформлению IEEE.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113D49"/>
          </a:solidFill>
          <a:ln w="12700">
            <a:solidFill>
              <a:srgbClr val="113D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0404E"/>
          </a:solidFill>
          <a:ln w="12700">
            <a:solidFill>
              <a:srgbClr val="1040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СТАТЬЯ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писать статью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7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задача × анализ данных: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7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концепции до ответа рецензенту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13495A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2062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площадки-примеры: IEEE Sensors Journal · IEEE TIM · IEEE TIA/TII · Measurement · MSSP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12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УрФУ, ИРИТ-РТФ · методическое пособие для студентов и аспирантов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писать статьи. Наукометрия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— способ зафиксировать и верифицировать результат. Наукометрический показатель — критерий выбора площадки, а не цель работы.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483864" cy="2011680"/>
          </a:xfrm>
          <a:prstGeom prst="roundRect">
            <a:avLst>
              <a:gd name="adj" fmla="val 227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83794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публикации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96389"/>
            <a:ext cx="3081528" cy="139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приоритета результата и условий его получения.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результата сообществом через рецензирование.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результата в оборот: цитирование, повторное использование, внедрение.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требование квалификационной работы.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011680"/>
          </a:xfrm>
          <a:prstGeom prst="roundRect">
            <a:avLst>
              <a:gd name="adj" fmla="val 227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83794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даёт автору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96389"/>
            <a:ext cx="3081528" cy="139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квалификации при защите и при найме.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соавторству, конференциям, грантовым заявкам.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 рецензентов по постановке и методике.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Оформленный результат, пригодный для передачи в производство.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483864" cy="2011680"/>
          </a:xfrm>
          <a:prstGeom prst="roundRect">
            <a:avLst>
              <a:gd name="adj" fmla="val 227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0456" y="183794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даёт коллективу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196389"/>
            <a:ext cx="3081528" cy="139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 тематики за научной группой.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Основание для заявок на финансирование.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для диссертационных работ участников.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оценка направления работ.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31920"/>
          <a:ext cx="6949440" cy="25359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Показатель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измеряет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Источник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Квартиль Q1–Q4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Положение журнала внутри предметной категории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 (SJR, CiteScore), Web of Science (JIF)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число цитирований статей журнала за двухлетнее окно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Citation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CiteScore, SJR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Цитируемость за четырёхлетнее окно; SJR учитывает вес цитирующих журналов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Процентиль по категории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Положение журнала в процентах внутри категории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h-индекс автора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работ h, каждая из которых цитируется не менее h раз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Web of Science, Google Scholar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818120" y="3931920"/>
            <a:ext cx="3685032" cy="2377440"/>
          </a:xfrm>
          <a:prstGeom prst="roundRect">
            <a:avLst>
              <a:gd name="adj" fmla="val 1923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19288" y="4078224"/>
            <a:ext cx="3282696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журнала до подачи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19288" y="4421307"/>
            <a:ext cx="3282696" cy="177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в Scopus или Web of Science подтверждается на текущую дату.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Квартиль указывается с названием категории: у журнала их несколько.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недобросовестного издания: гарантия срока публикации, оплата без рецензирования, разнотематический охват.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журнала не заменяет соответствие тематике.</a:t>
            </a:r>
            <a:endParaRPr lang="en-US" sz="11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Виды и особенности статей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статьи определяет требования к новизне и к составу доказательств. Тип выбирается на этапе концепции.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38039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Тип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заявляется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проверяет рецензент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Объём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paper (regular)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Новый метод для известной задачи либо известные методы для новой задачи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Новизна, корректность сравнения, ablation, воспроизводимость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Letter, short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результат, требующий быстрой публикации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Значимость единственного результата, обоснование срочности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survey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Систематизация области и выявленные пробелы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Протокол отбора работ, полнота, классификация, обоснованность выводов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Набор данных как самостоятельный 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Методика регистрации, метаданные, лицензия, доступность, потенциал повторного использования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Изложение метода для сообщества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Полнота, методическая ценность, корректность изложения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study, application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внедрения на конкретном объекте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Производственный эффект, условия эксплуатации, ограничения переноса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Comment, reply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 по опубликованной работе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Обоснованность возражения, корректность формы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стр.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39496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5541264"/>
            <a:ext cx="49469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Смена типа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5876666"/>
            <a:ext cx="4946904" cy="32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определяет требования к новизне. Смена типа после написания текста требует переработки разделов метода и результатов.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53912" y="539496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5541264"/>
            <a:ext cx="49469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Расширение доклада до статьи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5876666"/>
            <a:ext cx="4946904" cy="32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Журнальная версия конференционного доклада содержит существенно новый материал, ориентир 30–50 %, и ссылку на исходную публикацию.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3322319" y="3297556"/>
            <a:ext cx="1047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Источники статей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231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Протоколы написания статей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— воспроизводимая последовательность действий при написании. Выбирается по стадии готовности результатов и числу соавторов.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скелета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96389"/>
            <a:ext cx="2203704" cy="2494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Скелет с назначением каждого раздела, затем черновик по разделам.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получены, работа выполняется одним автором.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пишется отдельно от иллюстраций, связь с рисунками устанавливается в конце.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511296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рисунков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196389"/>
            <a:ext cx="2203704" cy="2494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главная таблица результатов и схема метода, затем текст вокруг них.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разнородны, требуется отобрать существенное.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Появление иллюстраций без сообщения; требуется отбраковка.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спецификации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196389"/>
            <a:ext cx="2203704" cy="2494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Формальный документ с заявлением, вкладом и картой доказательств до написания текста.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соавторов, длительная работа, применение ИИ-ассистента.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спецификации требует дисциплины.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62288" y="1691640"/>
            <a:ext cx="2606040" cy="310896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63456" y="1837944"/>
            <a:ext cx="22037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рецензии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96389"/>
            <a:ext cx="2203704" cy="2494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записываются ожидаемые замечания, текст строится как ответ на них.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применим</a:t>
            </a:r>
            <a:endParaRPr lang="en-US" sz="1180" dirty="0"/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риск отказа, спорная постановка, ревизия после отказа.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18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Оборонительный стиль изложения, если не контролировать формулировки.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4983480"/>
            <a:ext cx="10817352" cy="1325880"/>
          </a:xfrm>
          <a:prstGeom prst="roundRect">
            <a:avLst>
              <a:gd name="adj" fmla="val 344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5129784"/>
            <a:ext cx="10415016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Инвариант всех протоколов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5480548"/>
            <a:ext cx="10415016" cy="71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Первой пишется фактическая часть: метод и результаты. Затем обсуждение, затем введение, затем аннотация и заключение. Протокол определяет способ подготовки материала, но не меняет этот порядок. Протоколы комбинируются: спецификация задаёт заявление и карту доказательств, рисунки задают структуру раздела результатов.</a:t>
            </a:r>
            <a:endParaRPr lang="en-US" sz="12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процесса: восемь этапов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этапов фиксирован. Введение и аннотация пишутся последними, после получения результатов.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Концепция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Заявление, цель, выбор журнала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00984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12464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Литобзор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поиска, таблица работ, gap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0136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0136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Скелет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Структура, обозначения, гипотезы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85632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8563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51976" y="222199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62288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63456" y="174650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63456" y="210494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базовые методы, ablation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311128" y="171907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131112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6968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Черновик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и результаты, затем обсуждение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83464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00984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11296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12464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712464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Рисунки, таблицы, алгоритмы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0136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660136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26480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6792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Самопроверка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outlining, карта заявлений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485632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485632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951976" y="4187952"/>
            <a:ext cx="201168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62288" y="35661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63456" y="3712464"/>
            <a:ext cx="17465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Подача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363456" y="4070909"/>
            <a:ext cx="220370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letter, ответ рецензенту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311128" y="3685032"/>
            <a:ext cx="310896" cy="310896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1311128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0373868" y="3127248"/>
            <a:ext cx="182880" cy="219456"/>
          </a:xfrm>
          <a:prstGeom prst="down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5623560"/>
            <a:ext cx="10817352" cy="658368"/>
          </a:xfrm>
          <a:prstGeom prst="roundRect">
            <a:avLst>
              <a:gd name="adj" fmla="val 6944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4400" y="562356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порядка. </a:t>
            </a: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«Введение» и «Аннотация» формулируются после того, как результаты получены: до этого вклад не может быть заявлен точно.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Методологические аспекты концепции статьи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правила, которым подчинены все последующие решения по тексту.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46504"/>
            <a:ext cx="2151126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заявление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20311"/>
            <a:ext cx="2151126" cy="174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статья — одно заявление научному сообществу. Заявлением может быть цель, новизна или вклад в область. Несколько параллельных заявлений снижают оценку каждого из них.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043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41598" y="1746504"/>
            <a:ext cx="2151126" cy="56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терминология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41598" y="2366101"/>
            <a:ext cx="2151126" cy="150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Терминология единая, минимально необходимая и однозначная. Один символ — один смысл во всём тексте. Обозначения не переопределяются по ходу изложения.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506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6228" y="1746504"/>
            <a:ext cx="2151126" cy="56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 новизны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96228" y="2366101"/>
            <a:ext cx="2151126" cy="150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 состоит либо в применении известных методов к новой задаче, либо в решении известной задачи новым методом. Третьего варианта, защитимого при рецензировании, нет.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49690" y="1600200"/>
            <a:ext cx="2553462" cy="2377440"/>
          </a:xfrm>
          <a:prstGeom prst="roundRect">
            <a:avLst>
              <a:gd name="adj" fmla="val 192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50858" y="1746504"/>
            <a:ext cx="2151126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 Оккама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50858" y="2120311"/>
            <a:ext cx="2151126" cy="174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Лишние сущности не вводятся ни в текст, ни в метод. Каждый термин, блок метода и рисунок обязаны иметь назначение, сформулированное явно.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10817352" cy="2103120"/>
          </a:xfrm>
          <a:prstGeom prst="roundRect">
            <a:avLst>
              <a:gd name="adj" fmla="val 217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334256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681728"/>
            <a:ext cx="50429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Заявление статьи записывается одной фразой и совпадает с тем, что доказано в разделе результатов.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ключевой термин встречается в одном значении; таблица обозначений заполнена и не содержит повторов.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31636" y="4681728"/>
            <a:ext cx="50429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мысленно удаляется: если изложение не разрушается, раздел лишний.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Второе заявление, обнаруженное в тексте, выносится в отдельную работу либо переводится в состав вклада первого.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Методологические аспекты поиска новизны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 формулируется до эксперимента и проверяется поиском по её же формулировке.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новизной является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4946904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методы применены к новой задаче; обосновано, почему подходы к смежным задачам неприменимы.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Известная задача решена новым методом; показан механизм, за счёт которого получен выигрыш.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постановка задачи: изменены вход, выход или условия работы.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критерий или метрика, отражающая стоимость ошибки в приложении.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Экспериментальное наблюдение, противоречащее принятому в области допущению.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новизной не является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50669"/>
            <a:ext cx="4946904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эксперимента, то есть одинаковые условия сравнения методов: требование методики, а не результат.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выборки экспериментов: повышает достоверность, но не создаёт нового знания.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популярной архитектуры вне инженерного контекста измерения, датчика или производственного ограничения.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одного стандартного блока на другой без анализа причины изменения качества.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набор данных без методического вывода: это data paper.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4251960"/>
            <a:ext cx="10817352" cy="1415415"/>
          </a:xfrm>
          <a:prstGeom prst="roundRect">
            <a:avLst>
              <a:gd name="adj" fmla="val 2222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379976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27448"/>
            <a:ext cx="5042916" cy="85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 формулируется фразой «впервые показано, что…» без слов «улучшено» и «применено».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формулировке новизны в Scopus и IEEE Xplore не возвращает работы с тем же заявлением.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31636" y="4727448"/>
            <a:ext cx="5042916" cy="93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Названо, что перестанет работать при удалении заявленного элемента метода.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Указан квадрант новизны, и состав эксперимента соответствует именно этому квадранту.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Концепция: пять вопросов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считается готовой, когда получены ответы на все пять вопросов и пройден тест одной фразы.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46504"/>
            <a:ext cx="1614830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нового?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097268"/>
            <a:ext cx="1614830" cy="131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метод либо новая задача. Формулируется одной строкой.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885846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87014" y="1746504"/>
            <a:ext cx="1614830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нужно?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087014" y="2097268"/>
            <a:ext cx="1614830" cy="131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Конкретное сообщество: метрология, техническая диагностика и NDT, обработка сигналов, edge-вычисления, предиктивное обслуживание.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85893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87061" y="1746504"/>
            <a:ext cx="1614830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идеи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287061" y="2320016"/>
            <a:ext cx="1614830" cy="109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Эксперимент, результат которого подтверждает или опровергает заявление. Определяется до постановки эксперимента.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285939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87107" y="1746504"/>
            <a:ext cx="1614830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сейчас?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487107" y="2320016"/>
            <a:ext cx="1614830" cy="109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изменилось: доступность данных, вычислительные средства, требования отрасли.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9485986" y="1600200"/>
            <a:ext cx="2017166" cy="1920240"/>
          </a:xfrm>
          <a:prstGeom prst="roundRect">
            <a:avLst>
              <a:gd name="adj" fmla="val 238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87154" y="1746504"/>
            <a:ext cx="1614830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вы?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687154" y="2097268"/>
            <a:ext cx="1614830" cy="131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установке, данным или экспертизе, которого нет у конкурирующих групп.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85800" y="3749040"/>
            <a:ext cx="10817352" cy="2148840"/>
          </a:xfrm>
          <a:prstGeom prst="roundRect">
            <a:avLst>
              <a:gd name="adj" fmla="val 2128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393192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теста одной фразы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343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«Показано, что [метод] обеспечивает [измеримый результат] в задаче [задача], в отличие от [существующие подходы], для которых характерно [конкретное ограничение]».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фраза не составляется без пропусков — концепция не готова, и переход к тексту преждевременен. Пропуск в скобках [существующие подходы] означает, что не выполнен литобзор; пропуск в [измеримый результат] означает, что не определена метрика.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Цель, новизна, вклад, impact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понятия различаются по смыслу и по месту в тексте. Смешение приводит к замечанию о нечёткости заявления.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46504"/>
            <a:ext cx="220370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20311"/>
            <a:ext cx="2203704" cy="165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фраза, не перечень пунктов. Отвечает на вопрос «что показано», а не «что сделано».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511296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1746504"/>
            <a:ext cx="220370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Новизна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120311"/>
            <a:ext cx="2203704" cy="165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заявлено впервые. Оценивается по потенциалу развития: новый метод с приростом 5 % ценнее развития известного метода с приростом 10 %.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336792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746504"/>
            <a:ext cx="2203704" cy="56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(contribution)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66101"/>
            <a:ext cx="2203704" cy="1410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хорошо идея работает. Допускает разбиение на 3–4 проверяемых пункта: алгоритм, валидация на реальных данных, открытый код.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9162288" y="1600200"/>
            <a:ext cx="2606040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63456" y="1746504"/>
            <a:ext cx="220370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20311"/>
            <a:ext cx="2203704" cy="165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работа изменяет представление об объекте исследования. Определяется сообществом, а не автором.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685800" y="41605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4306824"/>
            <a:ext cx="49469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Формулировка на языке сообщества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657588"/>
            <a:ext cx="4946904" cy="154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заявляет то, что может быть использовано; формулировка соответствует применению.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не заявляет больше, чем доказано в разделе результатов.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не заявляет того, что сообществу не требуется.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Пункты введения используют терминологию сообщества: формулировка «обучена модель с точностью 0,97» его вопросов не закрывает.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53912" y="41605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306824"/>
            <a:ext cx="49469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Верифицируемость заявленных результатов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57588"/>
            <a:ext cx="4946904" cy="154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результат нельзя проверить или проверка неоднозначна, результату не доверяют.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проверки задан численно, с указанием условий измерения.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Процедура проверки воспроизводима: данные, код и параметры доступны либо описан порядок доступа.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выполнима независимо от авторов и без доступа к их оборудованию либо это ограничение указано явно.</a:t>
            </a:r>
            <a:endParaRPr lang="en-US" sz="1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новизны: где допустимо находиться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Квадрант определяет, какое доказательство потребует рецензент.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04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известная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4904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новая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74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187452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E9F2EE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5728" y="202082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Принимается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239463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метод для известной задачи. Требуется сравнение с актуальными базовыми методами при одинаковых условиях.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187452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FBF0E6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202082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Высокий риск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39463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метод для новой задачи. Два заявления одновременно: рецензент требует доказательства обоих. Рекомендуется разделить на две работы.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94560" y="388620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F8ECEA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95728" y="403250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Инкрементальная работа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395728" y="440631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Известный метод для известной задачи. Защитима только при новом экспериментальном выводе, который не следует из опубликованных работ.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3886200"/>
            <a:ext cx="4297680" cy="1828800"/>
          </a:xfrm>
          <a:prstGeom prst="roundRect">
            <a:avLst>
              <a:gd name="adj" fmla="val 2500"/>
            </a:avLst>
          </a:prstGeom>
          <a:solidFill>
            <a:srgbClr val="E9F2EE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4032504"/>
            <a:ext cx="3895344" cy="31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Принимается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4406311"/>
            <a:ext cx="3895344" cy="119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методы для новой задачи. Требуется обоснование, почему существующие подходы к смежным задачам неприменимы.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5943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квадрант указывается во введении явно: рецензент проверяет соответствие эксперимента квадранту, а не общую полезность работы.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журнала выполняется на этапе концепции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определяет требования к эксперименту. Выбор после написания текста приводит к переработке раздела результатов.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17352" cy="3200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Тип площадки (примеры)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оценивается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Частая причина отказа работ по анализу данных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Sensors Journal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Сенсорная система в связке с обработкой данных, прикладной сценарий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Машинное обучение вне сенсорного контекста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Измерение, погрешность и неопределённость, калибровка, средства измерений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оценка неопределённости; нет реальной измерительной задачи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Промышленное применение, энергетика, электропривод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показана промышленная значимость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TII / IoT Journal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решения для промышленности и IoT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сравнения с актуальными методами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Measurement, MSSP (Elsevier)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Сигналы, диагностика, экспериментальная валидация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Синтетические данные без обоснования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Отраслевые журналы (горное дело, энергетика)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производственной задачи, экономический эффект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описан без привязки к технологическому процессу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349240"/>
            <a:ext cx="10817352" cy="868680"/>
          </a:xfrm>
          <a:prstGeom prst="roundRect">
            <a:avLst>
              <a:gd name="adj" fmla="val 5263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правило. </a:t>
            </a: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на абстрактных данных без измерительного, сенсорного или производственного ограничения отклоняется вне зависимости от качества модели. Инженерный контекст вводится в постановку задачи, а не в заключение.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Литобзор: протокол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обзора и критерии фиксируются до начала поиска. Протокол обеспечивает воспроизводимость обзора.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обзора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формулируются первыми: они задают строку поиска и колонки таблицы сравнения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391156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05456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Строка поиска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Булевы операторы, синонимы термина; базы: IEEE Xplore, Scopus, Web of Science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210812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Критерии отбора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Рецензируемые издания, наличие эксперимента и метрик, окно 5–7 лет плюс классические работы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30468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1792224"/>
            <a:ext cx="1298448" cy="272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Скрининг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2119945"/>
            <a:ext cx="1298448" cy="110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по аннотации, затем по полному тексту; число отклонённых работ фиксируется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850124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64424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65592" y="1792224"/>
            <a:ext cx="1298448" cy="472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сравнения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2319650"/>
            <a:ext cx="1298448" cy="908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форма записи по всем отобранным работам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669780" y="2423160"/>
            <a:ext cx="109728" cy="146304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1645920"/>
            <a:ext cx="170078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85248" y="1792224"/>
            <a:ext cx="1298448" cy="272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985248" y="2119945"/>
            <a:ext cx="1298448" cy="110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Незаполненные клетки таблицы указывают на неисследованную область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85800" y="3474720"/>
            <a:ext cx="6949440" cy="1097280"/>
          </a:xfrm>
          <a:prstGeom prst="roundRect">
            <a:avLst>
              <a:gd name="adj" fmla="val 4167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3566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строки поиска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38404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("fault diagnosis" OR "fault detection")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("induction motor" OR "bearing")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("neural network" OR "deep learning") AND PUBYEAR &gt; 2018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18120" y="3474720"/>
            <a:ext cx="3685032" cy="1097280"/>
          </a:xfrm>
          <a:prstGeom prst="roundRect">
            <a:avLst>
              <a:gd name="adj" fmla="val 4167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19288" y="3621024"/>
            <a:ext cx="3282696" cy="272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Порог цитируемости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019288" y="3948745"/>
            <a:ext cx="3282696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по числу цитирований выполняется на этапе скрининга. В строке поиска условие вида OR CITES &gt; 20 из-за приоритета операторов вернёт все работы с цитируемостью выше порога независимо от темы.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85800" y="4709160"/>
            <a:ext cx="3483864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6968" y="4855464"/>
            <a:ext cx="3081528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обзора (RQ)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86968" y="5190866"/>
            <a:ext cx="3081528" cy="1054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Формулируются 3–5 вопросов до поиска. Каждый вопрос закрывается отдельной колонкой таблицы сравнения. Вопрос, на который таблица не отвечает, либо снимается, либо требует расширения поиска.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52544" y="4709160"/>
            <a:ext cx="3483864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53712" y="4855464"/>
            <a:ext cx="3081528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Примеры RQ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4553712" y="5190866"/>
            <a:ext cx="3081528" cy="1054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какие подходы применяются к задаче и на каких допущениях они основаны.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при каких условиях опубликованные методы теряют работоспособность.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какие данные и метрики приняты в области.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какие ограничения реального применения обсуждаются.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9288" y="4709160"/>
            <a:ext cx="3483864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0456" y="4855464"/>
            <a:ext cx="3081528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выявляется дополнительно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220456" y="5398252"/>
            <a:ext cx="3081528" cy="84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числа публикаций по годам и тематическая эволюция.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Устоявшиеся наборы данных и метрики, принятые сообществом.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Терминологические расхождения между школами.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Протоколы литобзора для инженерных статей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выбирается по назначению обзора: раздел статьи, обзорная статья либо оценка новой для группы области.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Протокол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даёт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Когда применять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Учёт всех найденных и отклонённых работ, диаграмма потока отбора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Обзорная статья; раздел Related Work объёмного исследования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SLR по Kitchenham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Формализованный обзор с вопросами исследования: планирование, проведение, отчёт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Обзоры в технических дисциплинах, диссертационный обзор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Scoping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Оценка объёма и структуры области без оценки качества работ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 для группы тематика, выбор направления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Snowballing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Дополнение поиска по спискам литературы и по цитирующим работам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Узкие темы, разнородная терминология, дополнение строки поиска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Библиометрический анализ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направлений и динамика по ключевым словам и совместному цитированию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 «анализ трендов»; обоснование актуальности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44348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потока отбора: числа приводятся в тексте статьи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по строке поиска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43784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16936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удаления дубликатов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837176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11"/>
          <p:cNvSpPr/>
          <p:nvPr/>
        </p:nvSpPr>
        <p:spPr>
          <a:xfrm>
            <a:off x="5001768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Отсеяно по аннотации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59752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32904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Прочитано полностью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53144" y="480060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317736" y="4800600"/>
            <a:ext cx="1993392" cy="658368"/>
          </a:xfrm>
          <a:prstGeom prst="roundRect">
            <a:avLst>
              <a:gd name="adj" fmla="val 694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90888" y="480060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Включено в обзор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5596128"/>
            <a:ext cx="10817352" cy="731520"/>
          </a:xfrm>
          <a:prstGeom prst="roundRect">
            <a:avLst>
              <a:gd name="adj" fmla="val 625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86968" y="5742432"/>
            <a:ext cx="10415016" cy="272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Применение в обычной исследовательской статье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" y="6070153"/>
            <a:ext cx="10415016" cy="14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протокол не публикуется, но выполняется и сохраняется. В тексте приводятся строка поиска, окно лет, базы, число отобранных работ и критерии исключения — трёх-четырёх предложений достаточно.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сравнения работ порождает gap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форма записи по всем работам. Незаполненные клетки указывают на неисследованную область.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Задача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Метод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Данные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Метрики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Ограничение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Диагностика подшипника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по спектрограмме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набор, стенд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Стационарная нагрузка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Автокодировщик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Синтетические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Реальные данные отсутствуют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Пороговое правило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Промышленные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Настройка порога для каждого агрегата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 при дрейфе условий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Неопределённость не оценивается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F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Пустая строка =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 записи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одинаковы для всех работ. Записывается то, что в работе указано; предположения автора обзора в таблицу не вносятся.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52544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3712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трендов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Гистограмма числа публикаций по годам и по подтемам. Показывает насыщение направления либо его рост.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19288" y="434340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0456" y="4489704"/>
            <a:ext cx="3081528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Завершение обзора</a:t>
            </a:r>
            <a:endParaRPr lang="en-US" sz="1400" dirty="0"/>
          </a:p>
        </p:txBody>
      </p:sp>
      <p:sp>
        <p:nvSpPr>
          <p:cNvPr id="6" name="Text 12"/>
          <p:cNvSpPr txBox="1"/>
          <p:nvPr/>
        </p:nvSpPr>
        <p:spPr>
          <a:xfrm>
            <a:off x="8220456" y="4832787"/>
            <a:ext cx="3081528" cy="109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завершается конструкцией «Однако…»: изложенное состояние области должно логически требовать появления предлагаемой работы.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statement: шаблон и типовая ошибка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формулируется через ограничения конкретных работ, а не через объём литературы.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81735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Шаблон формулировки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подходы делают 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72384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45536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предполагают 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65776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30368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не выполняется в сценарии Z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88352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61504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следствие: что нарушается и насколько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81744" y="212140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46336" y="212140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19488" y="212140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предлагается 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10896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" y="3255264"/>
            <a:ext cx="49469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Ошибочная формулировка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" y="3606028"/>
            <a:ext cx="4946904" cy="71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«Данной теме посвящено мало работ». Утверждение не проверяемо, не указывает на техническую причину и не задаёт критерий успеха.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53912" y="310896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3255264"/>
            <a:ext cx="49469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Корректная формулировка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606028"/>
            <a:ext cx="4946904" cy="71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«Существующие методы [5]–[9] предполагают стационарные условия калибровки. При температурном дрейфе датчика точность снижается на N % [10]. Оценка неопределённости предсказания не выполняется ни в одной из работ, что исключает метрологическое применение. Предлагается…»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4663440"/>
            <a:ext cx="10817352" cy="1645920"/>
          </a:xfrm>
          <a:prstGeom prst="roundRect">
            <a:avLst>
              <a:gd name="adj" fmla="val 2778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4791456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5138928"/>
            <a:ext cx="50429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Указаны конкретные источники и конкретное допущение, принятое в них.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Указано условие нарушения допущения и последствие в измеримой форме.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31636" y="5138928"/>
            <a:ext cx="50429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Предлагаемое решение адресует именно названное допущение, а не смежную трудность.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проверяется обратным чтением: из формулировки выводится состав эксперимента без дополнительных пояснений.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Скелет статьи и типовой объём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Скелет создаётся до написания текста и содержит назначение каждого раздела.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6903720" cy="914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Раздел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Объём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Содержание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Abstract, Index 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 слов, один абзац; 5–7 терминов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Задача, ограничение известных методов, вклад, 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Introduction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1–1,5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Мотивация, gap, цель, вклад списком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II. Related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страница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Группировка по подходам, таблица сравнения, отличие предлагаемой работы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III. Problem Formulation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0,5–1 страница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Формальная постановка, допущения, таблица обозначений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IV. Proposed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1,5–2,5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Схема, устройство модулей, псевдокод, сложность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 Experimental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1–1,5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Стенд и данные, разбиение, базовые методы, метрики, аппаратура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VI. Results and Discussion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страницы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Сравнение, ablation, границы применимости, отказы метода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VII. 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абзаца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 и направление продолжения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 источников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менее 60 % за последние пять лет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45920"/>
            <a:ext cx="3730752" cy="1874520"/>
          </a:xfrm>
          <a:prstGeom prst="roundRect">
            <a:avLst>
              <a:gd name="adj" fmla="val 2439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73568" y="1792224"/>
            <a:ext cx="3328416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Обозначения и терминология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973568" y="2127626"/>
            <a:ext cx="3328416" cy="1283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символ — один смысл во всей статье. Единицы СИ. Обозначение определяется до первого использования и далее не переопределяется. Словарь терминов ведётся с первого дня работы.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7772400" y="3657600"/>
            <a:ext cx="3730752" cy="2231136"/>
          </a:xfrm>
          <a:prstGeom prst="roundRect">
            <a:avLst>
              <a:gd name="adj" fmla="val 2049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78561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133088"/>
            <a:ext cx="32735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каждого раздела сформулировано одной фразой.</a:t>
            </a:r>
            <a:endParaRPr lang="en-US" sz="11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любого раздела разрушает изложение.</a:t>
            </a:r>
            <a:endParaRPr lang="en-US" sz="11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Объёмы соответствуют типу заявки и требованиям журнала.</a:t>
            </a:r>
            <a:endParaRPr lang="en-US" sz="11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обозначение встречается в таблице ровно один раз.</a:t>
            </a:r>
            <a:endParaRPr lang="en-US" sz="11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Введение: обратный ход и прямое изложение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введения выстраивается от вклада к задаче, а записывается в обратном порядке.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1907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Обратный ход: вопросы до написания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066544"/>
            <a:ext cx="4517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техническая проблема решается и почему устоявшегося решения нет.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24912"/>
            <a:ext cx="4517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состоит вклад: новая задача, новая метрика, новая техническая проблема или новый приём.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14400" y="3419856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383280"/>
            <a:ext cx="4517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предложенное решает эту проблему и какое новое понимание оно даёт.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14400" y="4078224"/>
            <a:ext cx="274320" cy="2743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041648"/>
            <a:ext cx="4517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через известные работы читатель подводится к сформулированной проблеме.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153912" y="1600200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171907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Прямое изложение: порядок записи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82512" y="2121408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2121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70648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 её приложения; целевые показатели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382512" y="265176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2651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2633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методы и технический вызов: ограничение плюс его причина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382512" y="3182112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2512" y="31821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470648" y="3163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Предлагаемое решение и объяснение, почему оно работает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382512" y="3712464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2512" y="37124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470648" y="36941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составляющие вклада и их значение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382512" y="4242816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17505F"/>
          </a:solidFill>
          <a:ln w="12700">
            <a:solidFill>
              <a:srgbClr val="2A6C7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82512" y="42428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470648" y="4224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эксперимента в одной-двух фразах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685800" y="502920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6968" y="5175504"/>
            <a:ext cx="49469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выбрать вариант открывающей части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86968" y="5510906"/>
            <a:ext cx="4946904" cy="688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узкая — сначала определение задачи, затем приложения.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известна читателю — сразу приложения.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новая — от общей задачи к частной с указанием границ.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формулируется коротко — открытие вызовом в первом абзаце.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53912" y="502920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5175504"/>
            <a:ext cx="49469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выбрать вариант изложения вызова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5510906"/>
            <a:ext cx="4946904" cy="688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Известная задача с известными методами — цепочка: общая трудность, традиционные методы, современные методы, остающийся вызов.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имеет корни в классических методах — классическая линия как опора, затем причина недостаточности современных методов.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задача без аналогов — декомпозиция на три независимые причины сложности.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38251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схемы: методика Peng Sida (learning_research) в адаптации Research-Paper-Writing-Skills.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Анатомия введения: семь абзацев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абзац — одно сообщение. Первое предложение абзаца сообщает его назначение.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2350008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и актуальность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65736"/>
            <a:ext cx="3081528" cy="86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Прикладная задача и её инженерная значимость: стоимость отказа, требования технологического процесса, ограничения эксплуатации. Не «машинное обучение популярно».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392424" y="176479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2424" y="176479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64592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1792224"/>
            <a:ext cx="235000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Состояние области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142988"/>
            <a:ext cx="3081528" cy="108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направления работ: что достигнуто, при каких допущениях, где отказывает и по какой технической причине.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059168" y="176479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9168" y="176479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9288" y="164592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0456" y="1792224"/>
            <a:ext cx="235000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и мотивация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2142988"/>
            <a:ext cx="3081528" cy="108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абзац. Почему задача остаётся нерешённой и что нарушается при существующих подходах. Формулируется по шаблону предыдущего слайда.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0725912" y="176479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25912" y="176479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52044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3666744"/>
            <a:ext cx="235000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и новизна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017508"/>
            <a:ext cx="3081528" cy="108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 данной работе предлагается…»: приём, схема, причина работоспособности. Здесь заявляется новизна одной фразой.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3392424" y="363931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92424" y="363931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352044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3712" y="3666744"/>
            <a:ext cx="235000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списком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4017508"/>
            <a:ext cx="3081528" cy="108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проверяемых пункта: постановка, метод, валидация на реальных данных, открытый код и данные. Новизна разложена по пунктам вклада.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059168" y="363931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59168" y="363931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19288" y="3520440"/>
            <a:ext cx="3483864" cy="1691640"/>
          </a:xfrm>
          <a:prstGeom prst="roundRect">
            <a:avLst>
              <a:gd name="adj" fmla="val 270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0456" y="3666744"/>
            <a:ext cx="235000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Организация текста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20456" y="4017508"/>
            <a:ext cx="3081528" cy="108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предложение о структуре оставшейся части статьи.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10725912" y="3639312"/>
            <a:ext cx="603504" cy="292608"/>
          </a:xfrm>
          <a:prstGeom prst="roundRect">
            <a:avLst>
              <a:gd name="adj" fmla="val 15625"/>
            </a:avLst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725912" y="363931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5394960"/>
            <a:ext cx="6949440" cy="914400"/>
          </a:xfrm>
          <a:prstGeom prst="roundRect">
            <a:avLst>
              <a:gd name="adj" fmla="val 5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6968" y="5541264"/>
            <a:ext cx="65471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что находится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886968" y="5876666"/>
            <a:ext cx="6547104" cy="32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— абзац 1. Мотивация — абзацы 1 и 4: цена нерешённой задачи и причина, по которой она не решена. Новизна — абзац 5, заявляется одной фразой, и абзац 6, где раскладывается по пунктам вклада.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7818120" y="5394960"/>
            <a:ext cx="3685032" cy="914400"/>
          </a:xfrm>
          <a:prstGeom prst="roundRect">
            <a:avLst>
              <a:gd name="adj" fmla="val 5000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19288" y="5541264"/>
            <a:ext cx="3282696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Запрещённая конструкция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019288" y="5876666"/>
            <a:ext cx="3282696" cy="32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описывается сначала наивное решение, а затем улучшение над ним: работа воспринимается как правка тривиального базового варианта.</a:t>
            </a:r>
            <a:endParaRPr lang="en-US" sz="11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позиционирование работы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по техническим темам, не по годам публикации.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10312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 раздела: 2–4 темы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4946904" cy="148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методы, применяемые к данной задаче.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Работы, наиболее близкие к предлагаемой идее.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Вспомогательные приёмы, на которых построен метод.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Сильнейшие конкурирующие работы включаются обязательно; их отсутствие трактуется как сокрытие.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10312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Шаблон абзаца темы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50669"/>
            <a:ext cx="4946904" cy="148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Тематическое предложение: границы темы.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представительных работ, одна компактная формулировка.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Ограничение, связанное именно с решаемым вызовом.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предлагаемому методу.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123944"/>
            <a:ext cx="492861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Делать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4482389"/>
            <a:ext cx="4928616" cy="126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Сравнивать механизмы, допущения и режимы отказа.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Явно указывать, какую часть пробела закрывает работа.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Выражать отличие в технических терминах.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172200" y="3977640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3368" y="4123944"/>
            <a:ext cx="492861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делать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4482389"/>
            <a:ext cx="4928616" cy="126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Превращать раздел в перечень цитирований.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Опускать сильнейшие базовые методы.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Заменять техническое отличие оценочными формулировками.</a:t>
            </a:r>
            <a:endParaRPr lang="en-US" sz="12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Метод: три элемента описания модуля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каждого блока метода состоит из трёх частей и записывается в указанном порядке.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1965960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Устройство модуля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3081528" cy="135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Представление, структура сети или данных. Прямой проход строго по шагам: вход → шаг 1 → шаг 2 → выход. Записывается первым.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178808" y="2542032"/>
            <a:ext cx="164592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645920"/>
            <a:ext cx="3483864" cy="1965960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Мотивация модуля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150669"/>
            <a:ext cx="3081528" cy="135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Формулируется от проблемы: поскольку существует ограничение X, введён блок Y. Записывается после устройства.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7845552" y="2542032"/>
            <a:ext cx="164592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9288" y="1645920"/>
            <a:ext cx="3483864" cy="1965960"/>
          </a:xfrm>
          <a:prstGeom prst="roundRect">
            <a:avLst>
              <a:gd name="adj" fmla="val 23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0456" y="1792224"/>
            <a:ext cx="308152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Техническое преимущество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0456" y="2381098"/>
            <a:ext cx="3081528" cy="112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блок превосходит альтернативы. Привязывается к измеримому поведению, а не к общим свойствам.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85800" y="3840480"/>
            <a:ext cx="10817352" cy="1280160"/>
          </a:xfrm>
          <a:prstGeom prst="roundRect">
            <a:avLst>
              <a:gd name="adj" fmla="val 357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95020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работы над разделом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метода (pipeline)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907792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72384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45536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на подразделы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65776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30368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каждого блока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88352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61504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 и преимущества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381744" y="4315968"/>
            <a:ext cx="164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546336" y="4315968"/>
            <a:ext cx="1993392" cy="621792"/>
          </a:xfrm>
          <a:prstGeom prst="roundRect">
            <a:avLst>
              <a:gd name="adj" fmla="val 735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19488" y="431596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 реализации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5257800"/>
            <a:ext cx="10817352" cy="1051560"/>
          </a:xfrm>
          <a:prstGeom prst="roundRect">
            <a:avLst>
              <a:gd name="adj" fmla="val 434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6968" y="5404104"/>
            <a:ext cx="10415016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понятности метода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" y="5747187"/>
            <a:ext cx="10415016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 уровень: изложение метода пересказывается кратко и проверяется на связность. Уровень абзаца: первое предложение сообщает содержание абзаца. Уровень предложения: для каждого предложения явна причина его присутствия; терминология не меняется по ходу текста.</a:t>
            </a:r>
            <a:endParaRPr lang="en-US" sz="12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 отвечает на три вопроса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эксперимента определяется составом заявленного вклада, а не доступностью данных.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превосходит сильные базовые варианты?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95728"/>
            <a:ext cx="30815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актуальными методами и с одним наивным вариантом — порогом или линейной моделью, задающим нижнюю границу. Одинаковое разбиение, предобработка и протокол оценки для всех методов.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792224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Какие блоки дают выигрыш?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395728"/>
            <a:ext cx="30815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по каждому заявленному решению: удаление, замена, отключение. Приводится разность относительно полной модели. При связанных блоках проверяется их взаимодействие.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0456" y="1792224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метод ведёт себя в тяжёлых условиях?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395728"/>
            <a:ext cx="30815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вне обучающего распределения: усложнённые сценарии, редкие случаи, повышенный шум, ужесточённые ограничения. Приводятся и выигрыши, и режимы отказа.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4160520"/>
            <a:ext cx="10817352" cy="2103120"/>
          </a:xfrm>
          <a:prstGeom prst="roundRect">
            <a:avLst>
              <a:gd name="adj" fmla="val 217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2793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«заявление → эксперимент»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14400" y="468172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6817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вклад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0" y="480060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468172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32120" y="46817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1: подтверждение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18464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184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вклад 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530352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0680" y="518464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32120" y="5184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2: подтверждение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568756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5687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метода / ключевой параметр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0" y="5806440"/>
            <a:ext cx="274320" cy="182880"/>
          </a:xfrm>
          <a:prstGeom prst="rightArrow">
            <a:avLst/>
          </a:prstGeom>
          <a:solidFill>
            <a:srgbClr val="2E7D8F"/>
          </a:solidFill>
          <a:ln w="12700">
            <a:solidFill>
              <a:srgbClr val="2E7D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5687568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32120" y="56875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Ablation-эксперимент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4681728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Заявление, для которого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карте нет эксперимента,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F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текста удаляется.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и утечки данных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Наиболее частая причина отказа работ по анализу данных в инженерных журналах.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" y="1243584"/>
            <a:ext cx="5349240" cy="2194560"/>
          </a:xfrm>
          <a:prstGeom prst="roundRect">
            <a:avLst>
              <a:gd name="adj" fmla="val 208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Проверочный список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48333"/>
            <a:ext cx="4946904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 признаков настроено только по обучающей части.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обучающей и тестовой частей не перекрываются.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Дубликаты и повторные записи удалены.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разметки оценён и указан.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условий зафиксирован и описан.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не содержат величин, недоступных в момент предсказания.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9904" y="1243584"/>
            <a:ext cx="5349240" cy="2194560"/>
          </a:xfrm>
          <a:prstGeom prst="roundRect">
            <a:avLst>
              <a:gd name="adj" fmla="val 2083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1072" y="1389888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Разбиение выборки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1748333"/>
            <a:ext cx="4946904" cy="158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ряды: только хронологическое разбиение либо leave-one-unit-out.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разбиение временного ряда даёт завышенную оценку качества и трактуется как утечка.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одного агрегата не попадают одновременно в обучающую и тестовую части.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разбиения приводится в тексте явно, включая объёмы частей.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" y="3575304"/>
            <a:ext cx="10817352" cy="1417320"/>
          </a:xfrm>
          <a:prstGeom prst="roundRect">
            <a:avLst>
              <a:gd name="adj" fmla="val 3226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366674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Описание данных в тексте статьи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" y="4014216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8408" y="408736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Происхождение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432511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установка или открытый набор; условия регистрации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538728" y="4014216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66744" y="408736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66744" y="432511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Объём, частота дискретизации, доля аномальных состояний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27064" y="4014216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408736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Разбиение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32511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Схема, объёмы частей, обоснование выбора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915400" y="4014216"/>
            <a:ext cx="24871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43416" y="408736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043416" y="432511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набор либо причина ограничения доступа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1792" y="5129783"/>
            <a:ext cx="10817352" cy="1190625"/>
          </a:xfrm>
          <a:prstGeom prst="roundRect">
            <a:avLst>
              <a:gd name="adj" fmla="val 526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5285232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на самопроверку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50392" y="5605272"/>
            <a:ext cx="10360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Перемешивание записей во времени не меняет результат — вероятна утечка через перекрытие окон.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случайных метках даёт качество выше случайного — утечка через признаки или через разбиение.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воспроизводится при другом значении инициализации генератора и на другом агрегате.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и показатели эффекта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качества классификации недостаточны для инженерного журнала: приводятся также ресурсные показатели, неопределённость и эффект для производства.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22037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качества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27626"/>
            <a:ext cx="2203704" cy="174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соответствует стоимости ошибки в приложении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указывается: ↑ или ↓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Приводятся абсолютные значения, а не только прирост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11296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1792224"/>
            <a:ext cx="2203704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Ресурсные показатели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335012"/>
            <a:ext cx="2203704" cy="153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обработки окна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памяти и число параметров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Энергопотребление для edge-реализации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платформе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36792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792224"/>
            <a:ext cx="22037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Неопределённость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127626"/>
            <a:ext cx="2203704" cy="174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Доверительные интервалы либо планки погрешности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запуски с различной инициализацией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запусков и разброс приводятся явно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неопределённости для измерительных задач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62288" y="1645920"/>
            <a:ext cx="2606040" cy="2331720"/>
          </a:xfrm>
          <a:prstGeom prst="roundRect">
            <a:avLst>
              <a:gd name="adj" fmla="val 196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63456" y="1792224"/>
            <a:ext cx="2203704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Воспроизводимость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27626"/>
            <a:ext cx="2203704" cy="174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 репозитории и архивная копия с DOI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Зафиксированы значения инициализации генератора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библиотек и характеристики аппаратуры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полного воспроизведения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4261104"/>
            <a:ext cx="4946904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Показатели эффекта для производства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604187"/>
            <a:ext cx="4946904" cy="100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простоя оборудования и число предотвращённых отказов.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ложных срабатываний за смену и стоимость реакции на каждое.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пропущенного события; срок окупаемости внедрения.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 квалификации персонала и к обслуживанию решения.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153912" y="4114800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261104"/>
            <a:ext cx="4946904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Требование измерительных журналов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04187"/>
            <a:ext cx="4946904" cy="100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Оценивается погрешность и неопределённость результата, а не только доля правильных решений. Приводится сопоставление с эталонным средством измерений либо с независимым методом. Условия сравнения методов одинаковы: одни и те же данные, предобработка и протокол оценки.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85800" y="585216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980176"/>
            <a:ext cx="10360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метрики указано, какое решение принимается по её значению. Метрика, не меняющая решения, из статьи удаляется.</a:t>
            </a:r>
            <a:endParaRPr lang="en-US" sz="11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черновик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превращает скелет в конкретные формулировки. Детали на этом этапе опускаются.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Скелет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и назначение каждого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40864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05456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15184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и результаты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Фактическая часть, пишется первой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25112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DCE9EC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Обсуждение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Интерпретация, ограничения, отказы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80176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44768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4496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Введение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Пишется после результатов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64424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74152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Аннотация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всей статьи, пишется предпоследней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19488" y="16916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784080" y="1691640"/>
            <a:ext cx="1673352" cy="1371600"/>
          </a:xfrm>
          <a:prstGeom prst="roundRect">
            <a:avLst>
              <a:gd name="adj" fmla="val 3333"/>
            </a:avLst>
          </a:prstGeom>
          <a:solidFill>
            <a:srgbClr val="F3F8F9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93808" y="179222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93808" y="2286000"/>
            <a:ext cx="1453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и продолжение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91840"/>
            <a:ext cx="5349240" cy="1508760"/>
          </a:xfrm>
          <a:prstGeom prst="roundRect">
            <a:avLst>
              <a:gd name="adj" fmla="val 303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6968" y="343814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Назначение черновика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" y="3796589"/>
            <a:ext cx="4946904" cy="89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соответствия результатов заявленным гипотезам.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полноты: всё необходимое присутствует.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 внутренних противоречий между разделами.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6153912" y="3291840"/>
            <a:ext cx="5349240" cy="1508760"/>
          </a:xfrm>
          <a:prstGeom prst="roundRect">
            <a:avLst>
              <a:gd name="adj" fmla="val 303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343814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работы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796589"/>
            <a:ext cx="4946904" cy="89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написание, медленная правка: сначала законченный слабый текст, затем улучшение.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Отсутствующее помечается \todo[]{} с комментарием, а не додумывается.</a:t>
            </a:r>
            <a:endParaRPr lang="en-US" sz="123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Числа, которых нет, не подставляются: ставится метка.</a:t>
            </a:r>
            <a:endParaRPr lang="en-US" sz="1230" dirty="0"/>
          </a:p>
        </p:txBody>
      </p:sp>
      <p:sp>
        <p:nvSpPr>
          <p:cNvPr id="35" name="Shape 33"/>
          <p:cNvSpPr/>
          <p:nvPr/>
        </p:nvSpPr>
        <p:spPr>
          <a:xfrm>
            <a:off x="685800" y="5029200"/>
            <a:ext cx="10817352" cy="1188720"/>
          </a:xfrm>
          <a:prstGeom prst="roundRect">
            <a:avLst>
              <a:gd name="adj" fmla="val 3846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1389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Обнаруженное противоречие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Противоречие между гипотезой и результатом фиксируется в тексте, а не устраняется подбором формулировок. Возможные действия: ослабление заявления, дополнительный эксперимент, изменение постановки. Сокрытие противоречия обнаруживается при рецензировании и приводит к отказу.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Аннотация: три схемы построения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выбирается по числу составляющих вклада. Аннотация пишется последней.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125" y="1259129"/>
            <a:ext cx="3562992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9293" y="1405433"/>
            <a:ext cx="387617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A: вызов → вклад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25637" y="1716878"/>
            <a:ext cx="3876174" cy="199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вызов для известных методов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Одно-два предложения о предлагаемом решении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решения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эксперимента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04869" y="1259129"/>
            <a:ext cx="3705606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06037" y="1405433"/>
            <a:ext cx="3876174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B: вызов → идея → вклад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106037" y="1978945"/>
            <a:ext cx="3876174" cy="177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вызов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предложение об идее решения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Одно-два предложения о технической реализации идеи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и итог эксперимента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81043" y="1259129"/>
            <a:ext cx="4172832" cy="260604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781" y="1405433"/>
            <a:ext cx="3876174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C: несколько составляющих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781" y="1978945"/>
            <a:ext cx="3876174" cy="177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необходимости — противопоставление известным методам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Составляющая 1 + её преимущество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Составляющая 2 + её преимущество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эксперимента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8125" y="4093769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9293" y="4240073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до написания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9293" y="4598518"/>
            <a:ext cx="4946904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техническая проблема решается и почему устоявшегося решения нет.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состоит техническая составляющая вклада.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предложенное работает по существу.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преимущество и какое новое понимание получено.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706237" y="4093768"/>
            <a:ext cx="6247638" cy="1983181"/>
          </a:xfrm>
          <a:prstGeom prst="roundRect">
            <a:avLst>
              <a:gd name="adj" fmla="val 256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07405" y="4240073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аннотации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07405" y="4598518"/>
            <a:ext cx="5970270" cy="116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Задача, вызов, решение и результат распознаются за одно прочтение.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утверждение подтверждено экспериментом из статьи.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Названия приёмов понятны без обращения к основному тексту.</a:t>
            </a:r>
            <a:endParaRPr lang="en-US" sz="16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 предложение не содержит более одного сообщения.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Медиаматериалы: рисунки, таблицы, алгоритмы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элемент имеет назначение и следствие, изложенные в тексте.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типа графиков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Иллюстрация: показывает пример данных или работы метода. Утверждение: содержит вывод, который формулируется в подписи и в тексте. График без утверждения и без иллюстративной функции удаляется.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Подпись самодостаточна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читается без основного текста. Пример: «Рис. 4. Сравнение точности методов X и Y на наборе Z при условии W; штриховая линия — 95 % доверительный интервал; 10 запусков».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019288" y="1645920"/>
            <a:ext cx="3483864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0456" y="1792224"/>
            <a:ext cx="3081528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Требования к оформлению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0456" y="2150669"/>
            <a:ext cx="3081528" cy="167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 формат (PDF, EPS) для схем и графиков.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менее 300 dpi для фотографий.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кегль на рисунке после масштабирования — около 8 pt.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стиль всех рисунков статьи.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26110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таблиц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619549"/>
            <a:ext cx="4946904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размещается над таблицей.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Вертикальные линейки не используются; горизонтальные разделяют группы, а не строки (booktabs).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метрики указывается в заголовке: ↑ или ↓; приводятся единицы.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Одинаковое число знаков после запятой в пределах столбца.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значения выделяются; приводится ± стандартное отклонение и число запусков.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таблица — одно сообщение.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53912" y="411480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26110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с текстом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619549"/>
            <a:ext cx="4946904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рисунок и таблица прокомментированы: зачем приведены и что из них следует.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Рисунок не дублирует текст, текст не пересказывает рисунок.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метода (pipeline) и обзорный рисунок создаются до написания раздела метода.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оформляется псевдокодом с указанием вычислительной сложности.</a:t>
            </a:r>
            <a:endParaRPr lang="en-US" sz="1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Язык и стиль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к тексту: одно предложение — одно утверждение.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Строй предложения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простые предложения, ориентир — до 20 слов.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Цепочки придаточных не используются.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Инженерно-академический стиль, не литературный.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3511296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Времена и залог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и описание статьи — настоящее время: Section III describes…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действия — прошедшее: We collected…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Активный залог в умеренном объёме: We propose вместо It is proposed by the authors.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336792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792224"/>
            <a:ext cx="2203704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Точность утверждений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65736"/>
            <a:ext cx="2203704" cy="1913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→ indicates, suggests.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— только при выполненной статистической проверке.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Числовое утверждение сопровождается условиями измерения.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62288" y="1645920"/>
            <a:ext cx="2606040" cy="2743200"/>
          </a:xfrm>
          <a:prstGeom prst="roundRect">
            <a:avLst>
              <a:gd name="adj" fmla="val 175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63456" y="1792224"/>
            <a:ext cx="2203704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363456" y="2142988"/>
            <a:ext cx="2203704" cy="213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Артикли: the measurement и measurement различаются по смыслу.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«to the best of our knowledge» — не более одного раза.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Оценочные формулировки «very good results» не используются.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10817352" cy="1600200"/>
          </a:xfrm>
          <a:prstGeom prst="roundRect">
            <a:avLst>
              <a:gd name="adj" fmla="val 2857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7365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Связность текста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084064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абзац — одно сообщение; сообщение указано в первом предложении абзаца.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соседними предложениями существует явное отношение: причина, противопоставление, следствие, уточнение, пример.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Связующие слова используются по назначению: therefore, consequently — следствие; however, in contrast — противопоставление; specifically, for instance — уточнение и пример.</a:t>
            </a:r>
            <a:endParaRPr lang="en-US" sz="12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3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 определяется до первого использования и далее не заменяется синонимом.</a:t>
            </a:r>
            <a:endParaRPr lang="en-US" sz="12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Самопроверка перед подачей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инструмента: обратное конспектирование и карта «утверждение — доказательство».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240280"/>
          </a:xfrm>
          <a:prstGeom prst="roundRect">
            <a:avLst>
              <a:gd name="adj" fmla="val 204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Обратное конспектирование (reverse outlining)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50008"/>
            <a:ext cx="4946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Выписывается основное заявление статьи.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Выписывается первое предложение каждого абзаца.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Выписываются доказательства внутри каждого абзаца.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Проверяется соответствие: первое предложение → заявление, доказательство → первое предложение.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Абзац, не отображаемый на заявление, перерабатывается или удаляется.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240280"/>
          </a:xfrm>
          <a:prstGeom prst="roundRect">
            <a:avLst>
              <a:gd name="adj" fmla="val 2041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«утверждение — доказательство»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50008"/>
            <a:ext cx="49469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утверждения аннотации и введения записывается строка: утверждение | доказательство (таблица, рисунок, раздел) | статус: подтверждено либо требует доказательства.</a:t>
            </a:r>
            <a:endParaRPr lang="en-US" sz="122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Утверждение со статусом «требует доказательства» либо обеспечивается экспериментом, либо ослабляется, либо удаляется из текста.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10817352" cy="2194560"/>
          </a:xfrm>
          <a:prstGeom prst="roundRect">
            <a:avLst>
              <a:gd name="adj" fmla="val 208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1879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групп вопросов рецензента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новое знание получает читатель. Разбирается ли значимый случай отказа, а не тривиальный.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72384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82112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Ясность изложения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82112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 ли метод по тексту. Явна ли мотивация каждого блока.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30368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0096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Сила результата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40096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Значим ли выигрыш. Устойчив ли он по наборам данных и метрикам.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88352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Полнота оценки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ablation по каждому решению. Включены ли сильнейшие базовые методы.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46336" y="4572000"/>
            <a:ext cx="199339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4DB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56064" y="468172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Корректность метода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656064" y="4974336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Реалистичны ли условия эксперимента. Не требует ли метод перенастройки под каждый случай.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Типовые причины отказа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используется как проверочный перед подачей.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17352" cy="40233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№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Причина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Предупреждающее действие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сравнение с актуальными методами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менее двух современных базовых методов из обзора плюс наивный вариант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синтетические данные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Реальный стенд или производственные данные; при отсутствии — явное обоснование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Утечка данных в эксперименте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Проверочный список data integrity, хронологическое разбиение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Инкрементальная новизна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Явная формулировка gap и заявленного квадранта новизны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учтены инженерные ограничения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Задержка, память, стоимость, устойчивость к дрейфу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оценена неопределённость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Доверительные интервалы, повторные запуски, бюджет неопределённости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Завышенные утверждения в аннотации и введении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«утверждение — доказательство»; формулировки через indicates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Недостаточно деталей для воспроизведения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Гиперпараметры, версии, аппаратура, открытый код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Отсутствует 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по каждому заявленному решению метода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Подача и работа с рецензиями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Формальные требования проверяются до подачи: отказ по формальным основаниям происходит без рецензирования.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letter: пять абзацев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150669"/>
            <a:ext cx="4946904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направляется: название, тип заявки.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работа соответствует тематике журнала.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заявление статьи в одной фразе.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отсутствия параллельной подачи.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согласия всех соавторов.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53912" y="1645920"/>
            <a:ext cx="5349240" cy="2148840"/>
          </a:xfrm>
          <a:prstGeom prst="roundRect">
            <a:avLst>
              <a:gd name="adj" fmla="val 212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792224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Формальная проверка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50669"/>
            <a:ext cx="4946904" cy="153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PDF требованиям издательства (IEEE PDF eXpress и аналоги).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 у всех соавторов.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текстовых совпадений — ориентир ниже 15–20 %.</a:t>
            </a:r>
            <a:endParaRPr lang="en-US" sz="122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Раскрытие использования генеративных моделей согласно политике издательства; модель не может быть автором.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10817352" cy="2286000"/>
          </a:xfrm>
          <a:prstGeom prst="roundRect">
            <a:avLst>
              <a:gd name="adj" fmla="val 2000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096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на рецензию</a:t>
            </a:r>
            <a:endParaRPr lang="en-US" sz="14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462272"/>
          <a:ext cx="1033272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Замечание рецензента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Ответ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Где изменено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Приводится дословно, с нумерацией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Благодарность; существо выполненного изменения; при несогласии — аргументация с фактами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Раздел, страница, номер строки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Замечание, требующее эксперимента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 постановки и результата нового эксперимента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Новая таблица или рисунок с номером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в тексте выделяются цветом. Вежливая форма сохраняется при любом несогласии: «We appreciate…», «We respectfully disagree because…».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Протоколы рецензирования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стороны процесса: как рецензируют присланную работу и как выполняется внутреннее рецензирование до подачи.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3483864" cy="2834640"/>
          </a:xfrm>
          <a:prstGeom prst="roundRect">
            <a:avLst>
              <a:gd name="adj" fmla="val 161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71600"/>
            <a:ext cx="3081528" cy="51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 рецензирование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45112"/>
            <a:ext cx="3081528" cy="200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Схемы: одностороннее и двустороннее слепое, открытое рецензирование.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Два-три рецензента; редактор принимает итоговое решение.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Решения: reject, major revision, minor revision, accept.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первого цикла в инженерных журналах: ориентир 1–4 месяца.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15384" y="1225296"/>
            <a:ext cx="3483864" cy="2834640"/>
          </a:xfrm>
          <a:prstGeom prst="roundRect">
            <a:avLst>
              <a:gd name="adj" fmla="val 161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6552" y="1371600"/>
            <a:ext cx="308152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рецензии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1722364"/>
            <a:ext cx="3081528" cy="222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изложение работы своими словами: проверка того, что работа понята.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тематике журнала.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comments: замечания, влияющие на решение, каждое с обоснованием.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comments: правки текста и оформления.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с указанием условий её изменения.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82128" y="1225296"/>
            <a:ext cx="3483864" cy="2834640"/>
          </a:xfrm>
          <a:prstGeom prst="roundRect">
            <a:avLst>
              <a:gd name="adj" fmla="val 1613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83296" y="1371600"/>
            <a:ext cx="3081528" cy="29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Этические требования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083296" y="1722364"/>
            <a:ext cx="3081528" cy="222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Рукопись конфиденциальна; передача третьим лицам и внешним сервисам, включая ИИ, не допускается.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интересов заявляется до принятия работы к рецензированию.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цитировать собственные работы рецензента недопустимо.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Замечание формулируется по тексту, а не по личности автора.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10817352" cy="1645920"/>
          </a:xfrm>
          <a:prstGeom prst="roundRect">
            <a:avLst>
              <a:gd name="adj" fmla="val 2778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5254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Внутреннее рецензирование до подачи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00016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читается по пяти группам вопросов: вклад, ясность изложения, сила результата, полнота оценки, корректность метода.</a:t>
            </a:r>
            <a:endParaRPr lang="en-US" sz="12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пункт помечается: пройден, требует правки, требует нового эксперимента. Правка выполняется до подачи.</a:t>
            </a:r>
            <a:endParaRPr lang="en-US" sz="12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замечание сопровождается предлагаемым действием; замечание без действия не засчитывается.</a:t>
            </a:r>
            <a:endParaRPr lang="en-US" sz="12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2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Замечания, снимаемые очевидным инженерным соображением, не выносятся: они расходуют время и обесценивают остальные.</a:t>
            </a:r>
            <a:endParaRPr lang="en-US" sz="1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Использование ИИ-агентов при работе над статьёй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применяется к проверяемым операциям. Ответственность за текст и за результаты несут авторы.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4459" y="1353313"/>
            <a:ext cx="5349240" cy="2606040"/>
          </a:xfrm>
          <a:prstGeom prst="roundRect">
            <a:avLst>
              <a:gd name="adj" fmla="val 1754"/>
            </a:avLst>
          </a:prstGeom>
          <a:solidFill>
            <a:srgbClr val="E9F2EE"/>
          </a:solidFill>
          <a:ln w="12700">
            <a:solidFill>
              <a:srgbClr val="CBE0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5627" y="1499617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6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применение оправдано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5627" y="1858062"/>
            <a:ext cx="4946904" cy="199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Структурирование найденной литературы и заполнение таблицы сравнения по заданной форме.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дефектов постановки эксперимента: утечки, некорректное разбиение, несоответствие метрик задаче.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вспомогательного кода, скриптов оформления таблиц и рисунков.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Вычитка стиля, времён, артиклей; проверка связности абзацев.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Предрецензирование по проверочному списку и черновик ответа рецензенту.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092571" y="1353313"/>
            <a:ext cx="5349240" cy="2606040"/>
          </a:xfrm>
          <a:prstGeom prst="roundRect">
            <a:avLst>
              <a:gd name="adj" fmla="val 1754"/>
            </a:avLst>
          </a:prstGeom>
          <a:solidFill>
            <a:srgbClr val="F8ECEA"/>
          </a:solidFill>
          <a:ln w="12700">
            <a:solidFill>
              <a:srgbClr val="E4C9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3739" y="1499617"/>
            <a:ext cx="4946904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F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применение недопустимо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93739" y="1858062"/>
            <a:ext cx="4946904" cy="199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списка литературы: ссылки генерируются правдоподобно и не существуют. Каждая ссылка проверяется по DOI.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Подстановка чисел, результатов и характеристик оборудования.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новизны и вклада вместо автора: заявление принадлежит автору.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чужой рукописи при рецензировании: нарушение конфиденциальности.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текста без построчной проверки автором.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24459" y="4142233"/>
            <a:ext cx="5349240" cy="2185034"/>
          </a:xfrm>
          <a:prstGeom prst="roundRect">
            <a:avLst>
              <a:gd name="adj" fmla="val 2439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5627" y="4288537"/>
            <a:ext cx="4946904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работы с агентом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627" y="4631620"/>
            <a:ext cx="4946904" cy="127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Режимы задаются явно: AUDIT, COACH, DRAFT, FLOW, CLAIM-MAP, REVIEW, GAP, LEAKAGE, RESPONSE.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Отсутствующий источник помечается [REF: описание искомой работы], отсутствующее число — [TODO].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Правки выдаются парами «было → стало» с указанием причины.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промпт и мини-промпты приведены в файле guide_and_prompt.md.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092571" y="4142232"/>
            <a:ext cx="5349240" cy="2185035"/>
          </a:xfrm>
          <a:prstGeom prst="roundRect">
            <a:avLst>
              <a:gd name="adj" fmla="val 2439"/>
            </a:avLst>
          </a:prstGeom>
          <a:solidFill>
            <a:srgbClr val="FBF0E6"/>
          </a:solidFill>
          <a:ln w="12700">
            <a:solidFill>
              <a:srgbClr val="E8D3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3739" y="4288537"/>
            <a:ext cx="4946904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5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Политика издательств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93739" y="4631620"/>
            <a:ext cx="4946904" cy="127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генеративных моделей раскрывается в тексте статьи согласно требованиям издательства.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может быть автором и не несёт ответственности за содержание.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отвечает за корректность всех формулировок, ссылок и чисел, включая полученные от модели.</a:t>
            </a:r>
            <a:endParaRPr lang="en-US" sz="118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различаются между издательствами и обновляются: проверяются на дату подачи.</a:t>
            </a:r>
            <a:endParaRPr lang="en-US" sz="11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27432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Написание статьи через спецификацию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144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4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— документ, фиксирующий заявление и состав доказательств до написания текста.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486400" cy="3977640"/>
          </a:xfrm>
          <a:prstGeom prst="roundRect">
            <a:avLst>
              <a:gd name="adj" fmla="val 1149"/>
            </a:avLst>
          </a:prstGeom>
          <a:solidFill>
            <a:srgbClr val="0A2E38"/>
          </a:solidFill>
          <a:ln w="12700">
            <a:solidFill>
              <a:srgbClr val="0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спецификации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031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заявление одной фразой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novelty_quadrant: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известные методы → новая задача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целевой журнал, тип заявки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contributions: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1..4 проверяемых пункта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claims_map: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заявление → подтверждающий эксперимент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notation: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таблица обозначений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figures: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F1: сообщение рисунка; F2: сообщение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T1: сообщение таблицы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раздел → назначение одной фразой
</a:t>
            </a:r>
            <a:r>
              <a:rPr lang="en-US" sz="1150" dirty="0">
                <a:solidFill>
                  <a:srgbClr val="8F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open_items:</a:t>
            </a:r>
            <a:r>
              <a:rPr lang="en-US" sz="1150" dirty="0">
                <a:solidFill>
                  <a:srgbClr val="E4F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перечень \todo с ответственными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14807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6248" y="1792224"/>
            <a:ext cx="4745736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работы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135307"/>
            <a:ext cx="4745736" cy="63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согласуется соавторами до написания текста. Текст пишется по спецификации. Изменение заявления вносится сначала в спецификацию, затем в текст. Спецификация передаётся ИИ-ассистенту как контекст.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355080" y="3017520"/>
            <a:ext cx="514807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56248" y="3163824"/>
            <a:ext cx="4745736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даёт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3506907"/>
            <a:ext cx="4745736" cy="63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Обсуждение ведётся на уровне заявлений, а не абзацев. Расхождение между текстом и результатами обнаруживается на спецификации до написания. Сокращается число переписываний введения.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355080" y="4389120"/>
            <a:ext cx="5148072" cy="1234440"/>
          </a:xfrm>
          <a:prstGeom prst="roundRect">
            <a:avLst>
              <a:gd name="adj" fmla="val 3704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6248" y="4535424"/>
            <a:ext cx="4745736" cy="2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Ограничение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4878507"/>
            <a:ext cx="4745736" cy="63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требует сопровождения: устаревшая спецификация хуже её отсутствия. При расхождении спецификации и результатов эксперимента приоритет имеют результаты.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85800" y="576072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3F8F9"/>
          </a:solidFill>
          <a:ln w="12700">
            <a:solidFill>
              <a:srgbClr val="DCE9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590702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заменяет устные договорённости в коллективной работе и служит основанием для проверки: каждая строка claims_map либо подтверждена экспериментом, либо снята.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13D49"/>
          </a:solidFill>
          <a:ln w="12700">
            <a:solidFill>
              <a:srgbClr val="113D4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Итоговый проверочный список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EC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пункт проверяется до подачи. Отрицательный ответ означает возврат к соответствующему этапу.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Концепция и заявление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одной фразы пройден без пропусков.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Квадрант новизны заявлен явно.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выбран, требования к эксперименту учтены.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сформулирована одной фразой.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648456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31336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Обзор и постановка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31336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поиска зафиксирован.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сравнения работ построена.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выражен через допущения конкретных работ.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обозначений составлена.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73952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 хронологическое, утечки исключены.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Включены актуальные и наивный базовые методы.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по каждому решению метода.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Приведены ресурсные показатели и неопределённость.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299448" y="16916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10404E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82328" y="18288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C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Текст и подача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482328" y="2395728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«утверждение — доказательство» без незакрытых строк.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Подписи рисунков самодостаточны.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Обратное конспектирование выполнено.</a:t>
            </a:r>
            <a:endParaRPr lang="en-US" sz="11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E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и формальные требования проверены.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10543032" cy="1234440"/>
          </a:xfrm>
          <a:prstGeom prst="roundRect">
            <a:avLst>
              <a:gd name="adj" fmla="val 3704"/>
            </a:avLst>
          </a:prstGeom>
          <a:solidFill>
            <a:srgbClr val="13495A"/>
          </a:solidFill>
          <a:ln w="12700">
            <a:solidFill>
              <a:srgbClr val="1E627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047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Сопровождающий материал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349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guide_and_prompt.md содержит развёрнутый гайд по всем этапам, включая наукометрию, виды статей, протоколы написания и обзора, работу с ИИ-агентами и спецификацию статьи, полный промпт для ассистента (режимы AUDIT, COACH, DRAFT, FLOW, CLAIM-MAP, REVIEW, GAP, LEAKAGE, RESPONSE) и мини-промпты для отдельных задач.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6988</Words>
  <Application>Microsoft Office PowerPoint</Application>
  <PresentationFormat>Широкоэкранный</PresentationFormat>
  <Paragraphs>950</Paragraphs>
  <Slides>35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писать научную статью: инженерная задача x анализ данных</dc:title>
  <dc:subject>PptxGenJS Presentation</dc:subject>
  <dc:creator>УрФУ, ИРИТ-РТФ</dc:creator>
  <cp:lastModifiedBy>Ронкин Михаил Владимирович</cp:lastModifiedBy>
  <cp:revision>3</cp:revision>
  <dcterms:created xsi:type="dcterms:W3CDTF">2026-09-08T12:11:34Z</dcterms:created>
  <dcterms:modified xsi:type="dcterms:W3CDTF">2026-09-08T14:00:45Z</dcterms:modified>
</cp:coreProperties>
</file>