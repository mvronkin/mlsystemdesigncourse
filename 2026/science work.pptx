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58" r:id="rId6"/>
    <p:sldId id="260" r:id="rId7"/>
    <p:sldId id="261" r:id="rId8"/>
    <p:sldId id="262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26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36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59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95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09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643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355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1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90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545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916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72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AB6B7-FFDE-491E-BD53-665B88B9FB75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8B1D2-8E76-4B18-AD70-4A89690F0A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85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8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Как писать статью</a:t>
            </a:r>
          </a:p>
          <a:p>
            <a:r>
              <a:rPr lang="ru-RU" dirty="0" smtClean="0"/>
              <a:t>Концепция статьи, проблема и идея</a:t>
            </a:r>
          </a:p>
          <a:p>
            <a:r>
              <a:rPr lang="ru-RU" dirty="0" smtClean="0"/>
              <a:t>Содержание</a:t>
            </a:r>
          </a:p>
          <a:p>
            <a:r>
              <a:rPr lang="ru-RU" dirty="0" smtClean="0"/>
              <a:t>Скелет статьи</a:t>
            </a:r>
          </a:p>
          <a:p>
            <a:r>
              <a:rPr lang="ru-RU" dirty="0" smtClean="0"/>
              <a:t>Словарь терминов и </a:t>
            </a:r>
            <a:r>
              <a:rPr lang="ru-RU" dirty="0" err="1" smtClean="0"/>
              <a:t>определний</a:t>
            </a:r>
            <a:r>
              <a:rPr lang="ru-RU" dirty="0" smtClean="0"/>
              <a:t>, таблицу обозначений, которые вы будете придерживаться.</a:t>
            </a:r>
          </a:p>
          <a:p>
            <a:r>
              <a:rPr lang="ru-RU" dirty="0" smtClean="0"/>
              <a:t>Основные пункты введения</a:t>
            </a:r>
          </a:p>
          <a:p>
            <a:r>
              <a:rPr lang="ru-RU" dirty="0" smtClean="0"/>
              <a:t>Что нужно доказать , зачем, как и что это даст для научного сообщества?</a:t>
            </a:r>
          </a:p>
          <a:p>
            <a:r>
              <a:rPr lang="ru-RU" dirty="0" smtClean="0"/>
              <a:t>Наполнение скелета от тезисов к конкретным частями.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346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Сначала </a:t>
            </a:r>
            <a:r>
              <a:rPr lang="ru-RU" dirty="0" err="1" smtClean="0"/>
              <a:t>литобзор</a:t>
            </a:r>
            <a:r>
              <a:rPr lang="ru-RU" dirty="0" smtClean="0"/>
              <a:t>. Протокол.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1 что ищем? Критерии подбора литературы</a:t>
            </a:r>
          </a:p>
          <a:p>
            <a:r>
              <a:rPr lang="ru-RU" dirty="0" smtClean="0"/>
              <a:t>На какие вопросы можно ответить в </a:t>
            </a:r>
            <a:r>
              <a:rPr lang="ru-RU" dirty="0" err="1" smtClean="0"/>
              <a:t>литобзоре</a:t>
            </a:r>
            <a:r>
              <a:rPr lang="ru-RU" dirty="0" smtClean="0"/>
              <a:t> и на какие нужно.</a:t>
            </a:r>
          </a:p>
          <a:p>
            <a:r>
              <a:rPr lang="ru-RU" dirty="0" smtClean="0"/>
              <a:t>По результатам обзора какие ответы получены</a:t>
            </a:r>
          </a:p>
          <a:p>
            <a:r>
              <a:rPr lang="ru-RU" dirty="0"/>
              <a:t> </a:t>
            </a:r>
            <a:r>
              <a:rPr lang="ru-RU" dirty="0" smtClean="0"/>
              <a:t>анализ трендов . Например число статей по темам от </a:t>
            </a:r>
            <a:r>
              <a:rPr lang="ru-RU" dirty="0" err="1" smtClean="0"/>
              <a:t>гда</a:t>
            </a:r>
            <a:r>
              <a:rPr lang="ru-RU" dirty="0" smtClean="0"/>
              <a:t> к оду.</a:t>
            </a:r>
          </a:p>
          <a:p>
            <a:r>
              <a:rPr lang="ru-RU" dirty="0" smtClean="0"/>
              <a:t>Что еще интересного выявлено.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720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Методологические аспекты статьи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79176"/>
            <a:ext cx="10515600" cy="4697787"/>
          </a:xfrm>
        </p:spPr>
        <p:txBody>
          <a:bodyPr/>
          <a:lstStyle/>
          <a:p>
            <a:r>
              <a:rPr lang="ru-RU" dirty="0" smtClean="0"/>
              <a:t>Одна статья – одно заявление для научного сообщества и потенциальных читателей. Это может быть цель, новизна или вклад в область исследований.</a:t>
            </a:r>
          </a:p>
          <a:p>
            <a:r>
              <a:rPr lang="ru-RU" dirty="0" smtClean="0"/>
              <a:t>В статье придерживаться единой и минимально необходимой и однозначной терминологии, понятной читателю.</a:t>
            </a:r>
          </a:p>
          <a:p>
            <a:r>
              <a:rPr lang="ru-RU" dirty="0" smtClean="0"/>
              <a:t>Новизна или в использовании известных методов в решении новой задачи или в исследовании новой задачи, но тогда известными методами.</a:t>
            </a:r>
          </a:p>
          <a:p>
            <a:r>
              <a:rPr lang="ru-RU" dirty="0" smtClean="0"/>
              <a:t>Формулировки статьи подчиняются </a:t>
            </a:r>
            <a:r>
              <a:rPr lang="ru-RU" dirty="0" smtClean="0"/>
              <a:t>принципу </a:t>
            </a:r>
            <a:r>
              <a:rPr lang="ru-RU" dirty="0" err="1" smtClean="0"/>
              <a:t>Окама</a:t>
            </a:r>
            <a:r>
              <a:rPr lang="ru-RU" dirty="0" smtClean="0"/>
              <a:t> не плодить лишнего без лишней необходимости.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039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1329" y="1440143"/>
            <a:ext cx="10515600" cy="4351338"/>
          </a:xfrm>
        </p:spPr>
        <p:txBody>
          <a:bodyPr/>
          <a:lstStyle/>
          <a:p>
            <a:r>
              <a:rPr lang="ru-RU" dirty="0" smtClean="0"/>
              <a:t>Мотивация </a:t>
            </a:r>
          </a:p>
          <a:p>
            <a:r>
              <a:rPr lang="en-US" dirty="0"/>
              <a:t>Gap </a:t>
            </a:r>
            <a:r>
              <a:rPr lang="en-US" dirty="0" smtClean="0"/>
              <a:t>statement</a:t>
            </a:r>
            <a:r>
              <a:rPr lang="ru-RU" dirty="0" smtClean="0"/>
              <a:t> / </a:t>
            </a:r>
            <a:r>
              <a:rPr lang="en-US" dirty="0" smtClean="0"/>
              <a:t>gap in the research field</a:t>
            </a:r>
            <a:r>
              <a:rPr lang="ru-RU" dirty="0" smtClean="0"/>
              <a:t>: </a:t>
            </a:r>
          </a:p>
          <a:p>
            <a:r>
              <a:rPr lang="ru-RU" dirty="0" smtClean="0"/>
              <a:t>Цель работы</a:t>
            </a:r>
          </a:p>
          <a:p>
            <a:r>
              <a:rPr lang="ru-RU" dirty="0" smtClean="0"/>
              <a:t>Вклад </a:t>
            </a:r>
            <a:r>
              <a:rPr lang="en-US" dirty="0" smtClean="0"/>
              <a:t>(impact</a:t>
            </a:r>
            <a:r>
              <a:rPr lang="ru-RU" dirty="0" smtClean="0"/>
              <a:t> </a:t>
            </a:r>
            <a:r>
              <a:rPr lang="en-US" dirty="0" smtClean="0"/>
              <a:t>to the research field,  novelty, contribution)</a:t>
            </a:r>
            <a:endParaRPr lang="ru-RU" dirty="0" smtClean="0"/>
          </a:p>
          <a:p>
            <a:r>
              <a:rPr lang="ru-RU" dirty="0" smtClean="0"/>
              <a:t>Вклад нужно формулировать так чтобы он бы нужен кому то в научном сообществе.</a:t>
            </a:r>
          </a:p>
          <a:p>
            <a:r>
              <a:rPr lang="ru-RU" dirty="0" smtClean="0"/>
              <a:t>Писать нужно четким и ясным языком,</a:t>
            </a:r>
          </a:p>
          <a:p>
            <a:r>
              <a:rPr lang="ru-RU" dirty="0" smtClean="0"/>
              <a:t>Перед написанием сформулируйте статью одной фразой понятной любому.</a:t>
            </a:r>
          </a:p>
        </p:txBody>
      </p:sp>
    </p:spTree>
    <p:extLst>
      <p:ext uri="{BB962C8B-B14F-4D97-AF65-F5344CB8AC3E}">
        <p14:creationId xmlns:p14="http://schemas.microsoft.com/office/powerpoint/2010/main" val="50561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Цель, новизна</a:t>
            </a:r>
            <a:r>
              <a:rPr lang="en-US" dirty="0" smtClean="0"/>
              <a:t>, impact</a:t>
            </a:r>
            <a:r>
              <a:rPr lang="ru-RU" dirty="0" smtClean="0"/>
              <a:t> и вклад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6506" y="1404284"/>
            <a:ext cx="10515600" cy="5229598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Одна статья – одно заявление для научного сообщества.</a:t>
            </a:r>
          </a:p>
          <a:p>
            <a:r>
              <a:rPr lang="en-US" dirty="0" smtClean="0"/>
              <a:t>Impact</a:t>
            </a:r>
            <a:r>
              <a:rPr lang="ru-RU" dirty="0" smtClean="0"/>
              <a:t> это то на сколько сильно работа изменила представление об объекте исследования.</a:t>
            </a:r>
          </a:p>
          <a:p>
            <a:r>
              <a:rPr lang="en-US" dirty="0" smtClean="0"/>
              <a:t>Contribution </a:t>
            </a:r>
            <a:r>
              <a:rPr lang="ru-RU" dirty="0" smtClean="0"/>
              <a:t>на сколько хорошо идея работает</a:t>
            </a:r>
          </a:p>
          <a:p>
            <a:r>
              <a:rPr lang="ru-RU" dirty="0" smtClean="0"/>
              <a:t>Новизна – в чем, можно ли ее развить. Например новый метод +5% к метрикам лучшем чем развитие </a:t>
            </a:r>
            <a:r>
              <a:rPr lang="ru-RU" dirty="0" err="1" smtClean="0"/>
              <a:t>известнтого</a:t>
            </a:r>
            <a:r>
              <a:rPr lang="ru-RU" dirty="0" smtClean="0"/>
              <a:t> метода, дающее +10% к метрикам.</a:t>
            </a:r>
            <a:endParaRPr lang="ru-RU" dirty="0" smtClean="0"/>
          </a:p>
          <a:p>
            <a:r>
              <a:rPr lang="ru-RU" dirty="0" smtClean="0"/>
              <a:t>Цель это одна фраза не пункты. </a:t>
            </a:r>
          </a:p>
          <a:p>
            <a:r>
              <a:rPr lang="ru-RU" dirty="0" smtClean="0"/>
              <a:t>Цель, новизна и вклад и </a:t>
            </a:r>
            <a:r>
              <a:rPr lang="ru-RU" dirty="0" err="1" smtClean="0"/>
              <a:t>тд</a:t>
            </a:r>
            <a:r>
              <a:rPr lang="ru-RU" dirty="0" smtClean="0"/>
              <a:t> подчиняются принципу </a:t>
            </a:r>
            <a:r>
              <a:rPr lang="ru-RU" dirty="0" err="1" smtClean="0"/>
              <a:t>Окама</a:t>
            </a:r>
            <a:r>
              <a:rPr lang="ru-RU" dirty="0" smtClean="0"/>
              <a:t> не плодить лишнего без лишней необходимости.</a:t>
            </a:r>
          </a:p>
          <a:p>
            <a:r>
              <a:rPr lang="ru-RU" dirty="0" smtClean="0"/>
              <a:t>Вклад можно разделить на несколько пунктов</a:t>
            </a:r>
          </a:p>
          <a:p>
            <a:r>
              <a:rPr lang="ru-RU" dirty="0" smtClean="0"/>
              <a:t>Пункты введения формулируются так чтобы быть понятными и интересными научному сообществу , отвечать на их вопросы и соответственно они должны быть сформулированы на их языке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39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1й черновик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5824" y="138635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Когда скелет готов и есть гипотезы нужно убедится что результаты соответствуют гипотезам</a:t>
            </a:r>
            <a:endParaRPr lang="en-US" dirty="0" smtClean="0"/>
          </a:p>
          <a:p>
            <a:r>
              <a:rPr lang="ru-RU" dirty="0" smtClean="0"/>
              <a:t>Убедитесь в </a:t>
            </a:r>
            <a:r>
              <a:rPr lang="en-US" dirty="0" smtClean="0"/>
              <a:t>data integrity </a:t>
            </a:r>
            <a:endParaRPr lang="ru-RU" dirty="0" smtClean="0"/>
          </a:p>
          <a:p>
            <a:r>
              <a:rPr lang="ru-RU" dirty="0" smtClean="0"/>
              <a:t>Затем из скелета можно сделать 1й черновик. 1й черновик превращает скелет в конкретные формулировки для статьи. </a:t>
            </a:r>
          </a:p>
          <a:p>
            <a:r>
              <a:rPr lang="ru-RU" dirty="0" smtClean="0"/>
              <a:t>На этом этапе можно опустить детали. Нужна именно основа текста. </a:t>
            </a:r>
          </a:p>
          <a:p>
            <a:r>
              <a:rPr lang="ru-RU" dirty="0" smtClean="0"/>
              <a:t>Цель черновика – это проверить что все что нужно есть.</a:t>
            </a:r>
          </a:p>
          <a:p>
            <a:r>
              <a:rPr lang="ru-RU" dirty="0" smtClean="0"/>
              <a:t>Если что то нужно добавить пока \</a:t>
            </a:r>
            <a:r>
              <a:rPr lang="en-US" dirty="0" err="1" smtClean="0"/>
              <a:t>todo</a:t>
            </a:r>
            <a:r>
              <a:rPr lang="en-US" dirty="0" smtClean="0"/>
              <a:t>[]{} </a:t>
            </a:r>
            <a:r>
              <a:rPr lang="ru-RU" dirty="0" smtClean="0"/>
              <a:t>и комментарий.</a:t>
            </a:r>
          </a:p>
          <a:p>
            <a:r>
              <a:rPr lang="ru-RU" dirty="0" smtClean="0"/>
              <a:t>Если </a:t>
            </a:r>
            <a:r>
              <a:rPr lang="ru-RU" dirty="0" smtClean="0"/>
              <a:t>есть противоречия то их тоже нужно учесть</a:t>
            </a:r>
          </a:p>
          <a:p>
            <a:r>
              <a:rPr lang="ru-RU" dirty="0" smtClean="0"/>
              <a:t>Сформулируйте понятные читателю метрики, и те метрики что нужны вам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358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Основное содержание статьи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4447" y="1532965"/>
            <a:ext cx="11421035" cy="4643998"/>
          </a:xfrm>
        </p:spPr>
        <p:txBody>
          <a:bodyPr/>
          <a:lstStyle/>
          <a:p>
            <a:r>
              <a:rPr lang="ru-RU" dirty="0" smtClean="0"/>
              <a:t>Когда основные утверждения есть нужно добавить </a:t>
            </a:r>
            <a:r>
              <a:rPr lang="ru-RU" dirty="0" err="1" smtClean="0"/>
              <a:t>медиаматералы</a:t>
            </a:r>
            <a:r>
              <a:rPr lang="ru-RU" dirty="0" smtClean="0"/>
              <a:t>.</a:t>
            </a:r>
          </a:p>
          <a:p>
            <a:r>
              <a:rPr lang="ru-RU" dirty="0" smtClean="0"/>
              <a:t>Это графики, таблицы, схемы и </a:t>
            </a:r>
            <a:r>
              <a:rPr lang="ru-RU" dirty="0" err="1" smtClean="0"/>
              <a:t>алагоритмы</a:t>
            </a:r>
            <a:r>
              <a:rPr lang="ru-RU" dirty="0" smtClean="0"/>
              <a:t>.</a:t>
            </a:r>
          </a:p>
          <a:p>
            <a:r>
              <a:rPr lang="ru-RU" dirty="0" smtClean="0"/>
              <a:t>Есть 2 типа графиков, или это пример-иллюстрация или это попытка что то сказать.</a:t>
            </a:r>
          </a:p>
          <a:p>
            <a:r>
              <a:rPr lang="ru-RU" dirty="0" smtClean="0"/>
              <a:t>Все таблицы, схемы, алгоритмы, и основные графики должны сопровождаться комментарием и иметь цель.  То есть зачем и  что из них следует.</a:t>
            </a:r>
          </a:p>
          <a:p>
            <a:r>
              <a:rPr lang="ru-RU" dirty="0" smtClean="0"/>
              <a:t>Каждый раздел должен иметь цель.</a:t>
            </a:r>
          </a:p>
          <a:p>
            <a:r>
              <a:rPr lang="ru-RU" dirty="0" smtClean="0"/>
              <a:t>Все должно быть оформлены аккуратно.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634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 AUDIT — оцени текст по критериям ниже. Формат вывода: таблица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840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Посмотри на статью как редактор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Как </a:t>
            </a:r>
            <a:r>
              <a:rPr lang="ru-RU" dirty="0" err="1" smtClean="0"/>
              <a:t>ревьювер</a:t>
            </a:r>
            <a:r>
              <a:rPr lang="ru-RU" dirty="0" smtClean="0"/>
              <a:t> – оппонент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Как читатель – определите целевую аудиторию и что для нее мы хотим сказать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11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ru-RU" dirty="0" smtClean="0"/>
              <a:t>Ты — опытный исследователь и рецензент журналов IEEE </a:t>
            </a:r>
            <a:r>
              <a:rPr lang="ru-RU" dirty="0" err="1" smtClean="0"/>
              <a:t>Sensors</a:t>
            </a:r>
            <a:r>
              <a:rPr lang="ru-RU" dirty="0" smtClean="0"/>
              <a:t> </a:t>
            </a:r>
            <a:r>
              <a:rPr lang="ru-RU" dirty="0" err="1" smtClean="0"/>
              <a:t>Journal</a:t>
            </a:r>
            <a:r>
              <a:rPr lang="ru-RU" dirty="0" smtClean="0"/>
              <a:t>, IEEE </a:t>
            </a:r>
            <a:r>
              <a:rPr lang="ru-RU" dirty="0" err="1" smtClean="0"/>
              <a:t>Transactions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on</a:t>
            </a:r>
            <a:r>
              <a:rPr lang="ru-RU" dirty="0" smtClean="0"/>
              <a:t> </a:t>
            </a:r>
            <a:r>
              <a:rPr lang="ru-RU" dirty="0" err="1" smtClean="0"/>
              <a:t>Instrumentation</a:t>
            </a:r>
            <a:r>
              <a:rPr lang="ru-RU" dirty="0" smtClean="0"/>
              <a:t> </a:t>
            </a:r>
            <a:r>
              <a:rPr lang="ru-RU" dirty="0" err="1" smtClean="0"/>
              <a:t>and</a:t>
            </a:r>
            <a:r>
              <a:rPr lang="ru-RU" dirty="0" smtClean="0"/>
              <a:t> </a:t>
            </a:r>
            <a:r>
              <a:rPr lang="ru-RU" dirty="0" err="1" smtClean="0"/>
              <a:t>Measurement</a:t>
            </a:r>
            <a:r>
              <a:rPr lang="ru-RU" dirty="0" smtClean="0"/>
              <a:t> (TIM), IEEE TIA/TII и смежных инженерных журналов, </a:t>
            </a:r>
          </a:p>
          <a:p>
            <a:r>
              <a:rPr lang="ru-RU" dirty="0" smtClean="0"/>
              <a:t>специализирующийся на стыке анализа данных (ML/DSP) и инженерных задач </a:t>
            </a:r>
          </a:p>
          <a:p>
            <a:r>
              <a:rPr lang="ru-RU" dirty="0" smtClean="0"/>
              <a:t>(</a:t>
            </a:r>
            <a:r>
              <a:rPr lang="ru-RU" dirty="0" err="1" smtClean="0"/>
              <a:t>сенсорика</a:t>
            </a:r>
            <a:r>
              <a:rPr lang="ru-RU" dirty="0" smtClean="0"/>
              <a:t>, измерения, диагностика, прогнозное обслуживание, </a:t>
            </a:r>
            <a:r>
              <a:rPr lang="ru-RU" dirty="0" err="1" smtClean="0"/>
              <a:t>soft</a:t>
            </a:r>
            <a:r>
              <a:rPr lang="ru-RU" dirty="0" smtClean="0"/>
              <a:t> </a:t>
            </a:r>
            <a:r>
              <a:rPr lang="ru-RU" dirty="0" err="1" smtClean="0"/>
              <a:t>sensors</a:t>
            </a:r>
            <a:r>
              <a:rPr lang="ru-RU" dirty="0" smtClean="0"/>
              <a:t>).</a:t>
            </a:r>
          </a:p>
          <a:p>
            <a:endParaRPr lang="ru-RU" dirty="0" smtClean="0"/>
          </a:p>
          <a:p>
            <a:r>
              <a:rPr lang="ru-RU" dirty="0" smtClean="0"/>
              <a:t>Помоги довести мою статью до уровня, проходящего рецензирование.</a:t>
            </a:r>
          </a:p>
          <a:p>
            <a:endParaRPr lang="ru-RU" dirty="0" smtClean="0"/>
          </a:p>
          <a:p>
            <a:r>
              <a:rPr lang="ru-RU" dirty="0" smtClean="0"/>
              <a:t>Контекст (заполню при необходимости):</a:t>
            </a:r>
          </a:p>
          <a:p>
            <a:r>
              <a:rPr lang="ru-RU" dirty="0" smtClean="0"/>
              <a:t>- Черновик/фрагмент: [...]</a:t>
            </a:r>
          </a:p>
          <a:p>
            <a:r>
              <a:rPr lang="ru-RU" dirty="0" smtClean="0"/>
              <a:t>- Целевой журнал: [...]</a:t>
            </a:r>
          </a:p>
          <a:p>
            <a:r>
              <a:rPr lang="ru-RU" dirty="0" smtClean="0"/>
              <a:t>- Тип заявки: </a:t>
            </a:r>
            <a:r>
              <a:rPr lang="ru-RU" dirty="0" err="1" smtClean="0"/>
              <a:t>regular</a:t>
            </a:r>
            <a:r>
              <a:rPr lang="ru-RU" dirty="0" smtClean="0"/>
              <a:t> </a:t>
            </a:r>
            <a:r>
              <a:rPr lang="ru-RU" dirty="0" err="1" smtClean="0"/>
              <a:t>paper</a:t>
            </a:r>
            <a:r>
              <a:rPr lang="ru-RU" dirty="0" smtClean="0"/>
              <a:t> / </a:t>
            </a:r>
            <a:r>
              <a:rPr lang="ru-RU" dirty="0" err="1" smtClean="0"/>
              <a:t>letter</a:t>
            </a:r>
            <a:endParaRPr lang="ru-RU" dirty="0" smtClean="0"/>
          </a:p>
          <a:p>
            <a:r>
              <a:rPr lang="ru-RU" dirty="0" smtClean="0"/>
              <a:t>- Стадия работы: концепция / скелет / черновик / ревизия</a:t>
            </a:r>
          </a:p>
          <a:p>
            <a:endParaRPr lang="ru-RU" dirty="0" smtClean="0"/>
          </a:p>
          <a:p>
            <a:r>
              <a:rPr lang="ru-RU" dirty="0" smtClean="0"/>
              <a:t>Режимы работы (указываю в начале сообщения):</a:t>
            </a:r>
          </a:p>
          <a:p>
            <a:r>
              <a:rPr lang="ru-RU" dirty="0" smtClean="0"/>
              <a:t>1. AUDIT — оцени текст по критериям ниже. Формат вывода: таблица </a:t>
            </a:r>
          </a:p>
          <a:p>
            <a:r>
              <a:rPr lang="ru-RU" dirty="0" smtClean="0"/>
              <a:t>   (критерий | оценка 0–5 | цитата из текста | конкретная правка «было → стало»).</a:t>
            </a:r>
          </a:p>
          <a:p>
            <a:r>
              <a:rPr lang="ru-RU" dirty="0" smtClean="0"/>
              <a:t>2. COACH — задай мне серию вопросов, чтобы прояснить: </a:t>
            </a:r>
            <a:r>
              <a:rPr lang="ru-RU" dirty="0" err="1" smtClean="0"/>
              <a:t>gap</a:t>
            </a:r>
            <a:r>
              <a:rPr lang="ru-RU" dirty="0" smtClean="0"/>
              <a:t>, цель, вклад, </a:t>
            </a:r>
          </a:p>
          <a:p>
            <a:r>
              <a:rPr lang="ru-RU" dirty="0" smtClean="0"/>
              <a:t>   целевую аудиторию и выбор журнала. Не пиши текст за меня.</a:t>
            </a:r>
          </a:p>
          <a:p>
            <a:r>
              <a:rPr lang="ru-RU" dirty="0" smtClean="0"/>
              <a:t>3. DRAFT — напиши/перепиши фрагмент в стиле IEEE: формальный английский, </a:t>
            </a:r>
          </a:p>
          <a:p>
            <a:r>
              <a:rPr lang="ru-RU" dirty="0" smtClean="0"/>
              <a:t>   настоящее время для фактов, активный залог, без гипербол и клише.</a:t>
            </a:r>
          </a:p>
          <a:p>
            <a:r>
              <a:rPr lang="ru-RU" dirty="0" smtClean="0"/>
              <a:t>4. REVIEW — смоделируй строгого рецензента: </a:t>
            </a:r>
            <a:r>
              <a:rPr lang="ru-RU" dirty="0" err="1" smtClean="0"/>
              <a:t>major</a:t>
            </a:r>
            <a:r>
              <a:rPr lang="ru-RU" dirty="0" smtClean="0"/>
              <a:t> </a:t>
            </a:r>
            <a:r>
              <a:rPr lang="ru-RU" dirty="0" err="1" smtClean="0"/>
              <a:t>comments</a:t>
            </a:r>
            <a:r>
              <a:rPr lang="ru-RU" dirty="0" smtClean="0"/>
              <a:t>, </a:t>
            </a:r>
            <a:r>
              <a:rPr lang="ru-RU" dirty="0" err="1" smtClean="0"/>
              <a:t>minor</a:t>
            </a:r>
            <a:r>
              <a:rPr lang="ru-RU" dirty="0" smtClean="0"/>
              <a:t> </a:t>
            </a:r>
            <a:r>
              <a:rPr lang="ru-RU" dirty="0" err="1" smtClean="0"/>
              <a:t>comments</a:t>
            </a:r>
            <a:r>
              <a:rPr lang="ru-RU" dirty="0" smtClean="0"/>
              <a:t>, </a:t>
            </a:r>
          </a:p>
          <a:p>
            <a:r>
              <a:rPr lang="ru-RU" dirty="0" smtClean="0"/>
              <a:t>   вопрос про </a:t>
            </a:r>
            <a:r>
              <a:rPr lang="ru-RU" dirty="0" err="1" smtClean="0"/>
              <a:t>relevance</a:t>
            </a:r>
            <a:r>
              <a:rPr lang="ru-RU" dirty="0" smtClean="0"/>
              <a:t> </a:t>
            </a:r>
            <a:r>
              <a:rPr lang="ru-RU" dirty="0" err="1" smtClean="0"/>
              <a:t>to</a:t>
            </a:r>
            <a:r>
              <a:rPr lang="ru-RU" dirty="0" smtClean="0"/>
              <a:t> </a:t>
            </a:r>
            <a:r>
              <a:rPr lang="ru-RU" dirty="0" err="1" smtClean="0"/>
              <a:t>scope</a:t>
            </a:r>
            <a:r>
              <a:rPr lang="ru-RU" dirty="0" smtClean="0"/>
              <a:t>, оценка </a:t>
            </a:r>
            <a:r>
              <a:rPr lang="ru-RU" dirty="0" err="1" smtClean="0"/>
              <a:t>reject</a:t>
            </a:r>
            <a:r>
              <a:rPr lang="ru-RU" dirty="0" smtClean="0"/>
              <a:t> / </a:t>
            </a:r>
            <a:r>
              <a:rPr lang="ru-RU" dirty="0" err="1" smtClean="0"/>
              <a:t>major</a:t>
            </a:r>
            <a:r>
              <a:rPr lang="ru-RU" dirty="0" smtClean="0"/>
              <a:t> </a:t>
            </a:r>
            <a:r>
              <a:rPr lang="ru-RU" dirty="0" err="1" smtClean="0"/>
              <a:t>revision</a:t>
            </a:r>
            <a:r>
              <a:rPr lang="ru-RU" dirty="0" smtClean="0"/>
              <a:t> / </a:t>
            </a:r>
            <a:r>
              <a:rPr lang="ru-RU" dirty="0" err="1" smtClean="0"/>
              <a:t>minor</a:t>
            </a:r>
            <a:r>
              <a:rPr lang="ru-RU" dirty="0" smtClean="0"/>
              <a:t> </a:t>
            </a:r>
            <a:r>
              <a:rPr lang="ru-RU" dirty="0" err="1" smtClean="0"/>
              <a:t>revision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Критерии оценки:</a:t>
            </a:r>
          </a:p>
          <a:p>
            <a:r>
              <a:rPr lang="ru-RU" dirty="0" smtClean="0"/>
              <a:t>1. Одна статья — одно заявление: цель, новизна, вклад согласованы, не «расползаются».</a:t>
            </a:r>
          </a:p>
          <a:p>
            <a:r>
              <a:rPr lang="ru-RU" dirty="0" smtClean="0"/>
              <a:t>2. </a:t>
            </a:r>
            <a:r>
              <a:rPr lang="ru-RU" dirty="0" err="1" smtClean="0"/>
              <a:t>Gap</a:t>
            </a:r>
            <a:r>
              <a:rPr lang="ru-RU" dirty="0" smtClean="0"/>
              <a:t>: сформулирован через ограничения конкретных существующих работ </a:t>
            </a:r>
          </a:p>
          <a:p>
            <a:r>
              <a:rPr lang="ru-RU" dirty="0" smtClean="0"/>
              <a:t>   (кто и что сделал, при каких условиях это не работает), а не «по теме мало статей».</a:t>
            </a:r>
          </a:p>
          <a:p>
            <a:r>
              <a:rPr lang="ru-RU" dirty="0" smtClean="0"/>
              <a:t>3. Новизна: новый метод для известной задачи ИЛИ известный метод для новой задачи </a:t>
            </a:r>
          </a:p>
          <a:p>
            <a:r>
              <a:rPr lang="ru-RU" dirty="0" smtClean="0"/>
              <a:t>   с обоснованием, почему существующие подходы неприменимы.</a:t>
            </a:r>
          </a:p>
          <a:p>
            <a:r>
              <a:rPr lang="ru-RU" dirty="0" smtClean="0"/>
              <a:t>4. Вклад: 3–4 проверяемых пункта (формулировка, метод, </a:t>
            </a:r>
            <a:r>
              <a:rPr lang="ru-RU" dirty="0" err="1" smtClean="0"/>
              <a:t>валидация</a:t>
            </a:r>
            <a:r>
              <a:rPr lang="ru-RU" dirty="0" smtClean="0"/>
              <a:t> на реальных </a:t>
            </a:r>
          </a:p>
          <a:p>
            <a:r>
              <a:rPr lang="ru-RU" dirty="0" smtClean="0"/>
              <a:t>   данных, открытый код/данные). Каждый пункт нужен кому-то в сообществе.</a:t>
            </a:r>
          </a:p>
          <a:p>
            <a:r>
              <a:rPr lang="ru-RU" dirty="0" smtClean="0"/>
              <a:t>5. Инженерная значимость: обсуждены ограничения реального применения — </a:t>
            </a:r>
          </a:p>
          <a:p>
            <a:r>
              <a:rPr lang="ru-RU" dirty="0" smtClean="0"/>
              <a:t>   вычислительная сложность, </a:t>
            </a:r>
            <a:r>
              <a:rPr lang="ru-RU" dirty="0" err="1" smtClean="0"/>
              <a:t>latency</a:t>
            </a:r>
            <a:r>
              <a:rPr lang="ru-RU" dirty="0" smtClean="0"/>
              <a:t>, память/</a:t>
            </a:r>
            <a:r>
              <a:rPr lang="ru-RU" dirty="0" err="1" smtClean="0"/>
              <a:t>edge</a:t>
            </a:r>
            <a:r>
              <a:rPr lang="ru-RU" dirty="0" smtClean="0"/>
              <a:t>, стоимость, </a:t>
            </a:r>
            <a:r>
              <a:rPr lang="ru-RU" dirty="0" err="1" smtClean="0"/>
              <a:t>robustness</a:t>
            </a:r>
            <a:r>
              <a:rPr lang="ru-RU" dirty="0" smtClean="0"/>
              <a:t>, </a:t>
            </a:r>
            <a:r>
              <a:rPr lang="ru-RU" dirty="0" err="1" smtClean="0"/>
              <a:t>drift</a:t>
            </a:r>
            <a:r>
              <a:rPr lang="ru-RU" dirty="0" smtClean="0"/>
              <a:t>.</a:t>
            </a:r>
          </a:p>
          <a:p>
            <a:r>
              <a:rPr lang="ru-RU" dirty="0" smtClean="0"/>
              <a:t>6. Метрологическая строгость (для TIM): погрешность/неопределённость оценена, </a:t>
            </a:r>
          </a:p>
          <a:p>
            <a:r>
              <a:rPr lang="ru-RU" dirty="0" smtClean="0"/>
              <a:t>   а не только </a:t>
            </a:r>
            <a:r>
              <a:rPr lang="ru-RU" dirty="0" err="1" smtClean="0"/>
              <a:t>accuracy</a:t>
            </a:r>
            <a:r>
              <a:rPr lang="ru-RU" dirty="0" smtClean="0"/>
              <a:t>; корректные сравнения, </a:t>
            </a:r>
            <a:r>
              <a:rPr lang="ru-RU" dirty="0" err="1" smtClean="0"/>
              <a:t>воспроизводимость</a:t>
            </a:r>
            <a:r>
              <a:rPr lang="ru-RU" dirty="0" smtClean="0"/>
              <a:t>.</a:t>
            </a:r>
          </a:p>
          <a:p>
            <a:r>
              <a:rPr lang="ru-RU" dirty="0" smtClean="0"/>
              <a:t>7. Эксперименты: </a:t>
            </a:r>
            <a:r>
              <a:rPr lang="ru-RU" dirty="0" err="1" smtClean="0"/>
              <a:t>baseline</a:t>
            </a:r>
            <a:r>
              <a:rPr lang="ru-RU" dirty="0" smtClean="0"/>
              <a:t>-сравнение с SOTA, </a:t>
            </a:r>
            <a:r>
              <a:rPr lang="ru-RU" dirty="0" err="1" smtClean="0"/>
              <a:t>ablation</a:t>
            </a:r>
            <a:r>
              <a:rPr lang="ru-RU" dirty="0" smtClean="0"/>
              <a:t> </a:t>
            </a:r>
            <a:r>
              <a:rPr lang="ru-RU" dirty="0" err="1" smtClean="0"/>
              <a:t>study</a:t>
            </a:r>
            <a:r>
              <a:rPr lang="ru-RU" dirty="0" smtClean="0"/>
              <a:t>, отсутствие </a:t>
            </a:r>
          </a:p>
          <a:p>
            <a:r>
              <a:rPr lang="ru-RU" dirty="0" smtClean="0"/>
              <a:t>   </a:t>
            </a:r>
            <a:r>
              <a:rPr lang="ru-RU" dirty="0" err="1" smtClean="0"/>
              <a:t>data</a:t>
            </a:r>
            <a:r>
              <a:rPr lang="ru-RU" dirty="0" smtClean="0"/>
              <a:t> </a:t>
            </a:r>
            <a:r>
              <a:rPr lang="ru-RU" dirty="0" err="1" smtClean="0"/>
              <a:t>leakage</a:t>
            </a:r>
            <a:r>
              <a:rPr lang="ru-RU" dirty="0" smtClean="0"/>
              <a:t>, честное разбиение </a:t>
            </a:r>
            <a:r>
              <a:rPr lang="ru-RU" dirty="0" err="1" smtClean="0"/>
              <a:t>train</a:t>
            </a:r>
            <a:r>
              <a:rPr lang="ru-RU" dirty="0" smtClean="0"/>
              <a:t>/</a:t>
            </a:r>
            <a:r>
              <a:rPr lang="ru-RU" dirty="0" err="1" smtClean="0"/>
              <a:t>val</a:t>
            </a:r>
            <a:r>
              <a:rPr lang="ru-RU" dirty="0" smtClean="0"/>
              <a:t>/</a:t>
            </a:r>
            <a:r>
              <a:rPr lang="ru-RU" dirty="0" err="1" smtClean="0"/>
              <a:t>test</a:t>
            </a:r>
            <a:r>
              <a:rPr lang="ru-RU" dirty="0" smtClean="0"/>
              <a:t>, указаны </a:t>
            </a:r>
            <a:r>
              <a:rPr lang="ru-RU" dirty="0" err="1" smtClean="0"/>
              <a:t>seeds</a:t>
            </a:r>
            <a:r>
              <a:rPr lang="ru-RU" dirty="0" smtClean="0"/>
              <a:t> и </a:t>
            </a:r>
            <a:r>
              <a:rPr lang="ru-RU" dirty="0" err="1" smtClean="0"/>
              <a:t>hardware</a:t>
            </a:r>
            <a:r>
              <a:rPr lang="ru-RU" dirty="0" smtClean="0"/>
              <a:t>.</a:t>
            </a:r>
          </a:p>
          <a:p>
            <a:r>
              <a:rPr lang="ru-RU" dirty="0" smtClean="0"/>
              <a:t>8. Терминология: единая, минимально необходимая, есть таблица обозначений.</a:t>
            </a:r>
          </a:p>
          <a:p>
            <a:r>
              <a:rPr lang="ru-RU" dirty="0" smtClean="0"/>
              <a:t>9. Принцип Оккама: нет лишних сущностей ни в тексте, ни в методе.</a:t>
            </a:r>
          </a:p>
          <a:p>
            <a:r>
              <a:rPr lang="ru-RU" dirty="0" smtClean="0"/>
              <a:t>10. Рисунки/таблицы: подписи самодостаточны, каждый элемент имеет цель </a:t>
            </a:r>
          </a:p>
          <a:p>
            <a:r>
              <a:rPr lang="ru-RU" dirty="0" smtClean="0"/>
              <a:t>    и прокомментирован в тексте.</a:t>
            </a:r>
          </a:p>
          <a:p>
            <a:endParaRPr lang="ru-RU" dirty="0" smtClean="0"/>
          </a:p>
          <a:p>
            <a:r>
              <a:rPr lang="ru-RU" dirty="0" smtClean="0"/>
              <a:t>Жёсткие правила:</a:t>
            </a:r>
          </a:p>
          <a:p>
            <a:r>
              <a:rPr lang="ru-RU" dirty="0" smtClean="0"/>
              <a:t>- Не выдумывай ссылки на литературу. Нужен источник — пиши [REF: описание искомой работы].</a:t>
            </a:r>
          </a:p>
          <a:p>
            <a:r>
              <a:rPr lang="ru-RU" dirty="0" smtClean="0"/>
              <a:t>- Не хвали текст. Сначала 3 главные проблемы, потом детали.</a:t>
            </a:r>
          </a:p>
          <a:p>
            <a:r>
              <a:rPr lang="ru-RU" dirty="0" smtClean="0"/>
              <a:t>- Если данных/чисел нет — ставь [TODO], не придумывай.</a:t>
            </a:r>
          </a:p>
          <a:p>
            <a:r>
              <a:rPr lang="ru-RU" dirty="0" smtClean="0"/>
              <a:t>- Все правки давай парами «было → стало» с объяснением причины.</a:t>
            </a:r>
          </a:p>
          <a:p>
            <a:r>
              <a:rPr lang="ru-RU" dirty="0" smtClean="0"/>
              <a:t>- Отвечай на языке черновика; технические термины оставляй на английском.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03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1066</Words>
  <Application>Microsoft Office PowerPoint</Application>
  <PresentationFormat>Широкоэкранный</PresentationFormat>
  <Paragraphs>106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Сначала литобзор. Протокол.</vt:lpstr>
      <vt:lpstr>Методологические аспекты статьи</vt:lpstr>
      <vt:lpstr>Введение</vt:lpstr>
      <vt:lpstr>Цель, новизна, impact и вклад</vt:lpstr>
      <vt:lpstr>1й черновик</vt:lpstr>
      <vt:lpstr>Основное содержание статьи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Ронкин Михаил Владимирович</dc:creator>
  <cp:lastModifiedBy>Ронкин Михаил Владимирович</cp:lastModifiedBy>
  <cp:revision>12</cp:revision>
  <dcterms:created xsi:type="dcterms:W3CDTF">2026-09-08T06:15:40Z</dcterms:created>
  <dcterms:modified xsi:type="dcterms:W3CDTF">2026-09-08T14:00:31Z</dcterms:modified>
</cp:coreProperties>
</file>